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thank you, and frame this as a demo not a deck. One of us will be the passenger, one the crew. The judge will hold the passenger phone. Ask them to pick a need, and watch the crew tablet. We are going to show that a cabin request can be understood and acted on in under two seconds, without the internet.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not a translation problem in the abstract. It is a passenger who feels unwell at 35,000 feet, and a crew member who needs the right information in seconds. The words matter, but so do seat, urgency, history, and confirmation. Today those are held in the crew's head, not in the tool.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not saying Google Translate is bad. It is excellent at the word. But the cabin needs a workflow: who asked, how urgent, what did we promise, and did it land? That is the gap we close. The next slide is the loop.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moves. Capture: the passenger does not choose an engine; they choose a need. Understand: the phrasebook is the fast, deterministic path; local models handle free text. Act: the crew does not read a paragraph; they see a short decision and a reply button. That is the entire product.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actual product, not a mockup. On the left, the passenger sees six one-tap needs, voice, and type. On the right, the crew sees the request as a short decision: seat, water, keywords, next action. The full message is still there behind Show full message, but the crew does not have to read it to act. During the demo, hand the phone to a judge and let them tap.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do not use one giant model for everything. Common phrases hit a deterministic catalog at zero milliseconds. English↔Hindi uses a 60ms Argos model. Japanese free text uses local Qwen 7B at about 0.7 seconds. Hard Japanese audio escalates to Whisper turbo. That ordering is how we keep both speed and accuracy. Browser speech handles the voice out; no server TTS.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Reliability here is not a model accuracy claim. It is system design. Safety phrases are exact-match. Empty speech is blocked. Low confidence is surfaced for editing. The local path works without internet. And we keep an audit trail without storing audio. The crew remains the human in the loop.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numbers we can defend. A catalog phrase is instant. Argos is sixty milliseconds. Japanese free text is about seven hundred milliseconds. A two-second Japanese clip is about one point two seconds on the small model; the turbo fallback is only for hard audio. Cold start is gone because we keep the model warm. What we have not done yet is a formal WER/COMET study in cabin noise; that is a pilot deliverable, not a claim.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not trying to beat Google on generic translation. They are excellent. We win on the cabin workflow: seat context, a queue, urgency, a short summary, an approved safety catalog, offline operation, privacy, and metrics. If a passenger just wants a word, Google is fine. If a crew needs to act, they need the loop.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an illustrative model, not a claim. If a widebody carries 250 passengers and twenty percent need some crew assistance, that is fifty interactions. Saving thirty to one hundred twenty seconds each, across two flights a day, is two hundred fifty to one thousand crew-hours per aircraft per year. The pilot will measure the real number. The point is that the value is operational, not just a nicer app.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simplest deployment is a crew tablet plus a small local edge device. It does not require aircraft modification. We can also run on existing crew tablets for a fast pilot, and move to ground-hosted for lounge and gate use later. Commercial model is per aircraft per month plus integration; the pilot is the first step.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stack is deliberately small. React and Vite for the two screens. FastAPI and WebSocket for the session. Whisper, Argos, Qwen, and Jev for the intelligence. The trust layer is the important one: local-first, no stored audio, confidence gates, and metrics. We are not hiding a cloud dependency in the critical path.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asking for a small pilot: one route, two aircraft, twenty crew, about five hundred passengers over eight weeks. We define the baseline and the thresholds with JAL before we start. The scorecard is response time, repeat rate, task completion, crew satisfaction, and WER/COMET on the real audio.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demo to three minutes. Hand the phone to a judge, let them choose. Show the crew tablet. Reply. Then disconnect the Wi-Fi and do one more — that is the memorable moment. If anything fails, the phrase cards still work locally. The runbook is on the slide: Vite with --host, same hotspot, Mac IP, seats 12A and CREW-1.</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ask, not the technology: one route, eight weeks, a joint scorecard. Thank the judges. If they remember one thing, it should be that the loop is local, fast, and safe — and that they just used it themselves.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68580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680960" y="1051560"/>
            <a:ext cx="5120640" cy="5120640"/>
          </a:xfrm>
          <a:prstGeom prst="ellipse">
            <a:avLst/>
          </a:prstGeom>
          <a:solidFill>
            <a:srgbClr val="F9E9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rc 4"/>
          <p:cNvSpPr/>
          <p:nvPr/>
        </p:nvSpPr>
        <p:spPr>
          <a:xfrm>
            <a:off x="-2011680" y="3657600"/>
            <a:ext cx="6949440" cy="6949440"/>
          </a:xfrm>
          <a:prstGeom prst="arc">
            <a:avLst/>
          </a:prstGeom>
          <a:noFill/>
          <a:ln w="13970">
            <a:solidFill>
              <a:srgbClr val="E1DAC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566928"/>
            <a:ext cx="7315200" cy="228600"/>
          </a:xfrm>
          <a:prstGeom prst="rect">
            <a:avLst/>
          </a:prstGeom>
          <a:noFill/>
        </p:spPr>
        <p:txBody>
          <a:bodyPr wrap="square" lIns="0" rIns="0" tIns="0" bIns="0" anchor="t">
            <a:spAutoFit/>
          </a:bodyPr>
          <a:lstStyle/>
          <a:p>
            <a:pPr algn="l">
              <a:lnSpc>
                <a:spcPct val="105000"/>
              </a:lnSpc>
            </a:pPr>
            <a:r>
              <a:rPr sz="900" b="1" i="0">
                <a:solidFill>
                  <a:srgbClr val="C8102E"/>
                </a:solidFill>
                <a:latin typeface="Avenir Next"/>
              </a:rPr>
              <a:t>CABINBRIDGE  ·  JAL DEMO DAY 2026</a:t>
            </a:r>
          </a:p>
        </p:txBody>
      </p:sp>
      <p:sp>
        <p:nvSpPr>
          <p:cNvPr id="7" name="TextBox 6"/>
          <p:cNvSpPr txBox="1"/>
          <p:nvPr/>
        </p:nvSpPr>
        <p:spPr>
          <a:xfrm>
            <a:off x="640080" y="1078992"/>
            <a:ext cx="6949440" cy="1737360"/>
          </a:xfrm>
          <a:prstGeom prst="rect">
            <a:avLst/>
          </a:prstGeom>
          <a:noFill/>
        </p:spPr>
        <p:txBody>
          <a:bodyPr wrap="square" lIns="0" rIns="0" tIns="0" bIns="0" anchor="t">
            <a:spAutoFit/>
          </a:bodyPr>
          <a:lstStyle/>
          <a:p>
            <a:pPr algn="l">
              <a:lnSpc>
                <a:spcPct val="88000"/>
              </a:lnSpc>
            </a:pPr>
            <a:r>
              <a:rPr sz="4300" b="1" i="0">
                <a:solidFill>
                  <a:srgbClr val="0C1F2A"/>
                </a:solidFill>
                <a:latin typeface="Avenir Next"/>
              </a:rPr>
              <a:t>The cabin,
translated.</a:t>
            </a:r>
          </a:p>
        </p:txBody>
      </p:sp>
      <p:sp>
        <p:nvSpPr>
          <p:cNvPr id="8" name="TextBox 7"/>
          <p:cNvSpPr txBox="1"/>
          <p:nvPr/>
        </p:nvSpPr>
        <p:spPr>
          <a:xfrm>
            <a:off x="658368" y="2999232"/>
            <a:ext cx="6583680" cy="822960"/>
          </a:xfrm>
          <a:prstGeom prst="rect">
            <a:avLst/>
          </a:prstGeom>
          <a:noFill/>
        </p:spPr>
        <p:txBody>
          <a:bodyPr wrap="square" lIns="0" rIns="0" tIns="0" bIns="0" anchor="t">
            <a:spAutoFit/>
          </a:bodyPr>
          <a:lstStyle/>
          <a:p>
            <a:pPr algn="l">
              <a:lnSpc>
                <a:spcPct val="115000"/>
              </a:lnSpc>
            </a:pPr>
            <a:r>
              <a:rPr sz="1550" b="0" i="0">
                <a:solidFill>
                  <a:srgbClr val="5E6A70"/>
                </a:solidFill>
                <a:latin typeface="Avenir Next"/>
              </a:rPr>
              <a:t>A local-first communication layer for passengers and crew —
on two devices, in under two seconds.</a:t>
            </a:r>
          </a:p>
        </p:txBody>
      </p:sp>
      <p:sp>
        <p:nvSpPr>
          <p:cNvPr id="9" name="Rounded Rectangle 8"/>
          <p:cNvSpPr/>
          <p:nvPr/>
        </p:nvSpPr>
        <p:spPr>
          <a:xfrm>
            <a:off x="658368" y="4096512"/>
            <a:ext cx="1508760" cy="256032"/>
          </a:xfrm>
          <a:prstGeom prst="roundRect">
            <a:avLst>
              <a:gd name="adj" fmla="val 50000"/>
            </a:avLst>
          </a:prstGeom>
          <a:solidFill>
            <a:srgbClr val="FFFFFF"/>
          </a:solidFill>
          <a:ln w="12700">
            <a:solidFill>
              <a:srgbClr val="E1DAC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900" b="1">
                <a:solidFill>
                  <a:srgbClr val="0C1F2A"/>
                </a:solidFill>
                <a:latin typeface="Avenir Next"/>
              </a:rPr>
              <a:t>0.7 s  JP → EN</a:t>
            </a:r>
          </a:p>
        </p:txBody>
      </p:sp>
      <p:sp>
        <p:nvSpPr>
          <p:cNvPr id="10" name="Rounded Rectangle 9"/>
          <p:cNvSpPr/>
          <p:nvPr/>
        </p:nvSpPr>
        <p:spPr>
          <a:xfrm>
            <a:off x="2258568" y="4096512"/>
            <a:ext cx="1325880" cy="256032"/>
          </a:xfrm>
          <a:prstGeom prst="roundRect">
            <a:avLst>
              <a:gd name="adj" fmla="val 50000"/>
            </a:avLst>
          </a:prstGeom>
          <a:solidFill>
            <a:srgbClr val="FFFFFF"/>
          </a:solidFill>
          <a:ln w="12700">
            <a:solidFill>
              <a:srgbClr val="E1DAC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900" b="1">
                <a:solidFill>
                  <a:srgbClr val="0C1F2A"/>
                </a:solidFill>
                <a:latin typeface="Avenir Next"/>
              </a:rPr>
              <a:t>1.2 s  VOICE</a:t>
            </a:r>
          </a:p>
        </p:txBody>
      </p:sp>
      <p:sp>
        <p:nvSpPr>
          <p:cNvPr id="11" name="Rounded Rectangle 10"/>
          <p:cNvSpPr/>
          <p:nvPr/>
        </p:nvSpPr>
        <p:spPr>
          <a:xfrm>
            <a:off x="3675887" y="4096512"/>
            <a:ext cx="1691640" cy="256032"/>
          </a:xfrm>
          <a:prstGeom prst="roundRect">
            <a:avLst>
              <a:gd name="adj" fmla="val 50000"/>
            </a:avLst>
          </a:prstGeom>
          <a:solidFill>
            <a:srgbClr val="E8F1EE"/>
          </a:solidFill>
          <a:ln w="12700">
            <a:solidFill>
              <a:srgbClr val="E1DAC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900" b="1">
                <a:solidFill>
                  <a:srgbClr val="0F6B5C"/>
                </a:solidFill>
                <a:latin typeface="Avenir Next"/>
              </a:rPr>
              <a:t>100% ON-DEVICE</a:t>
            </a:r>
          </a:p>
        </p:txBody>
      </p:sp>
      <p:sp>
        <p:nvSpPr>
          <p:cNvPr id="12" name="TextBox 11"/>
          <p:cNvSpPr txBox="1"/>
          <p:nvPr/>
        </p:nvSpPr>
        <p:spPr>
          <a:xfrm>
            <a:off x="658368" y="4736592"/>
            <a:ext cx="5943600" cy="274320"/>
          </a:xfrm>
          <a:prstGeom prst="rect">
            <a:avLst/>
          </a:prstGeom>
          <a:noFill/>
        </p:spPr>
        <p:txBody>
          <a:bodyPr wrap="square" lIns="0" rIns="0" tIns="0" bIns="0" anchor="t">
            <a:spAutoFit/>
          </a:bodyPr>
          <a:lstStyle/>
          <a:p>
            <a:pPr algn="l">
              <a:lnSpc>
                <a:spcPct val="105000"/>
              </a:lnSpc>
            </a:pPr>
            <a:r>
              <a:rPr sz="1000" b="0" i="0">
                <a:solidFill>
                  <a:srgbClr val="5E6A70"/>
                </a:solidFill>
                <a:latin typeface="Avenir Next"/>
              </a:rPr>
              <a:t>Live demo  ·  two devices  ·  one judge</a:t>
            </a:r>
          </a:p>
        </p:txBody>
      </p:sp>
      <p:sp>
        <p:nvSpPr>
          <p:cNvPr id="13" name="TextBox 12"/>
          <p:cNvSpPr txBox="1"/>
          <p:nvPr/>
        </p:nvSpPr>
        <p:spPr>
          <a:xfrm>
            <a:off x="658368" y="5742432"/>
            <a:ext cx="5943600" cy="320040"/>
          </a:xfrm>
          <a:prstGeom prst="rect">
            <a:avLst/>
          </a:prstGeom>
          <a:noFill/>
        </p:spPr>
        <p:txBody>
          <a:bodyPr wrap="square" lIns="0" rIns="0" tIns="0" bIns="0" anchor="t">
            <a:spAutoFit/>
          </a:bodyPr>
          <a:lstStyle/>
          <a:p>
            <a:pPr algn="l">
              <a:lnSpc>
                <a:spcPct val="105000"/>
              </a:lnSpc>
            </a:pPr>
            <a:r>
              <a:rPr sz="1300" b="0" i="0">
                <a:solidFill>
                  <a:srgbClr val="5E6A70"/>
                </a:solidFill>
                <a:latin typeface="Hiragino Sans"/>
              </a:rPr>
              <a:t>すべての乗客に、伝わる。</a:t>
            </a:r>
          </a:p>
        </p:txBody>
      </p:sp>
      <p:sp>
        <p:nvSpPr>
          <p:cNvPr id="14" name="TextBox 13"/>
          <p:cNvSpPr txBox="1"/>
          <p:nvPr/>
        </p:nvSpPr>
        <p:spPr>
          <a:xfrm>
            <a:off x="8394192" y="1755648"/>
            <a:ext cx="1280160" cy="182880"/>
          </a:xfrm>
          <a:prstGeom prst="rect">
            <a:avLst/>
          </a:prstGeom>
          <a:noFill/>
        </p:spPr>
        <p:txBody>
          <a:bodyPr wrap="square" lIns="0" rIns="0" tIns="0" bIns="0" anchor="t">
            <a:spAutoFit/>
          </a:bodyPr>
          <a:lstStyle/>
          <a:p>
            <a:pPr algn="ctr">
              <a:lnSpc>
                <a:spcPct val="105000"/>
              </a:lnSpc>
            </a:pPr>
            <a:r>
              <a:rPr sz="750" b="1" i="0">
                <a:solidFill>
                  <a:srgbClr val="5E6A70"/>
                </a:solidFill>
                <a:latin typeface="Avenir Next"/>
              </a:rPr>
              <a:t>CREW</a:t>
            </a:r>
          </a:p>
        </p:txBody>
      </p:sp>
      <p:sp>
        <p:nvSpPr>
          <p:cNvPr id="15" name="TextBox 14"/>
          <p:cNvSpPr txBox="1"/>
          <p:nvPr/>
        </p:nvSpPr>
        <p:spPr>
          <a:xfrm>
            <a:off x="9710928" y="2304288"/>
            <a:ext cx="1463040" cy="182880"/>
          </a:xfrm>
          <a:prstGeom prst="rect">
            <a:avLst/>
          </a:prstGeom>
          <a:noFill/>
        </p:spPr>
        <p:txBody>
          <a:bodyPr wrap="square" lIns="0" rIns="0" tIns="0" bIns="0" anchor="t">
            <a:spAutoFit/>
          </a:bodyPr>
          <a:lstStyle/>
          <a:p>
            <a:pPr algn="ctr">
              <a:lnSpc>
                <a:spcPct val="105000"/>
              </a:lnSpc>
            </a:pPr>
            <a:r>
              <a:rPr sz="750" b="1" i="0">
                <a:solidFill>
                  <a:srgbClr val="5E6A70"/>
                </a:solidFill>
                <a:latin typeface="Avenir Next"/>
              </a:rPr>
              <a:t>PASSENGER</a:t>
            </a:r>
          </a:p>
        </p:txBody>
      </p:sp>
      <p:sp>
        <p:nvSpPr>
          <p:cNvPr id="16" name="Rounded Rectangle 15"/>
          <p:cNvSpPr/>
          <p:nvPr/>
        </p:nvSpPr>
        <p:spPr>
          <a:xfrm>
            <a:off x="8275320" y="1956816"/>
            <a:ext cx="2697480" cy="1828800"/>
          </a:xfrm>
          <a:prstGeom prst="roundRect">
            <a:avLst>
              <a:gd name="adj" fmla="val 9000"/>
            </a:avLst>
          </a:prstGeom>
          <a:solidFill>
            <a:srgbClr val="0C1F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rew.png"/>
          <p:cNvPicPr>
            <a:picLocks noChangeAspect="1"/>
          </p:cNvPicPr>
          <p:nvPr/>
        </p:nvPicPr>
        <p:blipFill>
          <a:blip r:embed="rId2"/>
          <a:stretch>
            <a:fillRect/>
          </a:stretch>
        </p:blipFill>
        <p:spPr>
          <a:xfrm>
            <a:off x="8348472" y="2048256"/>
            <a:ext cx="2551176" cy="1645920"/>
          </a:xfrm>
          <a:prstGeom prst="rect">
            <a:avLst/>
          </a:prstGeom>
          <a:ln w="9525">
            <a:solidFill>
              <a:srgbClr val="E1DACF"/>
            </a:solidFill>
          </a:ln>
        </p:spPr>
      </p:pic>
      <p:sp>
        <p:nvSpPr>
          <p:cNvPr id="18" name="Rounded Rectangle 17"/>
          <p:cNvSpPr/>
          <p:nvPr/>
        </p:nvSpPr>
        <p:spPr>
          <a:xfrm>
            <a:off x="9893808" y="2331720"/>
            <a:ext cx="1417320" cy="3063240"/>
          </a:xfrm>
          <a:prstGeom prst="roundRect">
            <a:avLst>
              <a:gd name="adj" fmla="val 13000"/>
            </a:avLst>
          </a:prstGeom>
          <a:solidFill>
            <a:srgbClr val="0C1F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passenger_mobile.png"/>
          <p:cNvPicPr>
            <a:picLocks noChangeAspect="1"/>
          </p:cNvPicPr>
          <p:nvPr/>
        </p:nvPicPr>
        <p:blipFill>
          <a:blip r:embed="rId3"/>
          <a:stretch>
            <a:fillRect/>
          </a:stretch>
        </p:blipFill>
        <p:spPr>
          <a:xfrm>
            <a:off x="9957816" y="2423160"/>
            <a:ext cx="1289304" cy="2880360"/>
          </a:xfrm>
          <a:prstGeom prst="rect">
            <a:avLst/>
          </a:prstGeom>
          <a:ln w="9525">
            <a:solidFill>
              <a:srgbClr val="E1DACF"/>
            </a:solidFill>
          </a:ln>
        </p:spPr>
      </p:pic>
      <p:sp>
        <p:nvSpPr>
          <p:cNvPr id="20" name="Rounded Rectangle 19"/>
          <p:cNvSpPr/>
          <p:nvPr/>
        </p:nvSpPr>
        <p:spPr>
          <a:xfrm>
            <a:off x="10404043" y="2363724"/>
            <a:ext cx="396849" cy="41148"/>
          </a:xfrm>
          <a:prstGeom prst="roundRect">
            <a:avLst>
              <a:gd name="adj" fmla="val 3000"/>
            </a:avLst>
          </a:prstGeom>
          <a:solidFill>
            <a:srgbClr val="3A4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8275320" y="3840480"/>
            <a:ext cx="1618488" cy="0"/>
          </a:xfrm>
          <a:prstGeom prst="line">
            <a:avLst/>
          </a:prstGeom>
          <a:ln w="17780">
            <a:solidFill>
              <a:srgbClr val="C8102E"/>
            </a:solidFill>
            <a:prstDash val="dash"/>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796528" y="3959352"/>
            <a:ext cx="566928" cy="256032"/>
          </a:xfrm>
          <a:prstGeom prst="roundRect">
            <a:avLst>
              <a:gd name="adj" fmla="val 50000"/>
            </a:avLst>
          </a:prstGeom>
          <a:solidFill>
            <a:srgbClr val="FFFFFF"/>
          </a:solidFill>
          <a:ln w="12700">
            <a:solidFill>
              <a:srgbClr val="E1DAC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800" b="1">
                <a:solidFill>
                  <a:srgbClr val="C8102E"/>
                </a:solidFill>
                <a:latin typeface="Avenir Next"/>
              </a:rPr>
              <a:t>0.7 s</a:t>
            </a:r>
          </a:p>
        </p:txBody>
      </p:sp>
      <p:sp>
        <p:nvSpPr>
          <p:cNvPr id="23" name="TextBox 22"/>
          <p:cNvSpPr txBox="1"/>
          <p:nvPr/>
        </p:nvSpPr>
        <p:spPr>
          <a:xfrm>
            <a:off x="8275320" y="5468112"/>
            <a:ext cx="3291840" cy="228600"/>
          </a:xfrm>
          <a:prstGeom prst="rect">
            <a:avLst/>
          </a:prstGeom>
          <a:noFill/>
        </p:spPr>
        <p:txBody>
          <a:bodyPr wrap="square" lIns="0" rIns="0" tIns="0" bIns="0" anchor="t">
            <a:spAutoFit/>
          </a:bodyPr>
          <a:lstStyle/>
          <a:p>
            <a:pPr algn="ctr">
              <a:lnSpc>
                <a:spcPct val="105000"/>
              </a:lnSpc>
            </a:pPr>
            <a:r>
              <a:rPr sz="850" b="0" i="0">
                <a:solidFill>
                  <a:srgbClr val="5E6A70"/>
                </a:solidFill>
                <a:latin typeface="Avenir Next"/>
              </a:rPr>
              <a:t>One session. Two devices. Local.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68580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47472"/>
            <a:ext cx="9601200" cy="228600"/>
          </a:xfrm>
          <a:prstGeom prst="rect">
            <a:avLst/>
          </a:prstGeom>
          <a:noFill/>
        </p:spPr>
        <p:txBody>
          <a:bodyPr wrap="square" lIns="0" rIns="0" tIns="0" bIns="0" anchor="t">
            <a:spAutoFit/>
          </a:bodyPr>
          <a:lstStyle/>
          <a:p>
            <a:pPr algn="l">
              <a:lnSpc>
                <a:spcPct val="105000"/>
              </a:lnSpc>
            </a:pPr>
            <a:r>
              <a:rPr sz="850" b="1" i="0">
                <a:solidFill>
                  <a:srgbClr val="C8102E"/>
                </a:solidFill>
                <a:latin typeface="Avenir Next"/>
              </a:rPr>
              <a:t>01  ·  THE PROBLEM</a:t>
            </a:r>
          </a:p>
        </p:txBody>
      </p:sp>
      <p:sp>
        <p:nvSpPr>
          <p:cNvPr id="5" name="TextBox 4"/>
          <p:cNvSpPr txBox="1"/>
          <p:nvPr/>
        </p:nvSpPr>
        <p:spPr>
          <a:xfrm>
            <a:off x="576072" y="621792"/>
            <a:ext cx="10972800" cy="1051560"/>
          </a:xfrm>
          <a:prstGeom prst="rect">
            <a:avLst/>
          </a:prstGeom>
          <a:noFill/>
        </p:spPr>
        <p:txBody>
          <a:bodyPr wrap="square" lIns="0" rIns="0" tIns="0" bIns="0" anchor="t">
            <a:spAutoFit/>
          </a:bodyPr>
          <a:lstStyle/>
          <a:p>
            <a:pPr algn="l">
              <a:lnSpc>
                <a:spcPct val="95000"/>
              </a:lnSpc>
            </a:pPr>
            <a:r>
              <a:rPr sz="2800" b="1" i="0">
                <a:solidFill>
                  <a:srgbClr val="0C1F2A"/>
                </a:solidFill>
                <a:latin typeface="Avenir Next"/>
              </a:rPr>
              <a:t>Language is a safety system,
not a convenience.</a:t>
            </a:r>
          </a:p>
        </p:txBody>
      </p:sp>
      <p:sp>
        <p:nvSpPr>
          <p:cNvPr id="6" name="Rounded Rectangle 5"/>
          <p:cNvSpPr/>
          <p:nvPr/>
        </p:nvSpPr>
        <p:spPr>
          <a:xfrm>
            <a:off x="594360" y="1874519"/>
            <a:ext cx="3794760" cy="1965960"/>
          </a:xfrm>
          <a:prstGeom prst="roundRect">
            <a:avLst>
              <a:gd name="adj" fmla="val 8000"/>
            </a:avLst>
          </a:prstGeom>
          <a:solidFill>
            <a:srgbClr val="FFFFFF"/>
          </a:solidFill>
          <a:ln w="12700">
            <a:solidFill>
              <a:srgbClr val="E1DA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2066543"/>
            <a:ext cx="3200400" cy="182880"/>
          </a:xfrm>
          <a:prstGeom prst="rect">
            <a:avLst/>
          </a:prstGeom>
          <a:noFill/>
        </p:spPr>
        <p:txBody>
          <a:bodyPr wrap="square" lIns="0" rIns="0" tIns="0" bIns="0" anchor="t">
            <a:spAutoFit/>
          </a:bodyPr>
          <a:lstStyle/>
          <a:p>
            <a:pPr algn="l">
              <a:lnSpc>
                <a:spcPct val="105000"/>
              </a:lnSpc>
            </a:pPr>
            <a:r>
              <a:rPr sz="750" b="1" i="0">
                <a:solidFill>
                  <a:srgbClr val="5E6A70"/>
                </a:solidFill>
                <a:latin typeface="Avenir Next"/>
              </a:rPr>
              <a:t>PASSENGER  ·  12A  ·  JAPANESE</a:t>
            </a:r>
          </a:p>
        </p:txBody>
      </p:sp>
      <p:sp>
        <p:nvSpPr>
          <p:cNvPr id="8" name="TextBox 7"/>
          <p:cNvSpPr txBox="1"/>
          <p:nvPr/>
        </p:nvSpPr>
        <p:spPr>
          <a:xfrm>
            <a:off x="841248" y="2395728"/>
            <a:ext cx="3291840" cy="548640"/>
          </a:xfrm>
          <a:prstGeom prst="rect">
            <a:avLst/>
          </a:prstGeom>
          <a:noFill/>
        </p:spPr>
        <p:txBody>
          <a:bodyPr wrap="square" lIns="0" rIns="0" tIns="0" bIns="0" anchor="t">
            <a:spAutoFit/>
          </a:bodyPr>
          <a:lstStyle/>
          <a:p>
            <a:pPr algn="l">
              <a:lnSpc>
                <a:spcPct val="105000"/>
              </a:lnSpc>
            </a:pPr>
            <a:r>
              <a:rPr sz="2600" b="1" i="0">
                <a:solidFill>
                  <a:srgbClr val="0C1F2A"/>
                </a:solidFill>
                <a:latin typeface="Hiragino Sans"/>
              </a:rPr>
              <a:t>お水をください。</a:t>
            </a:r>
          </a:p>
        </p:txBody>
      </p:sp>
      <p:sp>
        <p:nvSpPr>
          <p:cNvPr id="9" name="TextBox 8"/>
          <p:cNvSpPr txBox="1"/>
          <p:nvPr/>
        </p:nvSpPr>
        <p:spPr>
          <a:xfrm>
            <a:off x="841248" y="3035808"/>
            <a:ext cx="3291840" cy="274320"/>
          </a:xfrm>
          <a:prstGeom prst="rect">
            <a:avLst/>
          </a:prstGeom>
          <a:noFill/>
        </p:spPr>
        <p:txBody>
          <a:bodyPr wrap="square" lIns="0" rIns="0" tIns="0" bIns="0" anchor="t">
            <a:spAutoFit/>
          </a:bodyPr>
          <a:lstStyle/>
          <a:p>
            <a:pPr algn="l">
              <a:lnSpc>
                <a:spcPct val="105000"/>
              </a:lnSpc>
            </a:pPr>
            <a:r>
              <a:rPr sz="1050" b="0" i="0">
                <a:solidFill>
                  <a:srgbClr val="5E6A70"/>
                </a:solidFill>
                <a:latin typeface="Avenir Next"/>
              </a:rPr>
              <a:t>“I would like some water, please.”</a:t>
            </a:r>
          </a:p>
        </p:txBody>
      </p:sp>
      <p:sp>
        <p:nvSpPr>
          <p:cNvPr id="10" name="Rounded Rectangle 9"/>
          <p:cNvSpPr/>
          <p:nvPr/>
        </p:nvSpPr>
        <p:spPr>
          <a:xfrm>
            <a:off x="7799831" y="1874519"/>
            <a:ext cx="3794760" cy="1965960"/>
          </a:xfrm>
          <a:prstGeom prst="roundRect">
            <a:avLst>
              <a:gd name="adj" fmla="val 8000"/>
            </a:avLst>
          </a:prstGeom>
          <a:solidFill>
            <a:srgbClr val="FFFFFF"/>
          </a:solidFill>
          <a:ln w="12700">
            <a:solidFill>
              <a:srgbClr val="E1DA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0" y="2066543"/>
            <a:ext cx="3200400" cy="182880"/>
          </a:xfrm>
          <a:prstGeom prst="rect">
            <a:avLst/>
          </a:prstGeom>
          <a:noFill/>
        </p:spPr>
        <p:txBody>
          <a:bodyPr wrap="square" lIns="0" rIns="0" tIns="0" bIns="0" anchor="t">
            <a:spAutoFit/>
          </a:bodyPr>
          <a:lstStyle/>
          <a:p>
            <a:pPr algn="l">
              <a:lnSpc>
                <a:spcPct val="105000"/>
              </a:lnSpc>
            </a:pPr>
            <a:r>
              <a:rPr sz="750" b="1" i="0">
                <a:solidFill>
                  <a:srgbClr val="5E6A70"/>
                </a:solidFill>
                <a:latin typeface="Avenir Next"/>
              </a:rPr>
              <a:t>CREW  ·  ENGLISH</a:t>
            </a:r>
          </a:p>
        </p:txBody>
      </p:sp>
      <p:sp>
        <p:nvSpPr>
          <p:cNvPr id="12" name="TextBox 11"/>
          <p:cNvSpPr txBox="1"/>
          <p:nvPr/>
        </p:nvSpPr>
        <p:spPr>
          <a:xfrm>
            <a:off x="8046720" y="2304288"/>
            <a:ext cx="914400" cy="914400"/>
          </a:xfrm>
          <a:prstGeom prst="rect">
            <a:avLst/>
          </a:prstGeom>
          <a:noFill/>
        </p:spPr>
        <p:txBody>
          <a:bodyPr wrap="square" lIns="0" rIns="0" tIns="0" bIns="0" anchor="t">
            <a:spAutoFit/>
          </a:bodyPr>
          <a:lstStyle/>
          <a:p>
            <a:pPr algn="l">
              <a:lnSpc>
                <a:spcPct val="105000"/>
              </a:lnSpc>
            </a:pPr>
            <a:r>
              <a:rPr sz="4400" b="1" i="0">
                <a:solidFill>
                  <a:srgbClr val="C8102E"/>
                </a:solidFill>
                <a:latin typeface="Avenir Next"/>
              </a:rPr>
              <a:t>?</a:t>
            </a:r>
          </a:p>
        </p:txBody>
      </p:sp>
      <p:sp>
        <p:nvSpPr>
          <p:cNvPr id="13" name="TextBox 12"/>
          <p:cNvSpPr txBox="1"/>
          <p:nvPr/>
        </p:nvSpPr>
        <p:spPr>
          <a:xfrm>
            <a:off x="8823960" y="2487168"/>
            <a:ext cx="2377440" cy="914400"/>
          </a:xfrm>
          <a:prstGeom prst="rect">
            <a:avLst/>
          </a:prstGeom>
          <a:noFill/>
        </p:spPr>
        <p:txBody>
          <a:bodyPr wrap="square" lIns="0" rIns="0" tIns="0" bIns="0" anchor="t">
            <a:spAutoFit/>
          </a:bodyPr>
          <a:lstStyle/>
          <a:p>
            <a:pPr algn="l">
              <a:lnSpc>
                <a:spcPct val="125000"/>
              </a:lnSpc>
            </a:pPr>
            <a:r>
              <a:rPr sz="1300" b="0" i="0">
                <a:solidFill>
                  <a:srgbClr val="5E6A70"/>
                </a:solidFill>
                <a:latin typeface="Avenir Next"/>
              </a:rPr>
              <a:t>Which seat?
Water now?
Allergy?</a:t>
            </a:r>
          </a:p>
        </p:txBody>
      </p:sp>
      <p:cxnSp>
        <p:nvCxnSpPr>
          <p:cNvPr id="14" name="Connector 13"/>
          <p:cNvCxnSpPr/>
          <p:nvPr/>
        </p:nvCxnSpPr>
        <p:spPr>
          <a:xfrm>
            <a:off x="4480560" y="2834640"/>
            <a:ext cx="3200400" cy="0"/>
          </a:xfrm>
          <a:prstGeom prst="line">
            <a:avLst/>
          </a:prstGeom>
          <a:ln w="19050">
            <a:solidFill>
              <a:srgbClr val="C8102E"/>
            </a:solidFill>
            <a:prstDash val="dash"/>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5833872" y="2679192"/>
            <a:ext cx="347472" cy="347472"/>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1200" b="1">
                <a:solidFill>
                  <a:srgbClr val="FFFFFF"/>
                </a:solidFill>
                <a:latin typeface="Avenir Next"/>
              </a:rPr>
              <a:t>!</a:t>
            </a:r>
          </a:p>
        </p:txBody>
      </p:sp>
      <p:sp>
        <p:nvSpPr>
          <p:cNvPr id="16" name="TextBox 15"/>
          <p:cNvSpPr txBox="1"/>
          <p:nvPr/>
        </p:nvSpPr>
        <p:spPr>
          <a:xfrm>
            <a:off x="5760720" y="3090672"/>
            <a:ext cx="914400" cy="182880"/>
          </a:xfrm>
          <a:prstGeom prst="rect">
            <a:avLst/>
          </a:prstGeom>
          <a:noFill/>
        </p:spPr>
        <p:txBody>
          <a:bodyPr wrap="square" lIns="0" rIns="0" tIns="0" bIns="0" anchor="t">
            <a:spAutoFit/>
          </a:bodyPr>
          <a:lstStyle/>
          <a:p>
            <a:pPr algn="ctr">
              <a:lnSpc>
                <a:spcPct val="105000"/>
              </a:lnSpc>
            </a:pPr>
            <a:r>
              <a:rPr sz="750" b="1" i="0">
                <a:solidFill>
                  <a:srgbClr val="C8102E"/>
                </a:solidFill>
                <a:latin typeface="Avenir Next"/>
              </a:rPr>
              <a:t>meaning lost</a:t>
            </a:r>
          </a:p>
        </p:txBody>
      </p:sp>
      <p:sp>
        <p:nvSpPr>
          <p:cNvPr id="17" name="Rounded Rectangle 16"/>
          <p:cNvSpPr/>
          <p:nvPr/>
        </p:nvSpPr>
        <p:spPr>
          <a:xfrm>
            <a:off x="594360" y="4315968"/>
            <a:ext cx="3584448" cy="1417320"/>
          </a:xfrm>
          <a:prstGeom prst="roundRect">
            <a:avLst>
              <a:gd name="adj" fmla="val 8000"/>
            </a:avLst>
          </a:prstGeom>
          <a:solidFill>
            <a:srgbClr val="FFFFFF"/>
          </a:solidFill>
          <a:ln w="12700">
            <a:solidFill>
              <a:srgbClr val="E1DA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5528" y="4480560"/>
            <a:ext cx="457200" cy="182880"/>
          </a:xfrm>
          <a:prstGeom prst="rect">
            <a:avLst/>
          </a:prstGeom>
          <a:noFill/>
        </p:spPr>
        <p:txBody>
          <a:bodyPr wrap="square" lIns="0" rIns="0" tIns="0" bIns="0" anchor="t">
            <a:spAutoFit/>
          </a:bodyPr>
          <a:lstStyle/>
          <a:p>
            <a:pPr algn="l">
              <a:lnSpc>
                <a:spcPct val="105000"/>
              </a:lnSpc>
            </a:pPr>
            <a:r>
              <a:rPr sz="800" b="1" i="0">
                <a:solidFill>
                  <a:srgbClr val="C8102E"/>
                </a:solidFill>
                <a:latin typeface="Avenir Next"/>
              </a:rPr>
              <a:t>01</a:t>
            </a:r>
          </a:p>
        </p:txBody>
      </p:sp>
      <p:sp>
        <p:nvSpPr>
          <p:cNvPr id="19" name="TextBox 18"/>
          <p:cNvSpPr txBox="1"/>
          <p:nvPr/>
        </p:nvSpPr>
        <p:spPr>
          <a:xfrm>
            <a:off x="795528" y="4681728"/>
            <a:ext cx="3200400" cy="274320"/>
          </a:xfrm>
          <a:prstGeom prst="rect">
            <a:avLst/>
          </a:prstGeom>
          <a:noFill/>
        </p:spPr>
        <p:txBody>
          <a:bodyPr wrap="square" lIns="0" rIns="0" tIns="0" bIns="0" anchor="t">
            <a:spAutoFit/>
          </a:bodyPr>
          <a:lstStyle/>
          <a:p>
            <a:pPr algn="l">
              <a:lnSpc>
                <a:spcPct val="105000"/>
              </a:lnSpc>
            </a:pPr>
            <a:r>
              <a:rPr sz="1300" b="1" i="0">
                <a:solidFill>
                  <a:srgbClr val="0C1F2A"/>
                </a:solidFill>
                <a:latin typeface="Avenir Next"/>
              </a:rPr>
              <a:t>Mixed nationalities</a:t>
            </a:r>
          </a:p>
        </p:txBody>
      </p:sp>
      <p:sp>
        <p:nvSpPr>
          <p:cNvPr id="20" name="TextBox 19"/>
          <p:cNvSpPr txBox="1"/>
          <p:nvPr/>
        </p:nvSpPr>
        <p:spPr>
          <a:xfrm>
            <a:off x="795528" y="5010912"/>
            <a:ext cx="3154680" cy="548640"/>
          </a:xfrm>
          <a:prstGeom prst="rect">
            <a:avLst/>
          </a:prstGeom>
          <a:noFill/>
        </p:spPr>
        <p:txBody>
          <a:bodyPr wrap="square" lIns="0" rIns="0" tIns="0" bIns="0" anchor="t">
            <a:spAutoFit/>
          </a:bodyPr>
          <a:lstStyle/>
          <a:p>
            <a:pPr algn="l">
              <a:lnSpc>
                <a:spcPct val="110000"/>
              </a:lnSpc>
            </a:pPr>
            <a:r>
              <a:rPr sz="950" b="0" i="0">
                <a:solidFill>
                  <a:srgbClr val="5E6A70"/>
                </a:solidFill>
                <a:latin typeface="Avenir Next"/>
              </a:rPr>
              <a:t>The crew’s first language is rarely the passenger’s.</a:t>
            </a:r>
          </a:p>
        </p:txBody>
      </p:sp>
      <p:sp>
        <p:nvSpPr>
          <p:cNvPr id="21" name="Rounded Rectangle 20"/>
          <p:cNvSpPr/>
          <p:nvPr/>
        </p:nvSpPr>
        <p:spPr>
          <a:xfrm>
            <a:off x="4361688" y="4315968"/>
            <a:ext cx="3584448" cy="1417320"/>
          </a:xfrm>
          <a:prstGeom prst="roundRect">
            <a:avLst>
              <a:gd name="adj" fmla="val 8000"/>
            </a:avLst>
          </a:prstGeom>
          <a:solidFill>
            <a:srgbClr val="FFFFFF"/>
          </a:solidFill>
          <a:ln w="12700">
            <a:solidFill>
              <a:srgbClr val="E1DA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62856" y="4480560"/>
            <a:ext cx="457200" cy="182880"/>
          </a:xfrm>
          <a:prstGeom prst="rect">
            <a:avLst/>
          </a:prstGeom>
          <a:noFill/>
        </p:spPr>
        <p:txBody>
          <a:bodyPr wrap="square" lIns="0" rIns="0" tIns="0" bIns="0" anchor="t">
            <a:spAutoFit/>
          </a:bodyPr>
          <a:lstStyle/>
          <a:p>
            <a:pPr algn="l">
              <a:lnSpc>
                <a:spcPct val="105000"/>
              </a:lnSpc>
            </a:pPr>
            <a:r>
              <a:rPr sz="800" b="1" i="0">
                <a:solidFill>
                  <a:srgbClr val="C8102E"/>
                </a:solidFill>
                <a:latin typeface="Avenir Next"/>
              </a:rPr>
              <a:t>02</a:t>
            </a:r>
          </a:p>
        </p:txBody>
      </p:sp>
      <p:sp>
        <p:nvSpPr>
          <p:cNvPr id="23" name="TextBox 22"/>
          <p:cNvSpPr txBox="1"/>
          <p:nvPr/>
        </p:nvSpPr>
        <p:spPr>
          <a:xfrm>
            <a:off x="4562856" y="4681728"/>
            <a:ext cx="3200400" cy="274320"/>
          </a:xfrm>
          <a:prstGeom prst="rect">
            <a:avLst/>
          </a:prstGeom>
          <a:noFill/>
        </p:spPr>
        <p:txBody>
          <a:bodyPr wrap="square" lIns="0" rIns="0" tIns="0" bIns="0" anchor="t">
            <a:spAutoFit/>
          </a:bodyPr>
          <a:lstStyle/>
          <a:p>
            <a:pPr algn="l">
              <a:lnSpc>
                <a:spcPct val="105000"/>
              </a:lnSpc>
            </a:pPr>
            <a:r>
              <a:rPr sz="1300" b="1" i="0">
                <a:solidFill>
                  <a:srgbClr val="0C1F2A"/>
                </a:solidFill>
                <a:latin typeface="Avenir Next"/>
              </a:rPr>
              <a:t>Crew repetition</a:t>
            </a:r>
          </a:p>
        </p:txBody>
      </p:sp>
      <p:sp>
        <p:nvSpPr>
          <p:cNvPr id="24" name="TextBox 23"/>
          <p:cNvSpPr txBox="1"/>
          <p:nvPr/>
        </p:nvSpPr>
        <p:spPr>
          <a:xfrm>
            <a:off x="4562856" y="5010912"/>
            <a:ext cx="3154680" cy="548640"/>
          </a:xfrm>
          <a:prstGeom prst="rect">
            <a:avLst/>
          </a:prstGeom>
          <a:noFill/>
        </p:spPr>
        <p:txBody>
          <a:bodyPr wrap="square" lIns="0" rIns="0" tIns="0" bIns="0" anchor="t">
            <a:spAutoFit/>
          </a:bodyPr>
          <a:lstStyle/>
          <a:p>
            <a:pPr algn="l">
              <a:lnSpc>
                <a:spcPct val="110000"/>
              </a:lnSpc>
            </a:pPr>
            <a:r>
              <a:rPr sz="950" b="0" i="0">
                <a:solidFill>
                  <a:srgbClr val="5E6A70"/>
                </a:solidFill>
                <a:latin typeface="Avenir Next"/>
              </a:rPr>
              <a:t>The same simple request is rephrased, repeated, guessed.</a:t>
            </a:r>
          </a:p>
        </p:txBody>
      </p:sp>
      <p:sp>
        <p:nvSpPr>
          <p:cNvPr id="25" name="Rounded Rectangle 24"/>
          <p:cNvSpPr/>
          <p:nvPr/>
        </p:nvSpPr>
        <p:spPr>
          <a:xfrm>
            <a:off x="8129016" y="4315968"/>
            <a:ext cx="3584448" cy="1417320"/>
          </a:xfrm>
          <a:prstGeom prst="roundRect">
            <a:avLst>
              <a:gd name="adj" fmla="val 8000"/>
            </a:avLst>
          </a:prstGeom>
          <a:solidFill>
            <a:srgbClr val="FFFFFF"/>
          </a:solidFill>
          <a:ln w="12700">
            <a:solidFill>
              <a:srgbClr val="E1DA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30184" y="4480560"/>
            <a:ext cx="457200" cy="182880"/>
          </a:xfrm>
          <a:prstGeom prst="rect">
            <a:avLst/>
          </a:prstGeom>
          <a:noFill/>
        </p:spPr>
        <p:txBody>
          <a:bodyPr wrap="square" lIns="0" rIns="0" tIns="0" bIns="0" anchor="t">
            <a:spAutoFit/>
          </a:bodyPr>
          <a:lstStyle/>
          <a:p>
            <a:pPr algn="l">
              <a:lnSpc>
                <a:spcPct val="105000"/>
              </a:lnSpc>
            </a:pPr>
            <a:r>
              <a:rPr sz="800" b="1" i="0">
                <a:solidFill>
                  <a:srgbClr val="C8102E"/>
                </a:solidFill>
                <a:latin typeface="Avenir Next"/>
              </a:rPr>
              <a:t>03</a:t>
            </a:r>
          </a:p>
        </p:txBody>
      </p:sp>
      <p:sp>
        <p:nvSpPr>
          <p:cNvPr id="27" name="TextBox 26"/>
          <p:cNvSpPr txBox="1"/>
          <p:nvPr/>
        </p:nvSpPr>
        <p:spPr>
          <a:xfrm>
            <a:off x="8330184" y="4681728"/>
            <a:ext cx="3200400" cy="274320"/>
          </a:xfrm>
          <a:prstGeom prst="rect">
            <a:avLst/>
          </a:prstGeom>
          <a:noFill/>
        </p:spPr>
        <p:txBody>
          <a:bodyPr wrap="square" lIns="0" rIns="0" tIns="0" bIns="0" anchor="t">
            <a:spAutoFit/>
          </a:bodyPr>
          <a:lstStyle/>
          <a:p>
            <a:pPr algn="l">
              <a:lnSpc>
                <a:spcPct val="105000"/>
              </a:lnSpc>
            </a:pPr>
            <a:r>
              <a:rPr sz="1300" b="1" i="0">
                <a:solidFill>
                  <a:srgbClr val="0C1F2A"/>
                </a:solidFill>
                <a:latin typeface="Avenir Next"/>
              </a:rPr>
              <a:t>High-stakes nuance</a:t>
            </a:r>
          </a:p>
        </p:txBody>
      </p:sp>
      <p:sp>
        <p:nvSpPr>
          <p:cNvPr id="28" name="TextBox 27"/>
          <p:cNvSpPr txBox="1"/>
          <p:nvPr/>
        </p:nvSpPr>
        <p:spPr>
          <a:xfrm>
            <a:off x="8330184" y="5010912"/>
            <a:ext cx="3154680" cy="548640"/>
          </a:xfrm>
          <a:prstGeom prst="rect">
            <a:avLst/>
          </a:prstGeom>
          <a:noFill/>
        </p:spPr>
        <p:txBody>
          <a:bodyPr wrap="square" lIns="0" rIns="0" tIns="0" bIns="0" anchor="t">
            <a:spAutoFit/>
          </a:bodyPr>
          <a:lstStyle/>
          <a:p>
            <a:pPr algn="l">
              <a:lnSpc>
                <a:spcPct val="110000"/>
              </a:lnSpc>
            </a:pPr>
            <a:r>
              <a:rPr sz="950" b="0" i="0">
                <a:solidFill>
                  <a:srgbClr val="5E6A70"/>
                </a:solidFill>
                <a:latin typeface="Avenir Next"/>
              </a:rPr>
              <a:t>“No”, “not”, “allergy”, “2 tablets” can flip meaning.</a:t>
            </a:r>
          </a:p>
        </p:txBody>
      </p:sp>
      <p:cxnSp>
        <p:nvCxnSpPr>
          <p:cNvPr id="29" name="Connector 28"/>
          <p:cNvCxnSpPr/>
          <p:nvPr/>
        </p:nvCxnSpPr>
        <p:spPr>
          <a:xfrm>
            <a:off x="594360" y="6492240"/>
            <a:ext cx="11000232" cy="0"/>
          </a:xfrm>
          <a:prstGeom prst="line">
            <a:avLst/>
          </a:prstGeom>
          <a:ln w="9525">
            <a:solidFill>
              <a:srgbClr val="E1DACF"/>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94360" y="6556248"/>
            <a:ext cx="6400800" cy="182880"/>
          </a:xfrm>
          <a:prstGeom prst="rect">
            <a:avLst/>
          </a:prstGeom>
          <a:noFill/>
        </p:spPr>
        <p:txBody>
          <a:bodyPr wrap="square" lIns="0" rIns="0" tIns="0" bIns="0" anchor="t">
            <a:spAutoFit/>
          </a:bodyPr>
          <a:lstStyle/>
          <a:p>
            <a:pPr algn="l">
              <a:lnSpc>
                <a:spcPct val="105000"/>
              </a:lnSpc>
            </a:pPr>
            <a:r>
              <a:rPr sz="750" b="1" i="0">
                <a:solidFill>
                  <a:srgbClr val="9AA3A6"/>
                </a:solidFill>
                <a:latin typeface="Avenir Next"/>
              </a:rPr>
              <a:t>CABINBRIDGE  ×  JAPAN AIRLINES</a:t>
            </a:r>
          </a:p>
        </p:txBody>
      </p:sp>
      <p:sp>
        <p:nvSpPr>
          <p:cNvPr id="31" name="TextBox 30"/>
          <p:cNvSpPr txBox="1"/>
          <p:nvPr/>
        </p:nvSpPr>
        <p:spPr>
          <a:xfrm>
            <a:off x="10972800" y="6556248"/>
            <a:ext cx="621792" cy="182880"/>
          </a:xfrm>
          <a:prstGeom prst="rect">
            <a:avLst/>
          </a:prstGeom>
          <a:noFill/>
        </p:spPr>
        <p:txBody>
          <a:bodyPr wrap="square" lIns="0" rIns="0" tIns="0" bIns="0" anchor="t">
            <a:spAutoFit/>
          </a:bodyPr>
          <a:lstStyle/>
          <a:p>
            <a:pPr algn="r">
              <a:lnSpc>
                <a:spcPct val="105000"/>
              </a:lnSpc>
            </a:pPr>
            <a:r>
              <a:rPr sz="750" b="0" i="0">
                <a:solidFill>
                  <a:srgbClr val="9AA3A6"/>
                </a:solidFill>
                <a:latin typeface="Avenir Next"/>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68580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47472"/>
            <a:ext cx="9601200" cy="228600"/>
          </a:xfrm>
          <a:prstGeom prst="rect">
            <a:avLst/>
          </a:prstGeom>
          <a:noFill/>
        </p:spPr>
        <p:txBody>
          <a:bodyPr wrap="square" lIns="0" rIns="0" tIns="0" bIns="0" anchor="t">
            <a:spAutoFit/>
          </a:bodyPr>
          <a:lstStyle/>
          <a:p>
            <a:pPr algn="l">
              <a:lnSpc>
                <a:spcPct val="105000"/>
              </a:lnSpc>
            </a:pPr>
            <a:r>
              <a:rPr sz="850" b="1" i="0">
                <a:solidFill>
                  <a:srgbClr val="C8102E"/>
                </a:solidFill>
                <a:latin typeface="Avenir Next"/>
              </a:rPr>
              <a:t>02  ·  THE GAP</a:t>
            </a:r>
          </a:p>
        </p:txBody>
      </p:sp>
      <p:sp>
        <p:nvSpPr>
          <p:cNvPr id="5" name="TextBox 4"/>
          <p:cNvSpPr txBox="1"/>
          <p:nvPr/>
        </p:nvSpPr>
        <p:spPr>
          <a:xfrm>
            <a:off x="576072" y="621792"/>
            <a:ext cx="10972800" cy="1051560"/>
          </a:xfrm>
          <a:prstGeom prst="rect">
            <a:avLst/>
          </a:prstGeom>
          <a:noFill/>
        </p:spPr>
        <p:txBody>
          <a:bodyPr wrap="square" lIns="0" rIns="0" tIns="0" bIns="0" anchor="t">
            <a:spAutoFit/>
          </a:bodyPr>
          <a:lstStyle/>
          <a:p>
            <a:pPr algn="l">
              <a:lnSpc>
                <a:spcPct val="95000"/>
              </a:lnSpc>
            </a:pPr>
            <a:r>
              <a:rPr sz="2800" b="1" i="0">
                <a:solidFill>
                  <a:srgbClr val="0C1F2A"/>
                </a:solidFill>
                <a:latin typeface="Avenir Next"/>
              </a:rPr>
              <a:t>Google Translate translates words.
It doesn’t run a cabin.</a:t>
            </a:r>
          </a:p>
        </p:txBody>
      </p:sp>
      <p:sp>
        <p:nvSpPr>
          <p:cNvPr id="6" name="Rounded Rectangle 5"/>
          <p:cNvSpPr/>
          <p:nvPr/>
        </p:nvSpPr>
        <p:spPr>
          <a:xfrm>
            <a:off x="594360" y="1828800"/>
            <a:ext cx="1938528" cy="1234440"/>
          </a:xfrm>
          <a:prstGeom prst="roundRect">
            <a:avLst>
              <a:gd name="adj" fmla="val 9000"/>
            </a:avLst>
          </a:prstGeom>
          <a:solidFill>
            <a:srgbClr val="FFFFFF"/>
          </a:solidFill>
          <a:ln w="12700">
            <a:solidFill>
              <a:srgbClr val="E1DA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0664" y="1965960"/>
            <a:ext cx="310896" cy="310896"/>
          </a:xfrm>
          <a:prstGeom prst="ellipse">
            <a:avLst/>
          </a:prstGeom>
          <a:solidFill>
            <a:srgbClr val="0F6B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1100" b="1">
                <a:solidFill>
                  <a:srgbClr val="FFFFFF"/>
                </a:solidFill>
                <a:latin typeface="Avenir Next"/>
              </a:rPr>
              <a:t>1</a:t>
            </a:r>
          </a:p>
        </p:txBody>
      </p:sp>
      <p:sp>
        <p:nvSpPr>
          <p:cNvPr id="8" name="TextBox 7"/>
          <p:cNvSpPr txBox="1"/>
          <p:nvPr/>
        </p:nvSpPr>
        <p:spPr>
          <a:xfrm>
            <a:off x="1143000" y="1993392"/>
            <a:ext cx="1280160" cy="274320"/>
          </a:xfrm>
          <a:prstGeom prst="rect">
            <a:avLst/>
          </a:prstGeom>
          <a:noFill/>
        </p:spPr>
        <p:txBody>
          <a:bodyPr wrap="square" lIns="0" rIns="0" tIns="0" bIns="0" anchor="t">
            <a:spAutoFit/>
          </a:bodyPr>
          <a:lstStyle/>
          <a:p>
            <a:pPr algn="l">
              <a:lnSpc>
                <a:spcPct val="105000"/>
              </a:lnSpc>
            </a:pPr>
            <a:r>
              <a:rPr sz="1300" b="1" i="0">
                <a:solidFill>
                  <a:srgbClr val="0C1F2A"/>
                </a:solidFill>
                <a:latin typeface="Avenir Next"/>
              </a:rPr>
              <a:t>Hear</a:t>
            </a:r>
          </a:p>
        </p:txBody>
      </p:sp>
      <p:sp>
        <p:nvSpPr>
          <p:cNvPr id="9" name="TextBox 8"/>
          <p:cNvSpPr txBox="1"/>
          <p:nvPr/>
        </p:nvSpPr>
        <p:spPr>
          <a:xfrm>
            <a:off x="740664" y="2432304"/>
            <a:ext cx="1691640" cy="411480"/>
          </a:xfrm>
          <a:prstGeom prst="rect">
            <a:avLst/>
          </a:prstGeom>
          <a:noFill/>
        </p:spPr>
        <p:txBody>
          <a:bodyPr wrap="square" lIns="0" rIns="0" tIns="0" bIns="0" anchor="t">
            <a:spAutoFit/>
          </a:bodyPr>
          <a:lstStyle/>
          <a:p>
            <a:pPr algn="l">
              <a:lnSpc>
                <a:spcPct val="105000"/>
              </a:lnSpc>
            </a:pPr>
            <a:r>
              <a:rPr sz="900" b="0" i="0">
                <a:solidFill>
                  <a:srgbClr val="5E6A70"/>
                </a:solidFill>
                <a:latin typeface="Avenir Next"/>
              </a:rPr>
              <a:t>Voice or text</a:t>
            </a:r>
          </a:p>
        </p:txBody>
      </p:sp>
      <p:sp>
        <p:nvSpPr>
          <p:cNvPr id="10" name="Right Arrow 9"/>
          <p:cNvSpPr/>
          <p:nvPr/>
        </p:nvSpPr>
        <p:spPr>
          <a:xfrm>
            <a:off x="2551176" y="2313432"/>
            <a:ext cx="219456" cy="182880"/>
          </a:xfrm>
          <a:prstGeom prst="rightArrow">
            <a:avLst/>
          </a:prstGeom>
          <a:solidFill>
            <a:srgbClr val="E1DA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807208" y="1828800"/>
            <a:ext cx="1938528" cy="1234440"/>
          </a:xfrm>
          <a:prstGeom prst="roundRect">
            <a:avLst>
              <a:gd name="adj" fmla="val 9000"/>
            </a:avLst>
          </a:prstGeom>
          <a:solidFill>
            <a:srgbClr val="FFFFFF"/>
          </a:solidFill>
          <a:ln w="12700">
            <a:solidFill>
              <a:srgbClr val="E1DA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953512" y="1965960"/>
            <a:ext cx="310896" cy="310896"/>
          </a:xfrm>
          <a:prstGeom prst="ellipse">
            <a:avLst/>
          </a:prstGeom>
          <a:solidFill>
            <a:srgbClr val="0F6B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1100" b="1">
                <a:solidFill>
                  <a:srgbClr val="FFFFFF"/>
                </a:solidFill>
                <a:latin typeface="Avenir Next"/>
              </a:rPr>
              <a:t>2</a:t>
            </a:r>
          </a:p>
        </p:txBody>
      </p:sp>
      <p:sp>
        <p:nvSpPr>
          <p:cNvPr id="13" name="TextBox 12"/>
          <p:cNvSpPr txBox="1"/>
          <p:nvPr/>
        </p:nvSpPr>
        <p:spPr>
          <a:xfrm>
            <a:off x="3355848" y="1993392"/>
            <a:ext cx="1280160" cy="274320"/>
          </a:xfrm>
          <a:prstGeom prst="rect">
            <a:avLst/>
          </a:prstGeom>
          <a:noFill/>
        </p:spPr>
        <p:txBody>
          <a:bodyPr wrap="square" lIns="0" rIns="0" tIns="0" bIns="0" anchor="t">
            <a:spAutoFit/>
          </a:bodyPr>
          <a:lstStyle/>
          <a:p>
            <a:pPr algn="l">
              <a:lnSpc>
                <a:spcPct val="105000"/>
              </a:lnSpc>
            </a:pPr>
            <a:r>
              <a:rPr sz="1300" b="1" i="0">
                <a:solidFill>
                  <a:srgbClr val="0C1F2A"/>
                </a:solidFill>
                <a:latin typeface="Avenir Next"/>
              </a:rPr>
              <a:t>Translate</a:t>
            </a:r>
          </a:p>
        </p:txBody>
      </p:sp>
      <p:sp>
        <p:nvSpPr>
          <p:cNvPr id="14" name="TextBox 13"/>
          <p:cNvSpPr txBox="1"/>
          <p:nvPr/>
        </p:nvSpPr>
        <p:spPr>
          <a:xfrm>
            <a:off x="2953512" y="2432304"/>
            <a:ext cx="1691640" cy="411480"/>
          </a:xfrm>
          <a:prstGeom prst="rect">
            <a:avLst/>
          </a:prstGeom>
          <a:noFill/>
        </p:spPr>
        <p:txBody>
          <a:bodyPr wrap="square" lIns="0" rIns="0" tIns="0" bIns="0" anchor="t">
            <a:spAutoFit/>
          </a:bodyPr>
          <a:lstStyle/>
          <a:p>
            <a:pPr algn="l">
              <a:lnSpc>
                <a:spcPct val="105000"/>
              </a:lnSpc>
            </a:pPr>
            <a:r>
              <a:rPr sz="900" b="0" i="0">
                <a:solidFill>
                  <a:srgbClr val="5E6A70"/>
                </a:solidFill>
                <a:latin typeface="Avenir Next"/>
              </a:rPr>
              <a:t>One sentence</a:t>
            </a:r>
          </a:p>
        </p:txBody>
      </p:sp>
      <p:sp>
        <p:nvSpPr>
          <p:cNvPr id="15" name="Right Arrow 14"/>
          <p:cNvSpPr/>
          <p:nvPr/>
        </p:nvSpPr>
        <p:spPr>
          <a:xfrm>
            <a:off x="4764024" y="2313432"/>
            <a:ext cx="219456" cy="182880"/>
          </a:xfrm>
          <a:prstGeom prst="rightArrow">
            <a:avLst/>
          </a:prstGeom>
          <a:solidFill>
            <a:srgbClr val="E1DA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020056" y="1828800"/>
            <a:ext cx="1938528" cy="1234440"/>
          </a:xfrm>
          <a:prstGeom prst="roundRect">
            <a:avLst>
              <a:gd name="adj" fmla="val 9000"/>
            </a:avLst>
          </a:prstGeom>
          <a:solidFill>
            <a:srgbClr val="F9E9EB"/>
          </a:solidFill>
          <a:ln w="12700">
            <a:solidFill>
              <a:srgbClr val="E85A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166360" y="1965960"/>
            <a:ext cx="310896" cy="310896"/>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1100" b="1">
                <a:solidFill>
                  <a:srgbClr val="FFFFFF"/>
                </a:solidFill>
                <a:latin typeface="Avenir Next"/>
              </a:rPr>
              <a:t>3</a:t>
            </a:r>
          </a:p>
        </p:txBody>
      </p:sp>
      <p:sp>
        <p:nvSpPr>
          <p:cNvPr id="18" name="TextBox 17"/>
          <p:cNvSpPr txBox="1"/>
          <p:nvPr/>
        </p:nvSpPr>
        <p:spPr>
          <a:xfrm>
            <a:off x="5568696" y="1993392"/>
            <a:ext cx="1280160" cy="274320"/>
          </a:xfrm>
          <a:prstGeom prst="rect">
            <a:avLst/>
          </a:prstGeom>
          <a:noFill/>
        </p:spPr>
        <p:txBody>
          <a:bodyPr wrap="square" lIns="0" rIns="0" tIns="0" bIns="0" anchor="t">
            <a:spAutoFit/>
          </a:bodyPr>
          <a:lstStyle/>
          <a:p>
            <a:pPr algn="l">
              <a:lnSpc>
                <a:spcPct val="105000"/>
              </a:lnSpc>
            </a:pPr>
            <a:r>
              <a:rPr sz="1300" b="1" i="0">
                <a:solidFill>
                  <a:srgbClr val="0C1F2A"/>
                </a:solidFill>
                <a:latin typeface="Avenir Next"/>
              </a:rPr>
              <a:t>Triage</a:t>
            </a:r>
          </a:p>
        </p:txBody>
      </p:sp>
      <p:sp>
        <p:nvSpPr>
          <p:cNvPr id="19" name="TextBox 18"/>
          <p:cNvSpPr txBox="1"/>
          <p:nvPr/>
        </p:nvSpPr>
        <p:spPr>
          <a:xfrm>
            <a:off x="5166360" y="2432304"/>
            <a:ext cx="1691640" cy="411480"/>
          </a:xfrm>
          <a:prstGeom prst="rect">
            <a:avLst/>
          </a:prstGeom>
          <a:noFill/>
        </p:spPr>
        <p:txBody>
          <a:bodyPr wrap="square" lIns="0" rIns="0" tIns="0" bIns="0" anchor="t">
            <a:spAutoFit/>
          </a:bodyPr>
          <a:lstStyle/>
          <a:p>
            <a:pPr algn="l">
              <a:lnSpc>
                <a:spcPct val="105000"/>
              </a:lnSpc>
            </a:pPr>
            <a:r>
              <a:rPr sz="900" b="0" i="0">
                <a:solidFill>
                  <a:srgbClr val="5E6A70"/>
                </a:solidFill>
                <a:latin typeface="Avenir Next"/>
              </a:rPr>
              <a:t>Who? How urgent?</a:t>
            </a:r>
          </a:p>
        </p:txBody>
      </p:sp>
      <p:sp>
        <p:nvSpPr>
          <p:cNvPr id="20" name="Right Arrow 19"/>
          <p:cNvSpPr/>
          <p:nvPr/>
        </p:nvSpPr>
        <p:spPr>
          <a:xfrm>
            <a:off x="6976872" y="2313432"/>
            <a:ext cx="219456" cy="182880"/>
          </a:xfrm>
          <a:prstGeom prst="rightArrow">
            <a:avLst/>
          </a:prstGeom>
          <a:solidFill>
            <a:srgbClr val="E1DA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232904" y="1828800"/>
            <a:ext cx="1938528" cy="1234440"/>
          </a:xfrm>
          <a:prstGeom prst="roundRect">
            <a:avLst>
              <a:gd name="adj" fmla="val 9000"/>
            </a:avLst>
          </a:prstGeom>
          <a:solidFill>
            <a:srgbClr val="F9E9EB"/>
          </a:solidFill>
          <a:ln w="12700">
            <a:solidFill>
              <a:srgbClr val="E85A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79208" y="1965960"/>
            <a:ext cx="310896" cy="310896"/>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1100" b="1">
                <a:solidFill>
                  <a:srgbClr val="FFFFFF"/>
                </a:solidFill>
                <a:latin typeface="Avenir Next"/>
              </a:rPr>
              <a:t>4</a:t>
            </a:r>
          </a:p>
        </p:txBody>
      </p:sp>
      <p:sp>
        <p:nvSpPr>
          <p:cNvPr id="23" name="TextBox 22"/>
          <p:cNvSpPr txBox="1"/>
          <p:nvPr/>
        </p:nvSpPr>
        <p:spPr>
          <a:xfrm>
            <a:off x="7781544" y="1993392"/>
            <a:ext cx="1280160" cy="274320"/>
          </a:xfrm>
          <a:prstGeom prst="rect">
            <a:avLst/>
          </a:prstGeom>
          <a:noFill/>
        </p:spPr>
        <p:txBody>
          <a:bodyPr wrap="square" lIns="0" rIns="0" tIns="0" bIns="0" anchor="t">
            <a:spAutoFit/>
          </a:bodyPr>
          <a:lstStyle/>
          <a:p>
            <a:pPr algn="l">
              <a:lnSpc>
                <a:spcPct val="105000"/>
              </a:lnSpc>
            </a:pPr>
            <a:r>
              <a:rPr sz="1300" b="1" i="0">
                <a:solidFill>
                  <a:srgbClr val="0C1F2A"/>
                </a:solidFill>
                <a:latin typeface="Avenir Next"/>
              </a:rPr>
              <a:t>Respond</a:t>
            </a:r>
          </a:p>
        </p:txBody>
      </p:sp>
      <p:sp>
        <p:nvSpPr>
          <p:cNvPr id="24" name="TextBox 23"/>
          <p:cNvSpPr txBox="1"/>
          <p:nvPr/>
        </p:nvSpPr>
        <p:spPr>
          <a:xfrm>
            <a:off x="7379208" y="2432304"/>
            <a:ext cx="1691640" cy="411480"/>
          </a:xfrm>
          <a:prstGeom prst="rect">
            <a:avLst/>
          </a:prstGeom>
          <a:noFill/>
        </p:spPr>
        <p:txBody>
          <a:bodyPr wrap="square" lIns="0" rIns="0" tIns="0" bIns="0" anchor="t">
            <a:spAutoFit/>
          </a:bodyPr>
          <a:lstStyle/>
          <a:p>
            <a:pPr algn="l">
              <a:lnSpc>
                <a:spcPct val="105000"/>
              </a:lnSpc>
            </a:pPr>
            <a:r>
              <a:rPr sz="900" b="0" i="0">
                <a:solidFill>
                  <a:srgbClr val="5E6A70"/>
                </a:solidFill>
                <a:latin typeface="Avenir Next"/>
              </a:rPr>
              <a:t>Seat + reply</a:t>
            </a:r>
          </a:p>
        </p:txBody>
      </p:sp>
      <p:sp>
        <p:nvSpPr>
          <p:cNvPr id="25" name="Right Arrow 24"/>
          <p:cNvSpPr/>
          <p:nvPr/>
        </p:nvSpPr>
        <p:spPr>
          <a:xfrm>
            <a:off x="9189720" y="2313432"/>
            <a:ext cx="219456" cy="182880"/>
          </a:xfrm>
          <a:prstGeom prst="rightArrow">
            <a:avLst/>
          </a:prstGeom>
          <a:solidFill>
            <a:srgbClr val="E1DA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445752" y="1828800"/>
            <a:ext cx="1938528" cy="1234440"/>
          </a:xfrm>
          <a:prstGeom prst="roundRect">
            <a:avLst>
              <a:gd name="adj" fmla="val 9000"/>
            </a:avLst>
          </a:prstGeom>
          <a:solidFill>
            <a:srgbClr val="F9E9EB"/>
          </a:solidFill>
          <a:ln w="12700">
            <a:solidFill>
              <a:srgbClr val="E85A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92056" y="1965960"/>
            <a:ext cx="310896" cy="310896"/>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1100" b="1">
                <a:solidFill>
                  <a:srgbClr val="FFFFFF"/>
                </a:solidFill>
                <a:latin typeface="Avenir Next"/>
              </a:rPr>
              <a:t>5</a:t>
            </a:r>
          </a:p>
        </p:txBody>
      </p:sp>
      <p:sp>
        <p:nvSpPr>
          <p:cNvPr id="28" name="TextBox 27"/>
          <p:cNvSpPr txBox="1"/>
          <p:nvPr/>
        </p:nvSpPr>
        <p:spPr>
          <a:xfrm>
            <a:off x="9994392" y="1993392"/>
            <a:ext cx="1280160" cy="274320"/>
          </a:xfrm>
          <a:prstGeom prst="rect">
            <a:avLst/>
          </a:prstGeom>
          <a:noFill/>
        </p:spPr>
        <p:txBody>
          <a:bodyPr wrap="square" lIns="0" rIns="0" tIns="0" bIns="0" anchor="t">
            <a:spAutoFit/>
          </a:bodyPr>
          <a:lstStyle/>
          <a:p>
            <a:pPr algn="l">
              <a:lnSpc>
                <a:spcPct val="105000"/>
              </a:lnSpc>
            </a:pPr>
            <a:r>
              <a:rPr sz="1300" b="1" i="0">
                <a:solidFill>
                  <a:srgbClr val="0C1F2A"/>
                </a:solidFill>
                <a:latin typeface="Avenir Next"/>
              </a:rPr>
              <a:t>Confirm</a:t>
            </a:r>
          </a:p>
        </p:txBody>
      </p:sp>
      <p:sp>
        <p:nvSpPr>
          <p:cNvPr id="29" name="TextBox 28"/>
          <p:cNvSpPr txBox="1"/>
          <p:nvPr/>
        </p:nvSpPr>
        <p:spPr>
          <a:xfrm>
            <a:off x="9592056" y="2432304"/>
            <a:ext cx="1691640" cy="411480"/>
          </a:xfrm>
          <a:prstGeom prst="rect">
            <a:avLst/>
          </a:prstGeom>
          <a:noFill/>
        </p:spPr>
        <p:txBody>
          <a:bodyPr wrap="square" lIns="0" rIns="0" tIns="0" bIns="0" anchor="t">
            <a:spAutoFit/>
          </a:bodyPr>
          <a:lstStyle/>
          <a:p>
            <a:pPr algn="l">
              <a:lnSpc>
                <a:spcPct val="105000"/>
              </a:lnSpc>
            </a:pPr>
            <a:r>
              <a:rPr sz="900" b="0" i="0">
                <a:solidFill>
                  <a:srgbClr val="5E6A70"/>
                </a:solidFill>
                <a:latin typeface="Avenir Next"/>
              </a:rPr>
              <a:t>Did it land?</a:t>
            </a:r>
          </a:p>
        </p:txBody>
      </p:sp>
      <p:sp>
        <p:nvSpPr>
          <p:cNvPr id="30" name="TextBox 29"/>
          <p:cNvSpPr txBox="1"/>
          <p:nvPr/>
        </p:nvSpPr>
        <p:spPr>
          <a:xfrm>
            <a:off x="594360" y="3246120"/>
            <a:ext cx="4206240" cy="228600"/>
          </a:xfrm>
          <a:prstGeom prst="rect">
            <a:avLst/>
          </a:prstGeom>
          <a:noFill/>
        </p:spPr>
        <p:txBody>
          <a:bodyPr wrap="square" lIns="0" rIns="0" tIns="0" bIns="0" anchor="t">
            <a:spAutoFit/>
          </a:bodyPr>
          <a:lstStyle/>
          <a:p>
            <a:pPr algn="l">
              <a:lnSpc>
                <a:spcPct val="105000"/>
              </a:lnSpc>
            </a:pPr>
            <a:r>
              <a:rPr sz="900" b="1" i="0">
                <a:solidFill>
                  <a:srgbClr val="0F6B5C"/>
                </a:solidFill>
                <a:latin typeface="Avenir Next"/>
              </a:rPr>
              <a:t>A translator covers this</a:t>
            </a:r>
          </a:p>
        </p:txBody>
      </p:sp>
      <p:sp>
        <p:nvSpPr>
          <p:cNvPr id="31" name="TextBox 30"/>
          <p:cNvSpPr txBox="1"/>
          <p:nvPr/>
        </p:nvSpPr>
        <p:spPr>
          <a:xfrm>
            <a:off x="5212080" y="3246120"/>
            <a:ext cx="6217920" cy="228600"/>
          </a:xfrm>
          <a:prstGeom prst="rect">
            <a:avLst/>
          </a:prstGeom>
          <a:noFill/>
        </p:spPr>
        <p:txBody>
          <a:bodyPr wrap="square" lIns="0" rIns="0" tIns="0" bIns="0" anchor="t">
            <a:spAutoFit/>
          </a:bodyPr>
          <a:lstStyle/>
          <a:p>
            <a:pPr algn="l">
              <a:lnSpc>
                <a:spcPct val="105000"/>
              </a:lnSpc>
            </a:pPr>
            <a:r>
              <a:rPr sz="900" b="1" i="0">
                <a:solidFill>
                  <a:srgbClr val="C8102E"/>
                </a:solidFill>
                <a:latin typeface="Avenir Next"/>
              </a:rPr>
              <a:t>The cabin workflow lives here</a:t>
            </a:r>
          </a:p>
        </p:txBody>
      </p:sp>
      <p:cxnSp>
        <p:nvCxnSpPr>
          <p:cNvPr id="32" name="Connector 31"/>
          <p:cNvCxnSpPr/>
          <p:nvPr/>
        </p:nvCxnSpPr>
        <p:spPr>
          <a:xfrm>
            <a:off x="4754880" y="3493008"/>
            <a:ext cx="6766560" cy="0"/>
          </a:xfrm>
          <a:prstGeom prst="line">
            <a:avLst/>
          </a:prstGeom>
          <a:ln w="15240">
            <a:solidFill>
              <a:srgbClr val="C8102E"/>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594360" y="3840480"/>
            <a:ext cx="5029200" cy="1508760"/>
          </a:xfrm>
          <a:prstGeom prst="roundRect">
            <a:avLst>
              <a:gd name="adj" fmla="val 8000"/>
            </a:avLst>
          </a:prstGeom>
          <a:solidFill>
            <a:srgbClr val="FFFFFF"/>
          </a:solidFill>
          <a:ln w="12700">
            <a:solidFill>
              <a:srgbClr val="E1DA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960" y="4023360"/>
            <a:ext cx="4389120" cy="228600"/>
          </a:xfrm>
          <a:prstGeom prst="rect">
            <a:avLst/>
          </a:prstGeom>
          <a:noFill/>
        </p:spPr>
        <p:txBody>
          <a:bodyPr wrap="square" lIns="0" rIns="0" tIns="0" bIns="0" anchor="t">
            <a:spAutoFit/>
          </a:bodyPr>
          <a:lstStyle/>
          <a:p>
            <a:pPr algn="l">
              <a:lnSpc>
                <a:spcPct val="105000"/>
              </a:lnSpc>
            </a:pPr>
            <a:r>
              <a:rPr sz="1000" b="1" i="0">
                <a:solidFill>
                  <a:srgbClr val="5E6A70"/>
                </a:solidFill>
                <a:latin typeface="Avenir Next"/>
              </a:rPr>
              <a:t>A translator gives you…</a:t>
            </a:r>
          </a:p>
        </p:txBody>
      </p:sp>
      <p:sp>
        <p:nvSpPr>
          <p:cNvPr id="35" name="TextBox 34"/>
          <p:cNvSpPr txBox="1"/>
          <p:nvPr/>
        </p:nvSpPr>
        <p:spPr>
          <a:xfrm>
            <a:off x="822960" y="4315968"/>
            <a:ext cx="4480560" cy="320040"/>
          </a:xfrm>
          <a:prstGeom prst="rect">
            <a:avLst/>
          </a:prstGeom>
          <a:noFill/>
        </p:spPr>
        <p:txBody>
          <a:bodyPr wrap="square" lIns="0" rIns="0" tIns="0" bIns="0" anchor="t">
            <a:spAutoFit/>
          </a:bodyPr>
          <a:lstStyle/>
          <a:p>
            <a:pPr algn="l">
              <a:lnSpc>
                <a:spcPct val="105000"/>
              </a:lnSpc>
            </a:pPr>
            <a:r>
              <a:rPr sz="1600" b="1" i="0">
                <a:solidFill>
                  <a:srgbClr val="0C1F2A"/>
                </a:solidFill>
                <a:latin typeface="Avenir Next"/>
              </a:rPr>
              <a:t>a sentence, in isolation.</a:t>
            </a:r>
          </a:p>
        </p:txBody>
      </p:sp>
      <p:sp>
        <p:nvSpPr>
          <p:cNvPr id="36" name="TextBox 35"/>
          <p:cNvSpPr txBox="1"/>
          <p:nvPr/>
        </p:nvSpPr>
        <p:spPr>
          <a:xfrm>
            <a:off x="822960" y="4736592"/>
            <a:ext cx="4480560" cy="274320"/>
          </a:xfrm>
          <a:prstGeom prst="rect">
            <a:avLst/>
          </a:prstGeom>
          <a:noFill/>
        </p:spPr>
        <p:txBody>
          <a:bodyPr wrap="square" lIns="0" rIns="0" tIns="0" bIns="0" anchor="t">
            <a:spAutoFit/>
          </a:bodyPr>
          <a:lstStyle/>
          <a:p>
            <a:pPr algn="l">
              <a:lnSpc>
                <a:spcPct val="105000"/>
              </a:lnSpc>
            </a:pPr>
            <a:r>
              <a:rPr sz="900" b="0" i="0">
                <a:solidFill>
                  <a:srgbClr val="5E6A70"/>
                </a:solidFill>
                <a:latin typeface="Avenir Next"/>
              </a:rPr>
              <a:t>No seat. No urgency. No queue. No confirmation.</a:t>
            </a:r>
          </a:p>
        </p:txBody>
      </p:sp>
      <p:sp>
        <p:nvSpPr>
          <p:cNvPr id="37" name="Rounded Rectangle 36"/>
          <p:cNvSpPr/>
          <p:nvPr/>
        </p:nvSpPr>
        <p:spPr>
          <a:xfrm>
            <a:off x="5989320" y="3840480"/>
            <a:ext cx="5623560" cy="1508760"/>
          </a:xfrm>
          <a:prstGeom prst="roundRect">
            <a:avLst>
              <a:gd name="adj" fmla="val 8000"/>
            </a:avLst>
          </a:prstGeom>
          <a:solidFill>
            <a:srgbClr val="F9E9EB"/>
          </a:solidFill>
          <a:ln w="12700">
            <a:solidFill>
              <a:srgbClr val="E85A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217920" y="4023360"/>
            <a:ext cx="5029200" cy="228600"/>
          </a:xfrm>
          <a:prstGeom prst="rect">
            <a:avLst/>
          </a:prstGeom>
          <a:noFill/>
        </p:spPr>
        <p:txBody>
          <a:bodyPr wrap="square" lIns="0" rIns="0" tIns="0" bIns="0" anchor="t">
            <a:spAutoFit/>
          </a:bodyPr>
          <a:lstStyle/>
          <a:p>
            <a:pPr algn="l">
              <a:lnSpc>
                <a:spcPct val="105000"/>
              </a:lnSpc>
            </a:pPr>
            <a:r>
              <a:rPr sz="1000" b="1" i="0">
                <a:solidFill>
                  <a:srgbClr val="C8102E"/>
                </a:solidFill>
                <a:latin typeface="Avenir Next"/>
              </a:rPr>
              <a:t>A cabin needs…</a:t>
            </a:r>
          </a:p>
        </p:txBody>
      </p:sp>
      <p:sp>
        <p:nvSpPr>
          <p:cNvPr id="39" name="TextBox 38"/>
          <p:cNvSpPr txBox="1"/>
          <p:nvPr/>
        </p:nvSpPr>
        <p:spPr>
          <a:xfrm>
            <a:off x="6217920" y="4315968"/>
            <a:ext cx="4937760" cy="320040"/>
          </a:xfrm>
          <a:prstGeom prst="rect">
            <a:avLst/>
          </a:prstGeom>
          <a:noFill/>
        </p:spPr>
        <p:txBody>
          <a:bodyPr wrap="square" lIns="0" rIns="0" tIns="0" bIns="0" anchor="t">
            <a:spAutoFit/>
          </a:bodyPr>
          <a:lstStyle/>
          <a:p>
            <a:pPr algn="l">
              <a:lnSpc>
                <a:spcPct val="105000"/>
              </a:lnSpc>
            </a:pPr>
            <a:r>
              <a:rPr sz="1600" b="1" i="0">
                <a:solidFill>
                  <a:srgbClr val="0C1F2A"/>
                </a:solidFill>
                <a:latin typeface="Avenir Next"/>
              </a:rPr>
              <a:t>a closed loop.</a:t>
            </a:r>
          </a:p>
        </p:txBody>
      </p:sp>
      <p:sp>
        <p:nvSpPr>
          <p:cNvPr id="40" name="TextBox 39"/>
          <p:cNvSpPr txBox="1"/>
          <p:nvPr/>
        </p:nvSpPr>
        <p:spPr>
          <a:xfrm>
            <a:off x="6217920" y="4736592"/>
            <a:ext cx="5120640" cy="274320"/>
          </a:xfrm>
          <a:prstGeom prst="rect">
            <a:avLst/>
          </a:prstGeom>
          <a:noFill/>
        </p:spPr>
        <p:txBody>
          <a:bodyPr wrap="square" lIns="0" rIns="0" tIns="0" bIns="0" anchor="t">
            <a:spAutoFit/>
          </a:bodyPr>
          <a:lstStyle/>
          <a:p>
            <a:pPr algn="l">
              <a:lnSpc>
                <a:spcPct val="105000"/>
              </a:lnSpc>
            </a:pPr>
            <a:r>
              <a:rPr sz="900" b="0" i="0">
                <a:solidFill>
                  <a:srgbClr val="5E6A70"/>
                </a:solidFill>
                <a:latin typeface="Avenir Next"/>
              </a:rPr>
              <a:t>Who asked · how urgent · what we promised · did it land?</a:t>
            </a:r>
          </a:p>
        </p:txBody>
      </p:sp>
      <p:cxnSp>
        <p:nvCxnSpPr>
          <p:cNvPr id="41" name="Connector 40"/>
          <p:cNvCxnSpPr/>
          <p:nvPr/>
        </p:nvCxnSpPr>
        <p:spPr>
          <a:xfrm>
            <a:off x="594360" y="6492240"/>
            <a:ext cx="11000232" cy="0"/>
          </a:xfrm>
          <a:prstGeom prst="line">
            <a:avLst/>
          </a:prstGeom>
          <a:ln w="9525">
            <a:solidFill>
              <a:srgbClr val="E1DACF"/>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594360" y="6556248"/>
            <a:ext cx="6400800" cy="182880"/>
          </a:xfrm>
          <a:prstGeom prst="rect">
            <a:avLst/>
          </a:prstGeom>
          <a:noFill/>
        </p:spPr>
        <p:txBody>
          <a:bodyPr wrap="square" lIns="0" rIns="0" tIns="0" bIns="0" anchor="t">
            <a:spAutoFit/>
          </a:bodyPr>
          <a:lstStyle/>
          <a:p>
            <a:pPr algn="l">
              <a:lnSpc>
                <a:spcPct val="105000"/>
              </a:lnSpc>
            </a:pPr>
            <a:r>
              <a:rPr sz="750" b="1" i="0">
                <a:solidFill>
                  <a:srgbClr val="9AA3A6"/>
                </a:solidFill>
                <a:latin typeface="Avenir Next"/>
              </a:rPr>
              <a:t>CABINBRIDGE  ×  JAPAN AIRLINES</a:t>
            </a:r>
          </a:p>
        </p:txBody>
      </p:sp>
      <p:sp>
        <p:nvSpPr>
          <p:cNvPr id="43" name="TextBox 42"/>
          <p:cNvSpPr txBox="1"/>
          <p:nvPr/>
        </p:nvSpPr>
        <p:spPr>
          <a:xfrm>
            <a:off x="10972800" y="6556248"/>
            <a:ext cx="621792" cy="182880"/>
          </a:xfrm>
          <a:prstGeom prst="rect">
            <a:avLst/>
          </a:prstGeom>
          <a:noFill/>
        </p:spPr>
        <p:txBody>
          <a:bodyPr wrap="square" lIns="0" rIns="0" tIns="0" bIns="0" anchor="t">
            <a:spAutoFit/>
          </a:bodyPr>
          <a:lstStyle/>
          <a:p>
            <a:pPr algn="r">
              <a:lnSpc>
                <a:spcPct val="105000"/>
              </a:lnSpc>
            </a:pPr>
            <a:r>
              <a:rPr sz="750" b="0" i="0">
                <a:solidFill>
                  <a:srgbClr val="9AA3A6"/>
                </a:solidFill>
                <a:latin typeface="Avenir Next"/>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68580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47472"/>
            <a:ext cx="9601200" cy="228600"/>
          </a:xfrm>
          <a:prstGeom prst="rect">
            <a:avLst/>
          </a:prstGeom>
          <a:noFill/>
        </p:spPr>
        <p:txBody>
          <a:bodyPr wrap="square" lIns="0" rIns="0" tIns="0" bIns="0" anchor="t">
            <a:spAutoFit/>
          </a:bodyPr>
          <a:lstStyle/>
          <a:p>
            <a:pPr algn="l">
              <a:lnSpc>
                <a:spcPct val="105000"/>
              </a:lnSpc>
            </a:pPr>
            <a:r>
              <a:rPr sz="850" b="1" i="0">
                <a:solidFill>
                  <a:srgbClr val="C8102E"/>
                </a:solidFill>
                <a:latin typeface="Avenir Next"/>
              </a:rPr>
              <a:t>03  ·  THE SOLUTION</a:t>
            </a:r>
          </a:p>
        </p:txBody>
      </p:sp>
      <p:sp>
        <p:nvSpPr>
          <p:cNvPr id="5" name="TextBox 4"/>
          <p:cNvSpPr txBox="1"/>
          <p:nvPr/>
        </p:nvSpPr>
        <p:spPr>
          <a:xfrm>
            <a:off x="576072" y="621792"/>
            <a:ext cx="10972800" cy="1051560"/>
          </a:xfrm>
          <a:prstGeom prst="rect">
            <a:avLst/>
          </a:prstGeom>
          <a:noFill/>
        </p:spPr>
        <p:txBody>
          <a:bodyPr wrap="square" lIns="0" rIns="0" tIns="0" bIns="0" anchor="t">
            <a:spAutoFit/>
          </a:bodyPr>
          <a:lstStyle/>
          <a:p>
            <a:pPr algn="l">
              <a:lnSpc>
                <a:spcPct val="95000"/>
              </a:lnSpc>
            </a:pPr>
            <a:r>
              <a:rPr sz="2800" b="1" i="0">
                <a:solidFill>
                  <a:srgbClr val="0C1F2A"/>
                </a:solidFill>
                <a:latin typeface="Avenir Next"/>
              </a:rPr>
              <a:t>One tap to speak.
One queue to act.</a:t>
            </a:r>
          </a:p>
        </p:txBody>
      </p:sp>
      <p:sp>
        <p:nvSpPr>
          <p:cNvPr id="6" name="Rounded Rectangle 5"/>
          <p:cNvSpPr/>
          <p:nvPr/>
        </p:nvSpPr>
        <p:spPr>
          <a:xfrm>
            <a:off x="594360" y="1828800"/>
            <a:ext cx="3657600" cy="2697480"/>
          </a:xfrm>
          <a:prstGeom prst="roundRect">
            <a:avLst>
              <a:gd name="adj" fmla="val 8000"/>
            </a:avLst>
          </a:prstGeom>
          <a:solidFill>
            <a:srgbClr val="FFFFFF"/>
          </a:solidFill>
          <a:ln w="12700">
            <a:solidFill>
              <a:srgbClr val="E1DA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1828800"/>
            <a:ext cx="3657600" cy="109728"/>
          </a:xfrm>
          <a:prstGeom prst="rect">
            <a:avLst/>
          </a:prstGeom>
          <a:solidFill>
            <a:srgbClr val="B48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3816" y="2048256"/>
            <a:ext cx="457200" cy="182880"/>
          </a:xfrm>
          <a:prstGeom prst="rect">
            <a:avLst/>
          </a:prstGeom>
          <a:noFill/>
        </p:spPr>
        <p:txBody>
          <a:bodyPr wrap="square" lIns="0" rIns="0" tIns="0" bIns="0" anchor="t">
            <a:spAutoFit/>
          </a:bodyPr>
          <a:lstStyle/>
          <a:p>
            <a:pPr algn="l">
              <a:lnSpc>
                <a:spcPct val="105000"/>
              </a:lnSpc>
            </a:pPr>
            <a:r>
              <a:rPr sz="850" b="1" i="0">
                <a:solidFill>
                  <a:srgbClr val="C8102E"/>
                </a:solidFill>
                <a:latin typeface="Avenir Next"/>
              </a:rPr>
              <a:t>01</a:t>
            </a:r>
          </a:p>
        </p:txBody>
      </p:sp>
      <p:sp>
        <p:nvSpPr>
          <p:cNvPr id="9" name="TextBox 8"/>
          <p:cNvSpPr txBox="1"/>
          <p:nvPr/>
        </p:nvSpPr>
        <p:spPr>
          <a:xfrm>
            <a:off x="813816" y="2304288"/>
            <a:ext cx="3200400" cy="320040"/>
          </a:xfrm>
          <a:prstGeom prst="rect">
            <a:avLst/>
          </a:prstGeom>
          <a:noFill/>
        </p:spPr>
        <p:txBody>
          <a:bodyPr wrap="square" lIns="0" rIns="0" tIns="0" bIns="0" anchor="t">
            <a:spAutoFit/>
          </a:bodyPr>
          <a:lstStyle/>
          <a:p>
            <a:pPr algn="l">
              <a:lnSpc>
                <a:spcPct val="105000"/>
              </a:lnSpc>
            </a:pPr>
            <a:r>
              <a:rPr sz="2000" b="1" i="0">
                <a:solidFill>
                  <a:srgbClr val="0C1F2A"/>
                </a:solidFill>
                <a:latin typeface="Avenir Next"/>
              </a:rPr>
              <a:t>CAPTURE</a:t>
            </a:r>
          </a:p>
        </p:txBody>
      </p:sp>
      <p:sp>
        <p:nvSpPr>
          <p:cNvPr id="10" name="TextBox 9"/>
          <p:cNvSpPr txBox="1"/>
          <p:nvPr/>
        </p:nvSpPr>
        <p:spPr>
          <a:xfrm>
            <a:off x="813816" y="2743200"/>
            <a:ext cx="3154680" cy="685800"/>
          </a:xfrm>
          <a:prstGeom prst="rect">
            <a:avLst/>
          </a:prstGeom>
          <a:noFill/>
        </p:spPr>
        <p:txBody>
          <a:bodyPr wrap="square" lIns="0" rIns="0" tIns="0" bIns="0" anchor="t">
            <a:spAutoFit/>
          </a:bodyPr>
          <a:lstStyle/>
          <a:p>
            <a:pPr algn="l">
              <a:lnSpc>
                <a:spcPct val="115000"/>
              </a:lnSpc>
            </a:pPr>
            <a:r>
              <a:rPr sz="1050" b="0" i="0">
                <a:solidFill>
                  <a:srgbClr val="5E6A70"/>
                </a:solidFill>
                <a:latin typeface="Avenir Next"/>
              </a:rPr>
              <a:t>Voice, type, or one tap.
No language menu, no keyboard.</a:t>
            </a:r>
          </a:p>
        </p:txBody>
      </p:sp>
      <p:sp>
        <p:nvSpPr>
          <p:cNvPr id="11" name="Rounded Rectangle 10"/>
          <p:cNvSpPr/>
          <p:nvPr/>
        </p:nvSpPr>
        <p:spPr>
          <a:xfrm>
            <a:off x="813816" y="3886200"/>
            <a:ext cx="1005840" cy="256032"/>
          </a:xfrm>
          <a:prstGeom prst="roundRect">
            <a:avLst>
              <a:gd name="adj" fmla="val 50000"/>
            </a:avLst>
          </a:prstGeom>
          <a:solidFill>
            <a:srgbClr val="F9E9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750" b="1">
                <a:solidFill>
                  <a:srgbClr val="0C1F2A"/>
                </a:solidFill>
                <a:latin typeface="Avenir Next"/>
              </a:rPr>
              <a:t>MediaRecorder</a:t>
            </a:r>
          </a:p>
        </p:txBody>
      </p:sp>
      <p:sp>
        <p:nvSpPr>
          <p:cNvPr id="12" name="Rounded Rectangle 11"/>
          <p:cNvSpPr/>
          <p:nvPr/>
        </p:nvSpPr>
        <p:spPr>
          <a:xfrm>
            <a:off x="1892807" y="3886200"/>
            <a:ext cx="1005840" cy="256032"/>
          </a:xfrm>
          <a:prstGeom prst="roundRect">
            <a:avLst>
              <a:gd name="adj" fmla="val 50000"/>
            </a:avLst>
          </a:prstGeom>
          <a:solidFill>
            <a:srgbClr val="F9E9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750" b="1">
                <a:solidFill>
                  <a:srgbClr val="0C1F2A"/>
                </a:solidFill>
                <a:latin typeface="Avenir Next"/>
              </a:rPr>
              <a:t>6 needs</a:t>
            </a:r>
          </a:p>
        </p:txBody>
      </p:sp>
      <p:sp>
        <p:nvSpPr>
          <p:cNvPr id="13" name="Rounded Rectangle 12"/>
          <p:cNvSpPr/>
          <p:nvPr/>
        </p:nvSpPr>
        <p:spPr>
          <a:xfrm>
            <a:off x="2971800" y="3886200"/>
            <a:ext cx="1005840" cy="256032"/>
          </a:xfrm>
          <a:prstGeom prst="roundRect">
            <a:avLst>
              <a:gd name="adj" fmla="val 50000"/>
            </a:avLst>
          </a:prstGeom>
          <a:solidFill>
            <a:srgbClr val="F9E9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750" b="1">
                <a:solidFill>
                  <a:srgbClr val="0C1F2A"/>
                </a:solidFill>
                <a:latin typeface="Avenir Next"/>
              </a:rPr>
              <a:t>7 languages</a:t>
            </a:r>
          </a:p>
        </p:txBody>
      </p:sp>
      <p:sp>
        <p:nvSpPr>
          <p:cNvPr id="14" name="Right Arrow 13"/>
          <p:cNvSpPr/>
          <p:nvPr/>
        </p:nvSpPr>
        <p:spPr>
          <a:xfrm>
            <a:off x="4270248" y="3017520"/>
            <a:ext cx="164592" cy="182880"/>
          </a:xfrm>
          <a:prstGeom prst="rightArrow">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453128" y="1828800"/>
            <a:ext cx="3657600" cy="2697480"/>
          </a:xfrm>
          <a:prstGeom prst="roundRect">
            <a:avLst>
              <a:gd name="adj" fmla="val 8000"/>
            </a:avLst>
          </a:prstGeom>
          <a:solidFill>
            <a:srgbClr val="FFFFFF"/>
          </a:solidFill>
          <a:ln w="12700">
            <a:solidFill>
              <a:srgbClr val="E1DA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53128" y="1828800"/>
            <a:ext cx="3657600" cy="109728"/>
          </a:xfrm>
          <a:prstGeom prst="rect">
            <a:avLst/>
          </a:prstGeom>
          <a:solidFill>
            <a:srgbClr val="0F6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72584" y="2048256"/>
            <a:ext cx="457200" cy="182880"/>
          </a:xfrm>
          <a:prstGeom prst="rect">
            <a:avLst/>
          </a:prstGeom>
          <a:noFill/>
        </p:spPr>
        <p:txBody>
          <a:bodyPr wrap="square" lIns="0" rIns="0" tIns="0" bIns="0" anchor="t">
            <a:spAutoFit/>
          </a:bodyPr>
          <a:lstStyle/>
          <a:p>
            <a:pPr algn="l">
              <a:lnSpc>
                <a:spcPct val="105000"/>
              </a:lnSpc>
            </a:pPr>
            <a:r>
              <a:rPr sz="850" b="1" i="0">
                <a:solidFill>
                  <a:srgbClr val="C8102E"/>
                </a:solidFill>
                <a:latin typeface="Avenir Next"/>
              </a:rPr>
              <a:t>02</a:t>
            </a:r>
          </a:p>
        </p:txBody>
      </p:sp>
      <p:sp>
        <p:nvSpPr>
          <p:cNvPr id="18" name="TextBox 17"/>
          <p:cNvSpPr txBox="1"/>
          <p:nvPr/>
        </p:nvSpPr>
        <p:spPr>
          <a:xfrm>
            <a:off x="4672584" y="2304288"/>
            <a:ext cx="3200400" cy="320040"/>
          </a:xfrm>
          <a:prstGeom prst="rect">
            <a:avLst/>
          </a:prstGeom>
          <a:noFill/>
        </p:spPr>
        <p:txBody>
          <a:bodyPr wrap="square" lIns="0" rIns="0" tIns="0" bIns="0" anchor="t">
            <a:spAutoFit/>
          </a:bodyPr>
          <a:lstStyle/>
          <a:p>
            <a:pPr algn="l">
              <a:lnSpc>
                <a:spcPct val="105000"/>
              </a:lnSpc>
            </a:pPr>
            <a:r>
              <a:rPr sz="2000" b="1" i="0">
                <a:solidFill>
                  <a:srgbClr val="0C1F2A"/>
                </a:solidFill>
                <a:latin typeface="Avenir Next"/>
              </a:rPr>
              <a:t>UNDERSTAND</a:t>
            </a:r>
          </a:p>
        </p:txBody>
      </p:sp>
      <p:sp>
        <p:nvSpPr>
          <p:cNvPr id="19" name="TextBox 18"/>
          <p:cNvSpPr txBox="1"/>
          <p:nvPr/>
        </p:nvSpPr>
        <p:spPr>
          <a:xfrm>
            <a:off x="4672584" y="2743200"/>
            <a:ext cx="3154680" cy="685800"/>
          </a:xfrm>
          <a:prstGeom prst="rect">
            <a:avLst/>
          </a:prstGeom>
          <a:noFill/>
        </p:spPr>
        <p:txBody>
          <a:bodyPr wrap="square" lIns="0" rIns="0" tIns="0" bIns="0" anchor="t">
            <a:spAutoFit/>
          </a:bodyPr>
          <a:lstStyle/>
          <a:p>
            <a:pPr algn="l">
              <a:lnSpc>
                <a:spcPct val="115000"/>
              </a:lnSpc>
            </a:pPr>
            <a:r>
              <a:rPr sz="1050" b="0" i="0">
                <a:solidFill>
                  <a:srgbClr val="5E6A70"/>
                </a:solidFill>
                <a:latin typeface="Avenir Next"/>
              </a:rPr>
              <a:t>Phrasebook first.
Local AI only when needed.</a:t>
            </a:r>
          </a:p>
        </p:txBody>
      </p:sp>
      <p:sp>
        <p:nvSpPr>
          <p:cNvPr id="20" name="Rounded Rectangle 19"/>
          <p:cNvSpPr/>
          <p:nvPr/>
        </p:nvSpPr>
        <p:spPr>
          <a:xfrm>
            <a:off x="4672584" y="3886200"/>
            <a:ext cx="1005840" cy="256032"/>
          </a:xfrm>
          <a:prstGeom prst="roundRect">
            <a:avLst>
              <a:gd name="adj" fmla="val 50000"/>
            </a:avLst>
          </a:prstGeom>
          <a:solidFill>
            <a:srgbClr val="F5EE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750" b="1">
                <a:solidFill>
                  <a:srgbClr val="0C1F2A"/>
                </a:solidFill>
                <a:latin typeface="Avenir Next"/>
              </a:rPr>
              <a:t>Whisper</a:t>
            </a:r>
          </a:p>
        </p:txBody>
      </p:sp>
      <p:sp>
        <p:nvSpPr>
          <p:cNvPr id="21" name="Rounded Rectangle 20"/>
          <p:cNvSpPr/>
          <p:nvPr/>
        </p:nvSpPr>
        <p:spPr>
          <a:xfrm>
            <a:off x="5751576" y="3886200"/>
            <a:ext cx="1005840" cy="256032"/>
          </a:xfrm>
          <a:prstGeom prst="roundRect">
            <a:avLst>
              <a:gd name="adj" fmla="val 50000"/>
            </a:avLst>
          </a:prstGeom>
          <a:solidFill>
            <a:srgbClr val="F5EE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750" b="1">
                <a:solidFill>
                  <a:srgbClr val="0C1F2A"/>
                </a:solidFill>
                <a:latin typeface="Avenir Next"/>
              </a:rPr>
              <a:t>Argos</a:t>
            </a:r>
          </a:p>
        </p:txBody>
      </p:sp>
      <p:sp>
        <p:nvSpPr>
          <p:cNvPr id="22" name="Rounded Rectangle 21"/>
          <p:cNvSpPr/>
          <p:nvPr/>
        </p:nvSpPr>
        <p:spPr>
          <a:xfrm>
            <a:off x="6830568" y="3886200"/>
            <a:ext cx="1005840" cy="256032"/>
          </a:xfrm>
          <a:prstGeom prst="roundRect">
            <a:avLst>
              <a:gd name="adj" fmla="val 50000"/>
            </a:avLst>
          </a:prstGeom>
          <a:solidFill>
            <a:srgbClr val="F5EE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750" b="1">
                <a:solidFill>
                  <a:srgbClr val="0C1F2A"/>
                </a:solidFill>
                <a:latin typeface="Avenir Next"/>
              </a:rPr>
              <a:t>Qwen 7B</a:t>
            </a:r>
          </a:p>
        </p:txBody>
      </p:sp>
      <p:sp>
        <p:nvSpPr>
          <p:cNvPr id="23" name="Right Arrow 22"/>
          <p:cNvSpPr/>
          <p:nvPr/>
        </p:nvSpPr>
        <p:spPr>
          <a:xfrm>
            <a:off x="8129016" y="3017520"/>
            <a:ext cx="164592" cy="182880"/>
          </a:xfrm>
          <a:prstGeom prst="rightArrow">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311896" y="1828800"/>
            <a:ext cx="3657600" cy="2697480"/>
          </a:xfrm>
          <a:prstGeom prst="roundRect">
            <a:avLst>
              <a:gd name="adj" fmla="val 8000"/>
            </a:avLst>
          </a:prstGeom>
          <a:solidFill>
            <a:srgbClr val="FFFFFF"/>
          </a:solidFill>
          <a:ln w="12700">
            <a:solidFill>
              <a:srgbClr val="E1DA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11896" y="1828800"/>
            <a:ext cx="3657600" cy="1097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31352" y="2048256"/>
            <a:ext cx="457200" cy="182880"/>
          </a:xfrm>
          <a:prstGeom prst="rect">
            <a:avLst/>
          </a:prstGeom>
          <a:noFill/>
        </p:spPr>
        <p:txBody>
          <a:bodyPr wrap="square" lIns="0" rIns="0" tIns="0" bIns="0" anchor="t">
            <a:spAutoFit/>
          </a:bodyPr>
          <a:lstStyle/>
          <a:p>
            <a:pPr algn="l">
              <a:lnSpc>
                <a:spcPct val="105000"/>
              </a:lnSpc>
            </a:pPr>
            <a:r>
              <a:rPr sz="850" b="1" i="0">
                <a:solidFill>
                  <a:srgbClr val="C8102E"/>
                </a:solidFill>
                <a:latin typeface="Avenir Next"/>
              </a:rPr>
              <a:t>03</a:t>
            </a:r>
          </a:p>
        </p:txBody>
      </p:sp>
      <p:sp>
        <p:nvSpPr>
          <p:cNvPr id="27" name="TextBox 26"/>
          <p:cNvSpPr txBox="1"/>
          <p:nvPr/>
        </p:nvSpPr>
        <p:spPr>
          <a:xfrm>
            <a:off x="8531352" y="2304288"/>
            <a:ext cx="3200400" cy="320040"/>
          </a:xfrm>
          <a:prstGeom prst="rect">
            <a:avLst/>
          </a:prstGeom>
          <a:noFill/>
        </p:spPr>
        <p:txBody>
          <a:bodyPr wrap="square" lIns="0" rIns="0" tIns="0" bIns="0" anchor="t">
            <a:spAutoFit/>
          </a:bodyPr>
          <a:lstStyle/>
          <a:p>
            <a:pPr algn="l">
              <a:lnSpc>
                <a:spcPct val="105000"/>
              </a:lnSpc>
            </a:pPr>
            <a:r>
              <a:rPr sz="2000" b="1" i="0">
                <a:solidFill>
                  <a:srgbClr val="0C1F2A"/>
                </a:solidFill>
                <a:latin typeface="Avenir Next"/>
              </a:rPr>
              <a:t>ACT</a:t>
            </a:r>
          </a:p>
        </p:txBody>
      </p:sp>
      <p:sp>
        <p:nvSpPr>
          <p:cNvPr id="28" name="TextBox 27"/>
          <p:cNvSpPr txBox="1"/>
          <p:nvPr/>
        </p:nvSpPr>
        <p:spPr>
          <a:xfrm>
            <a:off x="8531352" y="2743200"/>
            <a:ext cx="3154680" cy="685800"/>
          </a:xfrm>
          <a:prstGeom prst="rect">
            <a:avLst/>
          </a:prstGeom>
          <a:noFill/>
        </p:spPr>
        <p:txBody>
          <a:bodyPr wrap="square" lIns="0" rIns="0" tIns="0" bIns="0" anchor="t">
            <a:spAutoFit/>
          </a:bodyPr>
          <a:lstStyle/>
          <a:p>
            <a:pPr algn="l">
              <a:lnSpc>
                <a:spcPct val="115000"/>
              </a:lnSpc>
            </a:pPr>
            <a:r>
              <a:rPr sz="1050" b="0" i="0">
                <a:solidFill>
                  <a:srgbClr val="5E6A70"/>
                </a:solidFill>
                <a:latin typeface="Avenir Next"/>
              </a:rPr>
              <a:t>Seat, urgency, summary.
Reply in one tap.</a:t>
            </a:r>
          </a:p>
        </p:txBody>
      </p:sp>
      <p:sp>
        <p:nvSpPr>
          <p:cNvPr id="29" name="Rounded Rectangle 28"/>
          <p:cNvSpPr/>
          <p:nvPr/>
        </p:nvSpPr>
        <p:spPr>
          <a:xfrm>
            <a:off x="8531352" y="3886200"/>
            <a:ext cx="1005840" cy="256032"/>
          </a:xfrm>
          <a:prstGeom prst="roundRect">
            <a:avLst>
              <a:gd name="adj" fmla="val 50000"/>
            </a:avLst>
          </a:prstGeom>
          <a:solidFill>
            <a:srgbClr val="E8F1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750" b="1">
                <a:solidFill>
                  <a:srgbClr val="0C1F2A"/>
                </a:solidFill>
                <a:latin typeface="Avenir Next"/>
              </a:rPr>
              <a:t>Jev / local</a:t>
            </a:r>
          </a:p>
        </p:txBody>
      </p:sp>
      <p:sp>
        <p:nvSpPr>
          <p:cNvPr id="30" name="Rounded Rectangle 29"/>
          <p:cNvSpPr/>
          <p:nvPr/>
        </p:nvSpPr>
        <p:spPr>
          <a:xfrm>
            <a:off x="9610344" y="3886200"/>
            <a:ext cx="1005840" cy="256032"/>
          </a:xfrm>
          <a:prstGeom prst="roundRect">
            <a:avLst>
              <a:gd name="adj" fmla="val 50000"/>
            </a:avLst>
          </a:prstGeom>
          <a:solidFill>
            <a:srgbClr val="E8F1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750" b="1">
                <a:solidFill>
                  <a:srgbClr val="0C1F2A"/>
                </a:solidFill>
                <a:latin typeface="Avenir Next"/>
              </a:rPr>
              <a:t>WebSocket</a:t>
            </a:r>
          </a:p>
        </p:txBody>
      </p:sp>
      <p:sp>
        <p:nvSpPr>
          <p:cNvPr id="31" name="Rounded Rectangle 30"/>
          <p:cNvSpPr/>
          <p:nvPr/>
        </p:nvSpPr>
        <p:spPr>
          <a:xfrm>
            <a:off x="10689336" y="3886200"/>
            <a:ext cx="1005840" cy="256032"/>
          </a:xfrm>
          <a:prstGeom prst="roundRect">
            <a:avLst>
              <a:gd name="adj" fmla="val 50000"/>
            </a:avLst>
          </a:prstGeom>
          <a:solidFill>
            <a:srgbClr val="E8F1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750" b="1">
                <a:solidFill>
                  <a:srgbClr val="0C1F2A"/>
                </a:solidFill>
                <a:latin typeface="Avenir Next"/>
              </a:rPr>
              <a:t>Queue</a:t>
            </a:r>
          </a:p>
        </p:txBody>
      </p:sp>
      <p:sp>
        <p:nvSpPr>
          <p:cNvPr id="32" name="Rounded Rectangle 31"/>
          <p:cNvSpPr/>
          <p:nvPr/>
        </p:nvSpPr>
        <p:spPr>
          <a:xfrm>
            <a:off x="594360" y="4828032"/>
            <a:ext cx="11018520" cy="749808"/>
          </a:xfrm>
          <a:prstGeom prst="roundRect">
            <a:avLst>
              <a:gd name="adj" fmla="val 10000"/>
            </a:avLst>
          </a:prstGeom>
          <a:solidFill>
            <a:srgbClr val="0C1F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60" y="5029200"/>
            <a:ext cx="9601200" cy="274320"/>
          </a:xfrm>
          <a:prstGeom prst="rect">
            <a:avLst/>
          </a:prstGeom>
          <a:noFill/>
        </p:spPr>
        <p:txBody>
          <a:bodyPr wrap="square" lIns="0" rIns="0" tIns="0" bIns="0" anchor="t">
            <a:spAutoFit/>
          </a:bodyPr>
          <a:lstStyle/>
          <a:p>
            <a:pPr algn="l">
              <a:lnSpc>
                <a:spcPct val="105000"/>
              </a:lnSpc>
            </a:pPr>
            <a:r>
              <a:rPr sz="850" b="1" i="0">
                <a:solidFill>
                  <a:srgbClr val="E85A63"/>
                </a:solidFill>
                <a:latin typeface="Avenir Next"/>
              </a:rPr>
              <a:t>ONE SESSION</a:t>
            </a:r>
            <a:r>
              <a:rPr sz="1200" b="1" i="0">
                <a:solidFill>
                  <a:srgbClr val="FFFFFF"/>
                </a:solidFill>
                <a:latin typeface="Avenir Next"/>
              </a:rPr>
              <a:t>   passenger  ↔  crew  ·  local  ·  auditable</a:t>
            </a:r>
          </a:p>
        </p:txBody>
      </p:sp>
      <p:cxnSp>
        <p:nvCxnSpPr>
          <p:cNvPr id="34" name="Connector 33"/>
          <p:cNvCxnSpPr/>
          <p:nvPr/>
        </p:nvCxnSpPr>
        <p:spPr>
          <a:xfrm>
            <a:off x="594360" y="6492240"/>
            <a:ext cx="11000232" cy="0"/>
          </a:xfrm>
          <a:prstGeom prst="line">
            <a:avLst/>
          </a:prstGeom>
          <a:ln w="9525">
            <a:solidFill>
              <a:srgbClr val="E1DACF"/>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94360" y="6556248"/>
            <a:ext cx="6400800" cy="182880"/>
          </a:xfrm>
          <a:prstGeom prst="rect">
            <a:avLst/>
          </a:prstGeom>
          <a:noFill/>
        </p:spPr>
        <p:txBody>
          <a:bodyPr wrap="square" lIns="0" rIns="0" tIns="0" bIns="0" anchor="t">
            <a:spAutoFit/>
          </a:bodyPr>
          <a:lstStyle/>
          <a:p>
            <a:pPr algn="l">
              <a:lnSpc>
                <a:spcPct val="105000"/>
              </a:lnSpc>
            </a:pPr>
            <a:r>
              <a:rPr sz="750" b="1" i="0">
                <a:solidFill>
                  <a:srgbClr val="9AA3A6"/>
                </a:solidFill>
                <a:latin typeface="Avenir Next"/>
              </a:rPr>
              <a:t>CABINBRIDGE  ×  JAPAN AIRLINES</a:t>
            </a:r>
          </a:p>
        </p:txBody>
      </p:sp>
      <p:sp>
        <p:nvSpPr>
          <p:cNvPr id="36" name="TextBox 35"/>
          <p:cNvSpPr txBox="1"/>
          <p:nvPr/>
        </p:nvSpPr>
        <p:spPr>
          <a:xfrm>
            <a:off x="10972800" y="6556248"/>
            <a:ext cx="621792" cy="182880"/>
          </a:xfrm>
          <a:prstGeom prst="rect">
            <a:avLst/>
          </a:prstGeom>
          <a:noFill/>
        </p:spPr>
        <p:txBody>
          <a:bodyPr wrap="square" lIns="0" rIns="0" tIns="0" bIns="0" anchor="t">
            <a:spAutoFit/>
          </a:bodyPr>
          <a:lstStyle/>
          <a:p>
            <a:pPr algn="r">
              <a:lnSpc>
                <a:spcPct val="105000"/>
              </a:lnSpc>
            </a:pPr>
            <a:r>
              <a:rPr sz="750" b="0" i="0">
                <a:solidFill>
                  <a:srgbClr val="9AA3A6"/>
                </a:solidFill>
                <a:latin typeface="Avenir Next"/>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68580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47472"/>
            <a:ext cx="9601200" cy="228600"/>
          </a:xfrm>
          <a:prstGeom prst="rect">
            <a:avLst/>
          </a:prstGeom>
          <a:noFill/>
        </p:spPr>
        <p:txBody>
          <a:bodyPr wrap="square" lIns="0" rIns="0" tIns="0" bIns="0" anchor="t">
            <a:spAutoFit/>
          </a:bodyPr>
          <a:lstStyle/>
          <a:p>
            <a:pPr algn="l">
              <a:lnSpc>
                <a:spcPct val="105000"/>
              </a:lnSpc>
            </a:pPr>
            <a:r>
              <a:rPr sz="850" b="1" i="0">
                <a:solidFill>
                  <a:srgbClr val="C8102E"/>
                </a:solidFill>
                <a:latin typeface="Avenir Next"/>
              </a:rPr>
              <a:t>04  ·  THE PRODUCT</a:t>
            </a:r>
          </a:p>
        </p:txBody>
      </p:sp>
      <p:sp>
        <p:nvSpPr>
          <p:cNvPr id="5" name="TextBox 4"/>
          <p:cNvSpPr txBox="1"/>
          <p:nvPr/>
        </p:nvSpPr>
        <p:spPr>
          <a:xfrm>
            <a:off x="576072" y="621792"/>
            <a:ext cx="10972800" cy="1051560"/>
          </a:xfrm>
          <a:prstGeom prst="rect">
            <a:avLst/>
          </a:prstGeom>
          <a:noFill/>
        </p:spPr>
        <p:txBody>
          <a:bodyPr wrap="square" lIns="0" rIns="0" tIns="0" bIns="0" anchor="t">
            <a:spAutoFit/>
          </a:bodyPr>
          <a:lstStyle/>
          <a:p>
            <a:pPr algn="l">
              <a:lnSpc>
                <a:spcPct val="95000"/>
              </a:lnSpc>
            </a:pPr>
            <a:r>
              <a:rPr sz="3000" b="1" i="0">
                <a:solidFill>
                  <a:srgbClr val="0C1F2A"/>
                </a:solidFill>
                <a:latin typeface="Avenir Next"/>
              </a:rPr>
              <a:t>Two devices. One conversation.</a:t>
            </a:r>
          </a:p>
        </p:txBody>
      </p:sp>
      <p:sp>
        <p:nvSpPr>
          <p:cNvPr id="6" name="TextBox 5"/>
          <p:cNvSpPr txBox="1"/>
          <p:nvPr/>
        </p:nvSpPr>
        <p:spPr>
          <a:xfrm>
            <a:off x="594360" y="1353312"/>
            <a:ext cx="10789920" cy="502920"/>
          </a:xfrm>
          <a:prstGeom prst="rect">
            <a:avLst/>
          </a:prstGeom>
          <a:noFill/>
        </p:spPr>
        <p:txBody>
          <a:bodyPr wrap="square" lIns="0" rIns="0" tIns="0" bIns="0" anchor="t">
            <a:spAutoFit/>
          </a:bodyPr>
          <a:lstStyle/>
          <a:p>
            <a:pPr algn="l">
              <a:lnSpc>
                <a:spcPct val="110000"/>
              </a:lnSpc>
            </a:pPr>
            <a:r>
              <a:rPr sz="1200" b="0" i="0">
                <a:solidFill>
                  <a:srgbClr val="5E6A70"/>
                </a:solidFill>
                <a:latin typeface="Avenir Next"/>
              </a:rPr>
              <a:t>The actual demo build — passenger phone on the left, crew tablet on the right.</a:t>
            </a:r>
          </a:p>
        </p:txBody>
      </p:sp>
      <p:sp>
        <p:nvSpPr>
          <p:cNvPr id="7" name="TextBox 6"/>
          <p:cNvSpPr txBox="1"/>
          <p:nvPr/>
        </p:nvSpPr>
        <p:spPr>
          <a:xfrm>
            <a:off x="658368" y="1645920"/>
            <a:ext cx="2011680" cy="182880"/>
          </a:xfrm>
          <a:prstGeom prst="rect">
            <a:avLst/>
          </a:prstGeom>
          <a:noFill/>
        </p:spPr>
        <p:txBody>
          <a:bodyPr wrap="square" lIns="0" rIns="0" tIns="0" bIns="0" anchor="t">
            <a:spAutoFit/>
          </a:bodyPr>
          <a:lstStyle/>
          <a:p>
            <a:pPr algn="l">
              <a:lnSpc>
                <a:spcPct val="105000"/>
              </a:lnSpc>
            </a:pPr>
            <a:r>
              <a:rPr sz="750" b="1" i="0">
                <a:solidFill>
                  <a:srgbClr val="5E6A70"/>
                </a:solidFill>
                <a:latin typeface="Avenir Next"/>
              </a:rPr>
              <a:t>PASSENGER  ·  PHONE</a:t>
            </a:r>
          </a:p>
        </p:txBody>
      </p:sp>
      <p:sp>
        <p:nvSpPr>
          <p:cNvPr id="8" name="TextBox 7"/>
          <p:cNvSpPr txBox="1"/>
          <p:nvPr/>
        </p:nvSpPr>
        <p:spPr>
          <a:xfrm>
            <a:off x="3310128" y="1645920"/>
            <a:ext cx="2011680" cy="182880"/>
          </a:xfrm>
          <a:prstGeom prst="rect">
            <a:avLst/>
          </a:prstGeom>
          <a:noFill/>
        </p:spPr>
        <p:txBody>
          <a:bodyPr wrap="square" lIns="0" rIns="0" tIns="0" bIns="0" anchor="t">
            <a:spAutoFit/>
          </a:bodyPr>
          <a:lstStyle/>
          <a:p>
            <a:pPr algn="l">
              <a:lnSpc>
                <a:spcPct val="105000"/>
              </a:lnSpc>
            </a:pPr>
            <a:r>
              <a:rPr sz="750" b="1" i="0">
                <a:solidFill>
                  <a:srgbClr val="5E6A70"/>
                </a:solidFill>
                <a:latin typeface="Avenir Next"/>
              </a:rPr>
              <a:t>CREW  ·  TABLET</a:t>
            </a:r>
          </a:p>
        </p:txBody>
      </p:sp>
      <p:sp>
        <p:nvSpPr>
          <p:cNvPr id="9" name="Rounded Rectangle 8"/>
          <p:cNvSpPr/>
          <p:nvPr/>
        </p:nvSpPr>
        <p:spPr>
          <a:xfrm>
            <a:off x="594360" y="1874519"/>
            <a:ext cx="1874519" cy="4041648"/>
          </a:xfrm>
          <a:prstGeom prst="roundRect">
            <a:avLst>
              <a:gd name="adj" fmla="val 13000"/>
            </a:avLst>
          </a:prstGeom>
          <a:solidFill>
            <a:srgbClr val="0C1F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passenger_mobile.png"/>
          <p:cNvPicPr>
            <a:picLocks noChangeAspect="1"/>
          </p:cNvPicPr>
          <p:nvPr/>
        </p:nvPicPr>
        <p:blipFill>
          <a:blip r:embed="rId2"/>
          <a:stretch>
            <a:fillRect/>
          </a:stretch>
        </p:blipFill>
        <p:spPr>
          <a:xfrm>
            <a:off x="658368" y="1965960"/>
            <a:ext cx="1746503" cy="3858768"/>
          </a:xfrm>
          <a:prstGeom prst="rect">
            <a:avLst/>
          </a:prstGeom>
          <a:ln w="9525">
            <a:solidFill>
              <a:srgbClr val="E1DACF"/>
            </a:solidFill>
          </a:ln>
        </p:spPr>
      </p:pic>
      <p:sp>
        <p:nvSpPr>
          <p:cNvPr id="11" name="Rounded Rectangle 10"/>
          <p:cNvSpPr/>
          <p:nvPr/>
        </p:nvSpPr>
        <p:spPr>
          <a:xfrm>
            <a:off x="1269187" y="1906524"/>
            <a:ext cx="524865" cy="41148"/>
          </a:xfrm>
          <a:prstGeom prst="roundRect">
            <a:avLst>
              <a:gd name="adj" fmla="val 3000"/>
            </a:avLst>
          </a:prstGeom>
          <a:solidFill>
            <a:srgbClr val="3A4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246120" y="1874519"/>
            <a:ext cx="5760720" cy="3840480"/>
          </a:xfrm>
          <a:prstGeom prst="roundRect">
            <a:avLst>
              <a:gd name="adj" fmla="val 9000"/>
            </a:avLst>
          </a:prstGeom>
          <a:solidFill>
            <a:srgbClr val="0C1F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rew.png"/>
          <p:cNvPicPr>
            <a:picLocks noChangeAspect="1"/>
          </p:cNvPicPr>
          <p:nvPr/>
        </p:nvPicPr>
        <p:blipFill>
          <a:blip r:embed="rId3"/>
          <a:stretch>
            <a:fillRect/>
          </a:stretch>
        </p:blipFill>
        <p:spPr>
          <a:xfrm>
            <a:off x="3319272" y="1965960"/>
            <a:ext cx="5614416" cy="3657600"/>
          </a:xfrm>
          <a:prstGeom prst="rect">
            <a:avLst/>
          </a:prstGeom>
          <a:ln w="9525">
            <a:solidFill>
              <a:srgbClr val="E1DACF"/>
            </a:solidFill>
          </a:ln>
        </p:spPr>
      </p:pic>
      <p:sp>
        <p:nvSpPr>
          <p:cNvPr id="14" name="Oval 13"/>
          <p:cNvSpPr/>
          <p:nvPr/>
        </p:nvSpPr>
        <p:spPr>
          <a:xfrm>
            <a:off x="9400032" y="2130552"/>
            <a:ext cx="109728" cy="109728"/>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9052560" y="2185416"/>
            <a:ext cx="347472" cy="0"/>
          </a:xfrm>
          <a:prstGeom prst="line">
            <a:avLst/>
          </a:prstGeom>
          <a:ln w="12700">
            <a:solidFill>
              <a:srgbClr val="E85A6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601200" y="2057400"/>
            <a:ext cx="2240280" cy="411480"/>
          </a:xfrm>
          <a:prstGeom prst="rect">
            <a:avLst/>
          </a:prstGeom>
          <a:noFill/>
        </p:spPr>
        <p:txBody>
          <a:bodyPr wrap="square" lIns="0" rIns="0" tIns="0" bIns="0" anchor="t">
            <a:spAutoFit/>
          </a:bodyPr>
          <a:lstStyle/>
          <a:p>
            <a:pPr algn="l">
              <a:lnSpc>
                <a:spcPct val="105000"/>
              </a:lnSpc>
            </a:pPr>
            <a:r>
              <a:rPr sz="1150" b="1" i="0">
                <a:solidFill>
                  <a:srgbClr val="0C1F2A"/>
                </a:solidFill>
                <a:latin typeface="Avenir Next"/>
              </a:rPr>
              <a:t>One tap. No keyboard.</a:t>
            </a:r>
          </a:p>
        </p:txBody>
      </p:sp>
      <p:sp>
        <p:nvSpPr>
          <p:cNvPr id="17" name="TextBox 16"/>
          <p:cNvSpPr txBox="1"/>
          <p:nvPr/>
        </p:nvSpPr>
        <p:spPr>
          <a:xfrm>
            <a:off x="9601200" y="2404872"/>
            <a:ext cx="2240280" cy="640080"/>
          </a:xfrm>
          <a:prstGeom prst="rect">
            <a:avLst/>
          </a:prstGeom>
          <a:noFill/>
        </p:spPr>
        <p:txBody>
          <a:bodyPr wrap="square" lIns="0" rIns="0" tIns="0" bIns="0" anchor="t">
            <a:spAutoFit/>
          </a:bodyPr>
          <a:lstStyle/>
          <a:p>
            <a:pPr algn="l">
              <a:lnSpc>
                <a:spcPct val="110000"/>
              </a:lnSpc>
            </a:pPr>
            <a:r>
              <a:rPr sz="850" b="0" i="0">
                <a:solidFill>
                  <a:srgbClr val="5E6A70"/>
                </a:solidFill>
                <a:latin typeface="Avenir Next"/>
              </a:rPr>
              <a:t>Six needs, voice, and type — in the passenger’s language.</a:t>
            </a:r>
          </a:p>
        </p:txBody>
      </p:sp>
      <p:sp>
        <p:nvSpPr>
          <p:cNvPr id="18" name="Oval 17"/>
          <p:cNvSpPr/>
          <p:nvPr/>
        </p:nvSpPr>
        <p:spPr>
          <a:xfrm>
            <a:off x="9400032" y="3410712"/>
            <a:ext cx="109728" cy="109728"/>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a:off x="9052560" y="3465576"/>
            <a:ext cx="347472" cy="0"/>
          </a:xfrm>
          <a:prstGeom prst="line">
            <a:avLst/>
          </a:prstGeom>
          <a:ln w="12700">
            <a:solidFill>
              <a:srgbClr val="E85A63"/>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9601200" y="3337560"/>
            <a:ext cx="2240280" cy="411480"/>
          </a:xfrm>
          <a:prstGeom prst="rect">
            <a:avLst/>
          </a:prstGeom>
          <a:noFill/>
        </p:spPr>
        <p:txBody>
          <a:bodyPr wrap="square" lIns="0" rIns="0" tIns="0" bIns="0" anchor="t">
            <a:spAutoFit/>
          </a:bodyPr>
          <a:lstStyle/>
          <a:p>
            <a:pPr algn="l">
              <a:lnSpc>
                <a:spcPct val="105000"/>
              </a:lnSpc>
            </a:pPr>
            <a:r>
              <a:rPr sz="1150" b="1" i="0">
                <a:solidFill>
                  <a:srgbClr val="0C1F2A"/>
                </a:solidFill>
                <a:latin typeface="Avenir Next"/>
              </a:rPr>
              <a:t>Short summary, not a paragraph.</a:t>
            </a:r>
          </a:p>
        </p:txBody>
      </p:sp>
      <p:sp>
        <p:nvSpPr>
          <p:cNvPr id="21" name="TextBox 20"/>
          <p:cNvSpPr txBox="1"/>
          <p:nvPr/>
        </p:nvSpPr>
        <p:spPr>
          <a:xfrm>
            <a:off x="9601200" y="3685032"/>
            <a:ext cx="2240280" cy="640080"/>
          </a:xfrm>
          <a:prstGeom prst="rect">
            <a:avLst/>
          </a:prstGeom>
          <a:noFill/>
        </p:spPr>
        <p:txBody>
          <a:bodyPr wrap="square" lIns="0" rIns="0" tIns="0" bIns="0" anchor="t">
            <a:spAutoFit/>
          </a:bodyPr>
          <a:lstStyle/>
          <a:p>
            <a:pPr algn="l">
              <a:lnSpc>
                <a:spcPct val="110000"/>
              </a:lnSpc>
            </a:pPr>
            <a:r>
              <a:rPr sz="850" b="0" i="0">
                <a:solidFill>
                  <a:srgbClr val="5E6A70"/>
                </a:solidFill>
                <a:latin typeface="Avenir Next"/>
              </a:rPr>
              <a:t>“Passenger wants water.” Next action, keywords, urgency.</a:t>
            </a:r>
          </a:p>
        </p:txBody>
      </p:sp>
      <p:sp>
        <p:nvSpPr>
          <p:cNvPr id="22" name="Oval 21"/>
          <p:cNvSpPr/>
          <p:nvPr/>
        </p:nvSpPr>
        <p:spPr>
          <a:xfrm>
            <a:off x="9400032" y="4690872"/>
            <a:ext cx="109728" cy="109728"/>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9052560" y="4745736"/>
            <a:ext cx="347472" cy="0"/>
          </a:xfrm>
          <a:prstGeom prst="line">
            <a:avLst/>
          </a:prstGeom>
          <a:ln w="12700">
            <a:solidFill>
              <a:srgbClr val="E85A63"/>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9601200" y="4617720"/>
            <a:ext cx="2240280" cy="411480"/>
          </a:xfrm>
          <a:prstGeom prst="rect">
            <a:avLst/>
          </a:prstGeom>
          <a:noFill/>
        </p:spPr>
        <p:txBody>
          <a:bodyPr wrap="square" lIns="0" rIns="0" tIns="0" bIns="0" anchor="t">
            <a:spAutoFit/>
          </a:bodyPr>
          <a:lstStyle/>
          <a:p>
            <a:pPr algn="l">
              <a:lnSpc>
                <a:spcPct val="105000"/>
              </a:lnSpc>
            </a:pPr>
            <a:r>
              <a:rPr sz="1150" b="1" i="0">
                <a:solidFill>
                  <a:srgbClr val="0C1F2A"/>
                </a:solidFill>
                <a:latin typeface="Avenir Next"/>
              </a:rPr>
              <a:t>Reply, resolve, keep the queue clean.</a:t>
            </a:r>
          </a:p>
        </p:txBody>
      </p:sp>
      <p:sp>
        <p:nvSpPr>
          <p:cNvPr id="25" name="TextBox 24"/>
          <p:cNvSpPr txBox="1"/>
          <p:nvPr/>
        </p:nvSpPr>
        <p:spPr>
          <a:xfrm>
            <a:off x="9601200" y="4965192"/>
            <a:ext cx="2240280" cy="640080"/>
          </a:xfrm>
          <a:prstGeom prst="rect">
            <a:avLst/>
          </a:prstGeom>
          <a:noFill/>
        </p:spPr>
        <p:txBody>
          <a:bodyPr wrap="square" lIns="0" rIns="0" tIns="0" bIns="0" anchor="t">
            <a:spAutoFit/>
          </a:bodyPr>
          <a:lstStyle/>
          <a:p>
            <a:pPr algn="l">
              <a:lnSpc>
                <a:spcPct val="110000"/>
              </a:lnSpc>
            </a:pPr>
            <a:r>
              <a:rPr sz="850" b="0" i="0">
                <a:solidFill>
                  <a:srgbClr val="5E6A70"/>
                </a:solidFill>
                <a:latin typeface="Avenir Next"/>
              </a:rPr>
              <a:t>One action row; the request moves to Resolved.</a:t>
            </a:r>
          </a:p>
        </p:txBody>
      </p:sp>
      <p:sp>
        <p:nvSpPr>
          <p:cNvPr id="26" name="TextBox 25"/>
          <p:cNvSpPr txBox="1"/>
          <p:nvPr/>
        </p:nvSpPr>
        <p:spPr>
          <a:xfrm>
            <a:off x="594360" y="5989320"/>
            <a:ext cx="10972800" cy="274320"/>
          </a:xfrm>
          <a:prstGeom prst="rect">
            <a:avLst/>
          </a:prstGeom>
          <a:noFill/>
        </p:spPr>
        <p:txBody>
          <a:bodyPr wrap="square" lIns="0" rIns="0" tIns="0" bIns="0" anchor="t">
            <a:spAutoFit/>
          </a:bodyPr>
          <a:lstStyle/>
          <a:p>
            <a:pPr algn="l">
              <a:lnSpc>
                <a:spcPct val="105000"/>
              </a:lnSpc>
            </a:pPr>
            <a:r>
              <a:rPr sz="900" b="0" i="0">
                <a:solidFill>
                  <a:srgbClr val="5E6A70"/>
                </a:solidFill>
                <a:latin typeface="Avenir Next"/>
              </a:rPr>
              <a:t>The judge can hold the phone. The crew tablet is the other half of the same session.</a:t>
            </a:r>
          </a:p>
        </p:txBody>
      </p:sp>
      <p:cxnSp>
        <p:nvCxnSpPr>
          <p:cNvPr id="27" name="Connector 26"/>
          <p:cNvCxnSpPr/>
          <p:nvPr/>
        </p:nvCxnSpPr>
        <p:spPr>
          <a:xfrm>
            <a:off x="594360" y="6492240"/>
            <a:ext cx="11000232" cy="0"/>
          </a:xfrm>
          <a:prstGeom prst="line">
            <a:avLst/>
          </a:prstGeom>
          <a:ln w="9525">
            <a:solidFill>
              <a:srgbClr val="E1DACF"/>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94360" y="6556248"/>
            <a:ext cx="6400800" cy="182880"/>
          </a:xfrm>
          <a:prstGeom prst="rect">
            <a:avLst/>
          </a:prstGeom>
          <a:noFill/>
        </p:spPr>
        <p:txBody>
          <a:bodyPr wrap="square" lIns="0" rIns="0" tIns="0" bIns="0" anchor="t">
            <a:spAutoFit/>
          </a:bodyPr>
          <a:lstStyle/>
          <a:p>
            <a:pPr algn="l">
              <a:lnSpc>
                <a:spcPct val="105000"/>
              </a:lnSpc>
            </a:pPr>
            <a:r>
              <a:rPr sz="750" b="1" i="0">
                <a:solidFill>
                  <a:srgbClr val="9AA3A6"/>
                </a:solidFill>
                <a:latin typeface="Avenir Next"/>
              </a:rPr>
              <a:t>CABINBRIDGE  ×  JAPAN AIRLINES</a:t>
            </a:r>
          </a:p>
        </p:txBody>
      </p:sp>
      <p:sp>
        <p:nvSpPr>
          <p:cNvPr id="29" name="TextBox 28"/>
          <p:cNvSpPr txBox="1"/>
          <p:nvPr/>
        </p:nvSpPr>
        <p:spPr>
          <a:xfrm>
            <a:off x="10972800" y="6556248"/>
            <a:ext cx="621792" cy="182880"/>
          </a:xfrm>
          <a:prstGeom prst="rect">
            <a:avLst/>
          </a:prstGeom>
          <a:noFill/>
        </p:spPr>
        <p:txBody>
          <a:bodyPr wrap="square" lIns="0" rIns="0" tIns="0" bIns="0" anchor="t">
            <a:spAutoFit/>
          </a:bodyPr>
          <a:lstStyle/>
          <a:p>
            <a:pPr algn="r">
              <a:lnSpc>
                <a:spcPct val="105000"/>
              </a:lnSpc>
            </a:pPr>
            <a:r>
              <a:rPr sz="750" b="0" i="0">
                <a:solidFill>
                  <a:srgbClr val="9AA3A6"/>
                </a:solidFill>
                <a:latin typeface="Avenir Next"/>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68580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47472"/>
            <a:ext cx="9601200" cy="228600"/>
          </a:xfrm>
          <a:prstGeom prst="rect">
            <a:avLst/>
          </a:prstGeom>
          <a:noFill/>
        </p:spPr>
        <p:txBody>
          <a:bodyPr wrap="square" lIns="0" rIns="0" tIns="0" bIns="0" anchor="t">
            <a:spAutoFit/>
          </a:bodyPr>
          <a:lstStyle/>
          <a:p>
            <a:pPr algn="l">
              <a:lnSpc>
                <a:spcPct val="105000"/>
              </a:lnSpc>
            </a:pPr>
            <a:r>
              <a:rPr sz="850" b="1" i="0">
                <a:solidFill>
                  <a:srgbClr val="C8102E"/>
                </a:solidFill>
                <a:latin typeface="Avenir Next"/>
              </a:rPr>
              <a:t>05  ·  THE ENGINE</a:t>
            </a:r>
          </a:p>
        </p:txBody>
      </p:sp>
      <p:sp>
        <p:nvSpPr>
          <p:cNvPr id="5" name="TextBox 4"/>
          <p:cNvSpPr txBox="1"/>
          <p:nvPr/>
        </p:nvSpPr>
        <p:spPr>
          <a:xfrm>
            <a:off x="576072" y="621792"/>
            <a:ext cx="10972800" cy="1051560"/>
          </a:xfrm>
          <a:prstGeom prst="rect">
            <a:avLst/>
          </a:prstGeom>
          <a:noFill/>
        </p:spPr>
        <p:txBody>
          <a:bodyPr wrap="square" lIns="0" rIns="0" tIns="0" bIns="0" anchor="t">
            <a:spAutoFit/>
          </a:bodyPr>
          <a:lstStyle/>
          <a:p>
            <a:pPr algn="l">
              <a:lnSpc>
                <a:spcPct val="95000"/>
              </a:lnSpc>
            </a:pPr>
            <a:r>
              <a:rPr sz="2800" b="1" i="0">
                <a:solidFill>
                  <a:srgbClr val="0C1F2A"/>
                </a:solidFill>
                <a:latin typeface="Avenir Next"/>
              </a:rPr>
              <a:t>The right model for the job —
not one model for everything.</a:t>
            </a:r>
          </a:p>
        </p:txBody>
      </p:sp>
      <p:sp>
        <p:nvSpPr>
          <p:cNvPr id="6" name="Rounded Rectangle 5"/>
          <p:cNvSpPr/>
          <p:nvPr/>
        </p:nvSpPr>
        <p:spPr>
          <a:xfrm>
            <a:off x="594360" y="1828800"/>
            <a:ext cx="2029968" cy="1965960"/>
          </a:xfrm>
          <a:prstGeom prst="roundRect">
            <a:avLst>
              <a:gd name="adj" fmla="val 8000"/>
            </a:avLst>
          </a:prstGeom>
          <a:solidFill>
            <a:srgbClr val="FFFFFF"/>
          </a:solidFill>
          <a:ln w="12700">
            <a:solidFill>
              <a:srgbClr val="E1DA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1828800"/>
            <a:ext cx="2029968" cy="73152"/>
          </a:xfrm>
          <a:prstGeom prst="rect">
            <a:avLst/>
          </a:prstGeom>
          <a:solidFill>
            <a:srgbClr val="5E6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0664" y="1993392"/>
            <a:ext cx="365760" cy="182880"/>
          </a:xfrm>
          <a:prstGeom prst="rect">
            <a:avLst/>
          </a:prstGeom>
          <a:noFill/>
        </p:spPr>
        <p:txBody>
          <a:bodyPr wrap="square" lIns="0" rIns="0" tIns="0" bIns="0" anchor="t">
            <a:spAutoFit/>
          </a:bodyPr>
          <a:lstStyle/>
          <a:p>
            <a:pPr algn="l">
              <a:lnSpc>
                <a:spcPct val="105000"/>
              </a:lnSpc>
            </a:pPr>
            <a:r>
              <a:rPr sz="750" b="1" i="0">
                <a:solidFill>
                  <a:srgbClr val="9AA3A6"/>
                </a:solidFill>
                <a:latin typeface="Avenir Next"/>
              </a:rPr>
              <a:t>01</a:t>
            </a:r>
          </a:p>
        </p:txBody>
      </p:sp>
      <p:sp>
        <p:nvSpPr>
          <p:cNvPr id="9" name="TextBox 8"/>
          <p:cNvSpPr txBox="1"/>
          <p:nvPr/>
        </p:nvSpPr>
        <p:spPr>
          <a:xfrm>
            <a:off x="740664" y="2212848"/>
            <a:ext cx="1783080" cy="274320"/>
          </a:xfrm>
          <a:prstGeom prst="rect">
            <a:avLst/>
          </a:prstGeom>
          <a:noFill/>
        </p:spPr>
        <p:txBody>
          <a:bodyPr wrap="square" lIns="0" rIns="0" tIns="0" bIns="0" anchor="t">
            <a:spAutoFit/>
          </a:bodyPr>
          <a:lstStyle/>
          <a:p>
            <a:pPr algn="l">
              <a:lnSpc>
                <a:spcPct val="105000"/>
              </a:lnSpc>
            </a:pPr>
            <a:r>
              <a:rPr sz="1250" b="1" i="0">
                <a:solidFill>
                  <a:srgbClr val="0C1F2A"/>
                </a:solidFill>
                <a:latin typeface="Avenir Next"/>
              </a:rPr>
              <a:t>VOICE / TYPE</a:t>
            </a:r>
          </a:p>
        </p:txBody>
      </p:sp>
      <p:sp>
        <p:nvSpPr>
          <p:cNvPr id="10" name="TextBox 9"/>
          <p:cNvSpPr txBox="1"/>
          <p:nvPr/>
        </p:nvSpPr>
        <p:spPr>
          <a:xfrm>
            <a:off x="740664" y="2560320"/>
            <a:ext cx="1783080" cy="640080"/>
          </a:xfrm>
          <a:prstGeom prst="rect">
            <a:avLst/>
          </a:prstGeom>
          <a:noFill/>
        </p:spPr>
        <p:txBody>
          <a:bodyPr wrap="square" lIns="0" rIns="0" tIns="0" bIns="0" anchor="t">
            <a:spAutoFit/>
          </a:bodyPr>
          <a:lstStyle/>
          <a:p>
            <a:pPr algn="l">
              <a:lnSpc>
                <a:spcPct val="112000"/>
              </a:lnSpc>
            </a:pPr>
            <a:r>
              <a:rPr sz="850" b="0" i="0">
                <a:solidFill>
                  <a:srgbClr val="5E6A70"/>
                </a:solidFill>
                <a:latin typeface="Avenir Next"/>
              </a:rPr>
              <a:t>16 kHz · opus
browser capture</a:t>
            </a:r>
          </a:p>
        </p:txBody>
      </p:sp>
      <p:sp>
        <p:nvSpPr>
          <p:cNvPr id="11" name="Rounded Rectangle 10"/>
          <p:cNvSpPr/>
          <p:nvPr/>
        </p:nvSpPr>
        <p:spPr>
          <a:xfrm>
            <a:off x="740664" y="3401568"/>
            <a:ext cx="1600200" cy="256032"/>
          </a:xfrm>
          <a:prstGeom prst="roundRect">
            <a:avLst>
              <a:gd name="adj" fmla="val 50000"/>
            </a:avLst>
          </a:prstGeom>
          <a:solidFill>
            <a:srgbClr val="F5EE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750" b="1">
                <a:solidFill>
                  <a:srgbClr val="5E6A70"/>
                </a:solidFill>
                <a:latin typeface="Avenir Next"/>
              </a:rPr>
              <a:t>browser</a:t>
            </a:r>
          </a:p>
        </p:txBody>
      </p:sp>
      <p:sp>
        <p:nvSpPr>
          <p:cNvPr id="12" name="Right Arrow 11"/>
          <p:cNvSpPr/>
          <p:nvPr/>
        </p:nvSpPr>
        <p:spPr>
          <a:xfrm>
            <a:off x="2633472" y="2697480"/>
            <a:ext cx="164592" cy="164592"/>
          </a:xfrm>
          <a:prstGeom prst="rightArrow">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834640" y="1828800"/>
            <a:ext cx="2029968" cy="1965960"/>
          </a:xfrm>
          <a:prstGeom prst="roundRect">
            <a:avLst>
              <a:gd name="adj" fmla="val 8000"/>
            </a:avLst>
          </a:prstGeom>
          <a:solidFill>
            <a:srgbClr val="FFFFFF"/>
          </a:solidFill>
          <a:ln w="12700">
            <a:solidFill>
              <a:srgbClr val="E1DA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834640" y="1828800"/>
            <a:ext cx="2029968" cy="73152"/>
          </a:xfrm>
          <a:prstGeom prst="rect">
            <a:avLst/>
          </a:prstGeom>
          <a:solidFill>
            <a:srgbClr val="B48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80944" y="1993392"/>
            <a:ext cx="365760" cy="182880"/>
          </a:xfrm>
          <a:prstGeom prst="rect">
            <a:avLst/>
          </a:prstGeom>
          <a:noFill/>
        </p:spPr>
        <p:txBody>
          <a:bodyPr wrap="square" lIns="0" rIns="0" tIns="0" bIns="0" anchor="t">
            <a:spAutoFit/>
          </a:bodyPr>
          <a:lstStyle/>
          <a:p>
            <a:pPr algn="l">
              <a:lnSpc>
                <a:spcPct val="105000"/>
              </a:lnSpc>
            </a:pPr>
            <a:r>
              <a:rPr sz="750" b="1" i="0">
                <a:solidFill>
                  <a:srgbClr val="9AA3A6"/>
                </a:solidFill>
                <a:latin typeface="Avenir Next"/>
              </a:rPr>
              <a:t>02</a:t>
            </a:r>
          </a:p>
        </p:txBody>
      </p:sp>
      <p:sp>
        <p:nvSpPr>
          <p:cNvPr id="16" name="TextBox 15"/>
          <p:cNvSpPr txBox="1"/>
          <p:nvPr/>
        </p:nvSpPr>
        <p:spPr>
          <a:xfrm>
            <a:off x="2980944" y="2212848"/>
            <a:ext cx="1783080" cy="274320"/>
          </a:xfrm>
          <a:prstGeom prst="rect">
            <a:avLst/>
          </a:prstGeom>
          <a:noFill/>
        </p:spPr>
        <p:txBody>
          <a:bodyPr wrap="square" lIns="0" rIns="0" tIns="0" bIns="0" anchor="t">
            <a:spAutoFit/>
          </a:bodyPr>
          <a:lstStyle/>
          <a:p>
            <a:pPr algn="l">
              <a:lnSpc>
                <a:spcPct val="105000"/>
              </a:lnSpc>
            </a:pPr>
            <a:r>
              <a:rPr sz="1250" b="1" i="0">
                <a:solidFill>
                  <a:srgbClr val="0C1F2A"/>
                </a:solidFill>
                <a:latin typeface="Avenir Next"/>
              </a:rPr>
              <a:t>ASR</a:t>
            </a:r>
          </a:p>
        </p:txBody>
      </p:sp>
      <p:sp>
        <p:nvSpPr>
          <p:cNvPr id="17" name="TextBox 16"/>
          <p:cNvSpPr txBox="1"/>
          <p:nvPr/>
        </p:nvSpPr>
        <p:spPr>
          <a:xfrm>
            <a:off x="2980944" y="2560320"/>
            <a:ext cx="1783080" cy="640080"/>
          </a:xfrm>
          <a:prstGeom prst="rect">
            <a:avLst/>
          </a:prstGeom>
          <a:noFill/>
        </p:spPr>
        <p:txBody>
          <a:bodyPr wrap="square" lIns="0" rIns="0" tIns="0" bIns="0" anchor="t">
            <a:spAutoFit/>
          </a:bodyPr>
          <a:lstStyle/>
          <a:p>
            <a:pPr algn="l">
              <a:lnSpc>
                <a:spcPct val="112000"/>
              </a:lnSpc>
            </a:pPr>
            <a:r>
              <a:rPr sz="850" b="0" i="0">
                <a:solidFill>
                  <a:srgbClr val="5E6A70"/>
                </a:solidFill>
                <a:latin typeface="Avenir Next"/>
              </a:rPr>
              <a:t>Whisper small
JP: turbo fallback</a:t>
            </a:r>
          </a:p>
        </p:txBody>
      </p:sp>
      <p:sp>
        <p:nvSpPr>
          <p:cNvPr id="18" name="Rounded Rectangle 17"/>
          <p:cNvSpPr/>
          <p:nvPr/>
        </p:nvSpPr>
        <p:spPr>
          <a:xfrm>
            <a:off x="2980944" y="3401568"/>
            <a:ext cx="1600200" cy="256032"/>
          </a:xfrm>
          <a:prstGeom prst="roundRect">
            <a:avLst>
              <a:gd name="adj" fmla="val 50000"/>
            </a:avLst>
          </a:prstGeom>
          <a:solidFill>
            <a:srgbClr val="F5EE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750" b="1">
                <a:solidFill>
                  <a:srgbClr val="7A5A10"/>
                </a:solidFill>
                <a:latin typeface="Avenir Next"/>
              </a:rPr>
              <a:t>1.2 s</a:t>
            </a:r>
          </a:p>
        </p:txBody>
      </p:sp>
      <p:sp>
        <p:nvSpPr>
          <p:cNvPr id="19" name="Right Arrow 18"/>
          <p:cNvSpPr/>
          <p:nvPr/>
        </p:nvSpPr>
        <p:spPr>
          <a:xfrm>
            <a:off x="4873752" y="2697480"/>
            <a:ext cx="164592" cy="164592"/>
          </a:xfrm>
          <a:prstGeom prst="rightArrow">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074920" y="1828800"/>
            <a:ext cx="2029968" cy="1965960"/>
          </a:xfrm>
          <a:prstGeom prst="roundRect">
            <a:avLst>
              <a:gd name="adj" fmla="val 8000"/>
            </a:avLst>
          </a:prstGeom>
          <a:solidFill>
            <a:srgbClr val="FFFFFF"/>
          </a:solidFill>
          <a:ln w="12700">
            <a:solidFill>
              <a:srgbClr val="E1DA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74920" y="1828800"/>
            <a:ext cx="2029968" cy="7315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21224" y="1993392"/>
            <a:ext cx="365760" cy="182880"/>
          </a:xfrm>
          <a:prstGeom prst="rect">
            <a:avLst/>
          </a:prstGeom>
          <a:noFill/>
        </p:spPr>
        <p:txBody>
          <a:bodyPr wrap="square" lIns="0" rIns="0" tIns="0" bIns="0" anchor="t">
            <a:spAutoFit/>
          </a:bodyPr>
          <a:lstStyle/>
          <a:p>
            <a:pPr algn="l">
              <a:lnSpc>
                <a:spcPct val="105000"/>
              </a:lnSpc>
            </a:pPr>
            <a:r>
              <a:rPr sz="750" b="1" i="0">
                <a:solidFill>
                  <a:srgbClr val="9AA3A6"/>
                </a:solidFill>
                <a:latin typeface="Avenir Next"/>
              </a:rPr>
              <a:t>03</a:t>
            </a:r>
          </a:p>
        </p:txBody>
      </p:sp>
      <p:sp>
        <p:nvSpPr>
          <p:cNvPr id="23" name="TextBox 22"/>
          <p:cNvSpPr txBox="1"/>
          <p:nvPr/>
        </p:nvSpPr>
        <p:spPr>
          <a:xfrm>
            <a:off x="5221224" y="2212848"/>
            <a:ext cx="1783080" cy="274320"/>
          </a:xfrm>
          <a:prstGeom prst="rect">
            <a:avLst/>
          </a:prstGeom>
          <a:noFill/>
        </p:spPr>
        <p:txBody>
          <a:bodyPr wrap="square" lIns="0" rIns="0" tIns="0" bIns="0" anchor="t">
            <a:spAutoFit/>
          </a:bodyPr>
          <a:lstStyle/>
          <a:p>
            <a:pPr algn="l">
              <a:lnSpc>
                <a:spcPct val="105000"/>
              </a:lnSpc>
            </a:pPr>
            <a:r>
              <a:rPr sz="1250" b="1" i="0">
                <a:solidFill>
                  <a:srgbClr val="0C1F2A"/>
                </a:solidFill>
                <a:latin typeface="Avenir Next"/>
              </a:rPr>
              <a:t>MEANING</a:t>
            </a:r>
          </a:p>
        </p:txBody>
      </p:sp>
      <p:sp>
        <p:nvSpPr>
          <p:cNvPr id="24" name="TextBox 23"/>
          <p:cNvSpPr txBox="1"/>
          <p:nvPr/>
        </p:nvSpPr>
        <p:spPr>
          <a:xfrm>
            <a:off x="5221224" y="2560320"/>
            <a:ext cx="1783080" cy="640080"/>
          </a:xfrm>
          <a:prstGeom prst="rect">
            <a:avLst/>
          </a:prstGeom>
          <a:noFill/>
        </p:spPr>
        <p:txBody>
          <a:bodyPr wrap="square" lIns="0" rIns="0" tIns="0" bIns="0" anchor="t">
            <a:spAutoFit/>
          </a:bodyPr>
          <a:lstStyle/>
          <a:p>
            <a:pPr algn="l">
              <a:lnSpc>
                <a:spcPct val="112000"/>
              </a:lnSpc>
            </a:pPr>
            <a:r>
              <a:rPr sz="850" b="0" i="0">
                <a:solidFill>
                  <a:srgbClr val="5E6A70"/>
                </a:solidFill>
                <a:latin typeface="Avenir Next"/>
              </a:rPr>
              <a:t>Phrasebook · Argos
Qwen 7B (JP)</a:t>
            </a:r>
          </a:p>
        </p:txBody>
      </p:sp>
      <p:sp>
        <p:nvSpPr>
          <p:cNvPr id="25" name="Rounded Rectangle 24"/>
          <p:cNvSpPr/>
          <p:nvPr/>
        </p:nvSpPr>
        <p:spPr>
          <a:xfrm>
            <a:off x="5221224" y="3401568"/>
            <a:ext cx="1600200" cy="256032"/>
          </a:xfrm>
          <a:prstGeom prst="roundRect">
            <a:avLst>
              <a:gd name="adj" fmla="val 50000"/>
            </a:avLst>
          </a:prstGeom>
          <a:solidFill>
            <a:srgbClr val="F9E9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750" b="1">
                <a:solidFill>
                  <a:srgbClr val="C8102E"/>
                </a:solidFill>
                <a:latin typeface="Avenir Next"/>
              </a:rPr>
              <a:t>0 / 60 / 700 ms</a:t>
            </a:r>
          </a:p>
        </p:txBody>
      </p:sp>
      <p:sp>
        <p:nvSpPr>
          <p:cNvPr id="26" name="Right Arrow 25"/>
          <p:cNvSpPr/>
          <p:nvPr/>
        </p:nvSpPr>
        <p:spPr>
          <a:xfrm>
            <a:off x="7114032" y="2697480"/>
            <a:ext cx="164592" cy="164592"/>
          </a:xfrm>
          <a:prstGeom prst="rightArrow">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7315200" y="1828800"/>
            <a:ext cx="2029968" cy="1965960"/>
          </a:xfrm>
          <a:prstGeom prst="roundRect">
            <a:avLst>
              <a:gd name="adj" fmla="val 8000"/>
            </a:avLst>
          </a:prstGeom>
          <a:solidFill>
            <a:srgbClr val="FFFFFF"/>
          </a:solidFill>
          <a:ln w="12700">
            <a:solidFill>
              <a:srgbClr val="E1DA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15200" y="1828800"/>
            <a:ext cx="2029968" cy="73152"/>
          </a:xfrm>
          <a:prstGeom prst="rect">
            <a:avLst/>
          </a:prstGeom>
          <a:solidFill>
            <a:srgbClr val="0F6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61504" y="1993392"/>
            <a:ext cx="365760" cy="182880"/>
          </a:xfrm>
          <a:prstGeom prst="rect">
            <a:avLst/>
          </a:prstGeom>
          <a:noFill/>
        </p:spPr>
        <p:txBody>
          <a:bodyPr wrap="square" lIns="0" rIns="0" tIns="0" bIns="0" anchor="t">
            <a:spAutoFit/>
          </a:bodyPr>
          <a:lstStyle/>
          <a:p>
            <a:pPr algn="l">
              <a:lnSpc>
                <a:spcPct val="105000"/>
              </a:lnSpc>
            </a:pPr>
            <a:r>
              <a:rPr sz="750" b="1" i="0">
                <a:solidFill>
                  <a:srgbClr val="9AA3A6"/>
                </a:solidFill>
                <a:latin typeface="Avenir Next"/>
              </a:rPr>
              <a:t>04</a:t>
            </a:r>
          </a:p>
        </p:txBody>
      </p:sp>
      <p:sp>
        <p:nvSpPr>
          <p:cNvPr id="30" name="TextBox 29"/>
          <p:cNvSpPr txBox="1"/>
          <p:nvPr/>
        </p:nvSpPr>
        <p:spPr>
          <a:xfrm>
            <a:off x="7461504" y="2212848"/>
            <a:ext cx="1783080" cy="274320"/>
          </a:xfrm>
          <a:prstGeom prst="rect">
            <a:avLst/>
          </a:prstGeom>
          <a:noFill/>
        </p:spPr>
        <p:txBody>
          <a:bodyPr wrap="square" lIns="0" rIns="0" tIns="0" bIns="0" anchor="t">
            <a:spAutoFit/>
          </a:bodyPr>
          <a:lstStyle/>
          <a:p>
            <a:pPr algn="l">
              <a:lnSpc>
                <a:spcPct val="105000"/>
              </a:lnSpc>
            </a:pPr>
            <a:r>
              <a:rPr sz="1250" b="1" i="0">
                <a:solidFill>
                  <a:srgbClr val="0C1F2A"/>
                </a:solidFill>
                <a:latin typeface="Avenir Next"/>
              </a:rPr>
              <a:t>TRIAGE</a:t>
            </a:r>
          </a:p>
        </p:txBody>
      </p:sp>
      <p:sp>
        <p:nvSpPr>
          <p:cNvPr id="31" name="TextBox 30"/>
          <p:cNvSpPr txBox="1"/>
          <p:nvPr/>
        </p:nvSpPr>
        <p:spPr>
          <a:xfrm>
            <a:off x="7461504" y="2560320"/>
            <a:ext cx="1783080" cy="640080"/>
          </a:xfrm>
          <a:prstGeom prst="rect">
            <a:avLst/>
          </a:prstGeom>
          <a:noFill/>
        </p:spPr>
        <p:txBody>
          <a:bodyPr wrap="square" lIns="0" rIns="0" tIns="0" bIns="0" anchor="t">
            <a:spAutoFit/>
          </a:bodyPr>
          <a:lstStyle/>
          <a:p>
            <a:pPr algn="l">
              <a:lnSpc>
                <a:spcPct val="112000"/>
              </a:lnSpc>
            </a:pPr>
            <a:r>
              <a:rPr sz="850" b="0" i="0">
                <a:solidFill>
                  <a:srgbClr val="5E6A70"/>
                </a:solidFill>
                <a:latin typeface="Avenir Next"/>
              </a:rPr>
              <a:t>Intent · urgency
keywords</a:t>
            </a:r>
          </a:p>
        </p:txBody>
      </p:sp>
      <p:sp>
        <p:nvSpPr>
          <p:cNvPr id="32" name="Rounded Rectangle 31"/>
          <p:cNvSpPr/>
          <p:nvPr/>
        </p:nvSpPr>
        <p:spPr>
          <a:xfrm>
            <a:off x="7461504" y="3401568"/>
            <a:ext cx="1600200" cy="256032"/>
          </a:xfrm>
          <a:prstGeom prst="roundRect">
            <a:avLst>
              <a:gd name="adj" fmla="val 50000"/>
            </a:avLst>
          </a:prstGeom>
          <a:solidFill>
            <a:srgbClr val="E8F1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750" b="1">
                <a:solidFill>
                  <a:srgbClr val="0F6B5C"/>
                </a:solidFill>
                <a:latin typeface="Avenir Next"/>
              </a:rPr>
              <a:t>1–200 ms</a:t>
            </a:r>
          </a:p>
        </p:txBody>
      </p:sp>
      <p:sp>
        <p:nvSpPr>
          <p:cNvPr id="33" name="Right Arrow 32"/>
          <p:cNvSpPr/>
          <p:nvPr/>
        </p:nvSpPr>
        <p:spPr>
          <a:xfrm>
            <a:off x="9354312" y="2697480"/>
            <a:ext cx="164592" cy="164592"/>
          </a:xfrm>
          <a:prstGeom prst="rightArrow">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9555480" y="1828800"/>
            <a:ext cx="2029968" cy="1965960"/>
          </a:xfrm>
          <a:prstGeom prst="roundRect">
            <a:avLst>
              <a:gd name="adj" fmla="val 8000"/>
            </a:avLst>
          </a:prstGeom>
          <a:solidFill>
            <a:srgbClr val="FFFFFF"/>
          </a:solidFill>
          <a:ln w="12700">
            <a:solidFill>
              <a:srgbClr val="E1DA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55480" y="1828800"/>
            <a:ext cx="2029968" cy="73152"/>
          </a:xfrm>
          <a:prstGeom prst="rect">
            <a:avLst/>
          </a:prstGeom>
          <a:solidFill>
            <a:srgbClr val="0F6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01784" y="1993392"/>
            <a:ext cx="365760" cy="182880"/>
          </a:xfrm>
          <a:prstGeom prst="rect">
            <a:avLst/>
          </a:prstGeom>
          <a:noFill/>
        </p:spPr>
        <p:txBody>
          <a:bodyPr wrap="square" lIns="0" rIns="0" tIns="0" bIns="0" anchor="t">
            <a:spAutoFit/>
          </a:bodyPr>
          <a:lstStyle/>
          <a:p>
            <a:pPr algn="l">
              <a:lnSpc>
                <a:spcPct val="105000"/>
              </a:lnSpc>
            </a:pPr>
            <a:r>
              <a:rPr sz="750" b="1" i="0">
                <a:solidFill>
                  <a:srgbClr val="9AA3A6"/>
                </a:solidFill>
                <a:latin typeface="Avenir Next"/>
              </a:rPr>
              <a:t>05</a:t>
            </a:r>
          </a:p>
        </p:txBody>
      </p:sp>
      <p:sp>
        <p:nvSpPr>
          <p:cNvPr id="37" name="TextBox 36"/>
          <p:cNvSpPr txBox="1"/>
          <p:nvPr/>
        </p:nvSpPr>
        <p:spPr>
          <a:xfrm>
            <a:off x="9701784" y="2212848"/>
            <a:ext cx="1783080" cy="274320"/>
          </a:xfrm>
          <a:prstGeom prst="rect">
            <a:avLst/>
          </a:prstGeom>
          <a:noFill/>
        </p:spPr>
        <p:txBody>
          <a:bodyPr wrap="square" lIns="0" rIns="0" tIns="0" bIns="0" anchor="t">
            <a:spAutoFit/>
          </a:bodyPr>
          <a:lstStyle/>
          <a:p>
            <a:pPr algn="l">
              <a:lnSpc>
                <a:spcPct val="105000"/>
              </a:lnSpc>
            </a:pPr>
            <a:r>
              <a:rPr sz="1250" b="1" i="0">
                <a:solidFill>
                  <a:srgbClr val="0C1F2A"/>
                </a:solidFill>
                <a:latin typeface="Avenir Next"/>
              </a:rPr>
              <a:t>CREW</a:t>
            </a:r>
          </a:p>
        </p:txBody>
      </p:sp>
      <p:sp>
        <p:nvSpPr>
          <p:cNvPr id="38" name="TextBox 37"/>
          <p:cNvSpPr txBox="1"/>
          <p:nvPr/>
        </p:nvSpPr>
        <p:spPr>
          <a:xfrm>
            <a:off x="9701784" y="2560320"/>
            <a:ext cx="1783080" cy="640080"/>
          </a:xfrm>
          <a:prstGeom prst="rect">
            <a:avLst/>
          </a:prstGeom>
          <a:noFill/>
        </p:spPr>
        <p:txBody>
          <a:bodyPr wrap="square" lIns="0" rIns="0" tIns="0" bIns="0" anchor="t">
            <a:spAutoFit/>
          </a:bodyPr>
          <a:lstStyle/>
          <a:p>
            <a:pPr algn="l">
              <a:lnSpc>
                <a:spcPct val="112000"/>
              </a:lnSpc>
            </a:pPr>
            <a:r>
              <a:rPr sz="850" b="0" i="0">
                <a:solidFill>
                  <a:srgbClr val="5E6A70"/>
                </a:solidFill>
                <a:latin typeface="Avenir Next"/>
              </a:rPr>
              <a:t>Summary + reply
WebSocket</a:t>
            </a:r>
          </a:p>
        </p:txBody>
      </p:sp>
      <p:sp>
        <p:nvSpPr>
          <p:cNvPr id="39" name="Rounded Rectangle 38"/>
          <p:cNvSpPr/>
          <p:nvPr/>
        </p:nvSpPr>
        <p:spPr>
          <a:xfrm>
            <a:off x="9701784" y="3401568"/>
            <a:ext cx="1600200" cy="256032"/>
          </a:xfrm>
          <a:prstGeom prst="roundRect">
            <a:avLst>
              <a:gd name="adj" fmla="val 50000"/>
            </a:avLst>
          </a:prstGeom>
          <a:solidFill>
            <a:srgbClr val="E8F1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750" b="1">
                <a:solidFill>
                  <a:srgbClr val="0F6B5C"/>
                </a:solidFill>
                <a:latin typeface="Avenir Next"/>
              </a:rPr>
              <a:t>&lt;100 ms</a:t>
            </a:r>
          </a:p>
        </p:txBody>
      </p:sp>
      <p:sp>
        <p:nvSpPr>
          <p:cNvPr id="40" name="Rounded Rectangle 39"/>
          <p:cNvSpPr/>
          <p:nvPr/>
        </p:nvSpPr>
        <p:spPr>
          <a:xfrm>
            <a:off x="594360" y="4069080"/>
            <a:ext cx="11018520" cy="1188720"/>
          </a:xfrm>
          <a:prstGeom prst="roundRect">
            <a:avLst>
              <a:gd name="adj" fmla="val 8000"/>
            </a:avLst>
          </a:prstGeom>
          <a:solidFill>
            <a:srgbClr val="FFFFFF"/>
          </a:solidFill>
          <a:ln w="12700">
            <a:solidFill>
              <a:srgbClr val="E1DA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2960" y="4251960"/>
            <a:ext cx="3291840" cy="201168"/>
          </a:xfrm>
          <a:prstGeom prst="rect">
            <a:avLst/>
          </a:prstGeom>
          <a:noFill/>
        </p:spPr>
        <p:txBody>
          <a:bodyPr wrap="square" lIns="0" rIns="0" tIns="0" bIns="0" anchor="t">
            <a:spAutoFit/>
          </a:bodyPr>
          <a:lstStyle/>
          <a:p>
            <a:pPr algn="l">
              <a:lnSpc>
                <a:spcPct val="105000"/>
              </a:lnSpc>
            </a:pPr>
            <a:r>
              <a:rPr sz="800" b="1" i="0">
                <a:solidFill>
                  <a:srgbClr val="C8102E"/>
                </a:solidFill>
                <a:latin typeface="Avenir Next"/>
              </a:rPr>
              <a:t>PHRASEBOOK FIRST</a:t>
            </a:r>
          </a:p>
        </p:txBody>
      </p:sp>
      <p:sp>
        <p:nvSpPr>
          <p:cNvPr id="42" name="TextBox 41"/>
          <p:cNvSpPr txBox="1"/>
          <p:nvPr/>
        </p:nvSpPr>
        <p:spPr>
          <a:xfrm>
            <a:off x="822960" y="4498848"/>
            <a:ext cx="3291840" cy="502920"/>
          </a:xfrm>
          <a:prstGeom prst="rect">
            <a:avLst/>
          </a:prstGeom>
          <a:noFill/>
        </p:spPr>
        <p:txBody>
          <a:bodyPr wrap="square" lIns="0" rIns="0" tIns="0" bIns="0" anchor="t">
            <a:spAutoFit/>
          </a:bodyPr>
          <a:lstStyle/>
          <a:p>
            <a:pPr algn="l">
              <a:lnSpc>
                <a:spcPct val="110000"/>
              </a:lnSpc>
            </a:pPr>
            <a:r>
              <a:rPr sz="900" b="0" i="0">
                <a:solidFill>
                  <a:srgbClr val="5E6A70"/>
                </a:solidFill>
                <a:latin typeface="Avenir Next"/>
              </a:rPr>
              <a:t>0 ms, deterministic. 40 cabin phrases × 7 languages.</a:t>
            </a:r>
          </a:p>
        </p:txBody>
      </p:sp>
      <p:sp>
        <p:nvSpPr>
          <p:cNvPr id="43" name="TextBox 42"/>
          <p:cNvSpPr txBox="1"/>
          <p:nvPr/>
        </p:nvSpPr>
        <p:spPr>
          <a:xfrm>
            <a:off x="4434840" y="4251960"/>
            <a:ext cx="3291840" cy="201168"/>
          </a:xfrm>
          <a:prstGeom prst="rect">
            <a:avLst/>
          </a:prstGeom>
          <a:noFill/>
        </p:spPr>
        <p:txBody>
          <a:bodyPr wrap="square" lIns="0" rIns="0" tIns="0" bIns="0" anchor="t">
            <a:spAutoFit/>
          </a:bodyPr>
          <a:lstStyle/>
          <a:p>
            <a:pPr algn="l">
              <a:lnSpc>
                <a:spcPct val="105000"/>
              </a:lnSpc>
            </a:pPr>
            <a:r>
              <a:rPr sz="800" b="1" i="0">
                <a:solidFill>
                  <a:srgbClr val="C8102E"/>
                </a:solidFill>
                <a:latin typeface="Avenir Next"/>
              </a:rPr>
              <a:t>LOCAL MODELS</a:t>
            </a:r>
          </a:p>
        </p:txBody>
      </p:sp>
      <p:sp>
        <p:nvSpPr>
          <p:cNvPr id="44" name="TextBox 43"/>
          <p:cNvSpPr txBox="1"/>
          <p:nvPr/>
        </p:nvSpPr>
        <p:spPr>
          <a:xfrm>
            <a:off x="4434840" y="4498848"/>
            <a:ext cx="3291840" cy="502920"/>
          </a:xfrm>
          <a:prstGeom prst="rect">
            <a:avLst/>
          </a:prstGeom>
          <a:noFill/>
        </p:spPr>
        <p:txBody>
          <a:bodyPr wrap="square" lIns="0" rIns="0" tIns="0" bIns="0" anchor="t">
            <a:spAutoFit/>
          </a:bodyPr>
          <a:lstStyle/>
          <a:p>
            <a:pPr algn="l">
              <a:lnSpc>
                <a:spcPct val="110000"/>
              </a:lnSpc>
            </a:pPr>
            <a:r>
              <a:rPr sz="900" b="0" i="0">
                <a:solidFill>
                  <a:srgbClr val="5E6A70"/>
                </a:solidFill>
                <a:latin typeface="Avenir Next"/>
              </a:rPr>
              <a:t>No cloud in the loop. Hindi: Argos. Japanese: Qwen 7B.</a:t>
            </a:r>
          </a:p>
        </p:txBody>
      </p:sp>
      <p:sp>
        <p:nvSpPr>
          <p:cNvPr id="45" name="TextBox 44"/>
          <p:cNvSpPr txBox="1"/>
          <p:nvPr/>
        </p:nvSpPr>
        <p:spPr>
          <a:xfrm>
            <a:off x="8046720" y="4251960"/>
            <a:ext cx="3291840" cy="201168"/>
          </a:xfrm>
          <a:prstGeom prst="rect">
            <a:avLst/>
          </a:prstGeom>
          <a:noFill/>
        </p:spPr>
        <p:txBody>
          <a:bodyPr wrap="square" lIns="0" rIns="0" tIns="0" bIns="0" anchor="t">
            <a:spAutoFit/>
          </a:bodyPr>
          <a:lstStyle/>
          <a:p>
            <a:pPr algn="l">
              <a:lnSpc>
                <a:spcPct val="105000"/>
              </a:lnSpc>
            </a:pPr>
            <a:r>
              <a:rPr sz="800" b="1" i="0">
                <a:solidFill>
                  <a:srgbClr val="C8102E"/>
                </a:solidFill>
                <a:latin typeface="Avenir Next"/>
              </a:rPr>
              <a:t>CONFIDENCE, NOT GUESSWORK</a:t>
            </a:r>
          </a:p>
        </p:txBody>
      </p:sp>
      <p:sp>
        <p:nvSpPr>
          <p:cNvPr id="46" name="TextBox 45"/>
          <p:cNvSpPr txBox="1"/>
          <p:nvPr/>
        </p:nvSpPr>
        <p:spPr>
          <a:xfrm>
            <a:off x="8046720" y="4498848"/>
            <a:ext cx="3291840" cy="502920"/>
          </a:xfrm>
          <a:prstGeom prst="rect">
            <a:avLst/>
          </a:prstGeom>
          <a:noFill/>
        </p:spPr>
        <p:txBody>
          <a:bodyPr wrap="square" lIns="0" rIns="0" tIns="0" bIns="0" anchor="t">
            <a:spAutoFit/>
          </a:bodyPr>
          <a:lstStyle/>
          <a:p>
            <a:pPr algn="l">
              <a:lnSpc>
                <a:spcPct val="110000"/>
              </a:lnSpc>
            </a:pPr>
            <a:r>
              <a:rPr sz="900" b="0" i="0">
                <a:solidFill>
                  <a:srgbClr val="5E6A70"/>
                </a:solidFill>
                <a:latin typeface="Avenir Next"/>
              </a:rPr>
              <a:t>Empty is blocked. Low/medium is reviewed and editable.</a:t>
            </a:r>
          </a:p>
        </p:txBody>
      </p:sp>
      <p:sp>
        <p:nvSpPr>
          <p:cNvPr id="47" name="TextBox 46"/>
          <p:cNvSpPr txBox="1"/>
          <p:nvPr/>
        </p:nvSpPr>
        <p:spPr>
          <a:xfrm>
            <a:off x="822960" y="5440680"/>
            <a:ext cx="9144000" cy="228600"/>
          </a:xfrm>
          <a:prstGeom prst="rect">
            <a:avLst/>
          </a:prstGeom>
          <a:noFill/>
        </p:spPr>
        <p:txBody>
          <a:bodyPr wrap="square" lIns="0" rIns="0" tIns="0" bIns="0" anchor="t">
            <a:spAutoFit/>
          </a:bodyPr>
          <a:lstStyle/>
          <a:p>
            <a:pPr algn="l">
              <a:lnSpc>
                <a:spcPct val="105000"/>
              </a:lnSpc>
            </a:pPr>
            <a:r>
              <a:rPr sz="850" b="0" i="0">
                <a:solidFill>
                  <a:srgbClr val="5E6A70"/>
                </a:solidFill>
                <a:latin typeface="Avenir Next"/>
              </a:rPr>
              <a:t>Browser voice out  ·  free, offline-capable  ·  no server TTS</a:t>
            </a:r>
          </a:p>
        </p:txBody>
      </p:sp>
      <p:cxnSp>
        <p:nvCxnSpPr>
          <p:cNvPr id="48" name="Connector 47"/>
          <p:cNvCxnSpPr/>
          <p:nvPr/>
        </p:nvCxnSpPr>
        <p:spPr>
          <a:xfrm>
            <a:off x="594360" y="6492240"/>
            <a:ext cx="11000232" cy="0"/>
          </a:xfrm>
          <a:prstGeom prst="line">
            <a:avLst/>
          </a:prstGeom>
          <a:ln w="9525">
            <a:solidFill>
              <a:srgbClr val="E1DACF"/>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594360" y="6556248"/>
            <a:ext cx="6400800" cy="182880"/>
          </a:xfrm>
          <a:prstGeom prst="rect">
            <a:avLst/>
          </a:prstGeom>
          <a:noFill/>
        </p:spPr>
        <p:txBody>
          <a:bodyPr wrap="square" lIns="0" rIns="0" tIns="0" bIns="0" anchor="t">
            <a:spAutoFit/>
          </a:bodyPr>
          <a:lstStyle/>
          <a:p>
            <a:pPr algn="l">
              <a:lnSpc>
                <a:spcPct val="105000"/>
              </a:lnSpc>
            </a:pPr>
            <a:r>
              <a:rPr sz="750" b="1" i="0">
                <a:solidFill>
                  <a:srgbClr val="9AA3A6"/>
                </a:solidFill>
                <a:latin typeface="Avenir Next"/>
              </a:rPr>
              <a:t>CABINBRIDGE  ×  JAPAN AIRLINES</a:t>
            </a:r>
          </a:p>
        </p:txBody>
      </p:sp>
      <p:sp>
        <p:nvSpPr>
          <p:cNvPr id="50" name="TextBox 49"/>
          <p:cNvSpPr txBox="1"/>
          <p:nvPr/>
        </p:nvSpPr>
        <p:spPr>
          <a:xfrm>
            <a:off x="10972800" y="6556248"/>
            <a:ext cx="621792" cy="182880"/>
          </a:xfrm>
          <a:prstGeom prst="rect">
            <a:avLst/>
          </a:prstGeom>
          <a:noFill/>
        </p:spPr>
        <p:txBody>
          <a:bodyPr wrap="square" lIns="0" rIns="0" tIns="0" bIns="0" anchor="t">
            <a:spAutoFit/>
          </a:bodyPr>
          <a:lstStyle/>
          <a:p>
            <a:pPr algn="r">
              <a:lnSpc>
                <a:spcPct val="105000"/>
              </a:lnSpc>
            </a:pPr>
            <a:r>
              <a:rPr sz="750" b="0" i="0">
                <a:solidFill>
                  <a:srgbClr val="9AA3A6"/>
                </a:solidFill>
                <a:latin typeface="Avenir Next"/>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68580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47472"/>
            <a:ext cx="9601200" cy="228600"/>
          </a:xfrm>
          <a:prstGeom prst="rect">
            <a:avLst/>
          </a:prstGeom>
          <a:noFill/>
        </p:spPr>
        <p:txBody>
          <a:bodyPr wrap="square" lIns="0" rIns="0" tIns="0" bIns="0" anchor="t">
            <a:spAutoFit/>
          </a:bodyPr>
          <a:lstStyle/>
          <a:p>
            <a:pPr algn="l">
              <a:lnSpc>
                <a:spcPct val="105000"/>
              </a:lnSpc>
            </a:pPr>
            <a:r>
              <a:rPr sz="850" b="1" i="0">
                <a:solidFill>
                  <a:srgbClr val="C8102E"/>
                </a:solidFill>
                <a:latin typeface="Avenir Next"/>
              </a:rPr>
              <a:t>06  ·  WHY RELIABLE</a:t>
            </a:r>
          </a:p>
        </p:txBody>
      </p:sp>
      <p:sp>
        <p:nvSpPr>
          <p:cNvPr id="5" name="TextBox 4"/>
          <p:cNvSpPr txBox="1"/>
          <p:nvPr/>
        </p:nvSpPr>
        <p:spPr>
          <a:xfrm>
            <a:off x="576072" y="621792"/>
            <a:ext cx="10972800" cy="1051560"/>
          </a:xfrm>
          <a:prstGeom prst="rect">
            <a:avLst/>
          </a:prstGeom>
          <a:noFill/>
        </p:spPr>
        <p:txBody>
          <a:bodyPr wrap="square" lIns="0" rIns="0" tIns="0" bIns="0" anchor="t">
            <a:spAutoFit/>
          </a:bodyPr>
          <a:lstStyle/>
          <a:p>
            <a:pPr algn="l">
              <a:lnSpc>
                <a:spcPct val="95000"/>
              </a:lnSpc>
            </a:pPr>
            <a:r>
              <a:rPr sz="3000" b="1" i="0">
                <a:solidFill>
                  <a:srgbClr val="0C1F2A"/>
                </a:solidFill>
                <a:latin typeface="Avenir Next"/>
              </a:rPr>
              <a:t>Designed to fail safely.</a:t>
            </a:r>
          </a:p>
        </p:txBody>
      </p:sp>
      <p:sp>
        <p:nvSpPr>
          <p:cNvPr id="6" name="TextBox 5"/>
          <p:cNvSpPr txBox="1"/>
          <p:nvPr/>
        </p:nvSpPr>
        <p:spPr>
          <a:xfrm>
            <a:off x="594360" y="1353312"/>
            <a:ext cx="10789920" cy="502920"/>
          </a:xfrm>
          <a:prstGeom prst="rect">
            <a:avLst/>
          </a:prstGeom>
          <a:noFill/>
        </p:spPr>
        <p:txBody>
          <a:bodyPr wrap="square" lIns="0" rIns="0" tIns="0" bIns="0" anchor="t">
            <a:spAutoFit/>
          </a:bodyPr>
          <a:lstStyle/>
          <a:p>
            <a:pPr algn="l">
              <a:lnSpc>
                <a:spcPct val="110000"/>
              </a:lnSpc>
            </a:pPr>
            <a:r>
              <a:rPr sz="1200" b="0" i="0">
                <a:solidFill>
                  <a:srgbClr val="5E6A70"/>
                </a:solidFill>
                <a:latin typeface="Avenir Next"/>
              </a:rPr>
              <a:t>In a cabin, a confident wrong answer is worse than no answer.</a:t>
            </a:r>
          </a:p>
        </p:txBody>
      </p:sp>
      <p:sp>
        <p:nvSpPr>
          <p:cNvPr id="7" name="Rounded Rectangle 6"/>
          <p:cNvSpPr/>
          <p:nvPr/>
        </p:nvSpPr>
        <p:spPr>
          <a:xfrm>
            <a:off x="594360" y="1828800"/>
            <a:ext cx="2651760" cy="3063240"/>
          </a:xfrm>
          <a:prstGeom prst="roundRect">
            <a:avLst>
              <a:gd name="adj" fmla="val 8000"/>
            </a:avLst>
          </a:prstGeom>
          <a:solidFill>
            <a:srgbClr val="FFFFFF"/>
          </a:solidFill>
          <a:ln w="12700">
            <a:solidFill>
              <a:srgbClr val="E1DA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2011680"/>
            <a:ext cx="2240280" cy="502920"/>
          </a:xfrm>
          <a:prstGeom prst="rect">
            <a:avLst/>
          </a:prstGeom>
          <a:noFill/>
        </p:spPr>
        <p:txBody>
          <a:bodyPr wrap="square" lIns="0" rIns="0" tIns="0" bIns="0" anchor="t">
            <a:spAutoFit/>
          </a:bodyPr>
          <a:lstStyle/>
          <a:p>
            <a:pPr algn="l">
              <a:lnSpc>
                <a:spcPct val="105000"/>
              </a:lnSpc>
            </a:pPr>
            <a:r>
              <a:rPr sz="2400" b="1" i="0">
                <a:solidFill>
                  <a:srgbClr val="C8102E"/>
                </a:solidFill>
                <a:latin typeface="Avenir Next"/>
              </a:rPr>
              <a:t>12</a:t>
            </a:r>
          </a:p>
        </p:txBody>
      </p:sp>
      <p:sp>
        <p:nvSpPr>
          <p:cNvPr id="9" name="TextBox 8"/>
          <p:cNvSpPr txBox="1"/>
          <p:nvPr/>
        </p:nvSpPr>
        <p:spPr>
          <a:xfrm>
            <a:off x="795528" y="2606040"/>
            <a:ext cx="2240280" cy="457200"/>
          </a:xfrm>
          <a:prstGeom prst="rect">
            <a:avLst/>
          </a:prstGeom>
          <a:noFill/>
        </p:spPr>
        <p:txBody>
          <a:bodyPr wrap="square" lIns="0" rIns="0" tIns="0" bIns="0" anchor="t">
            <a:spAutoFit/>
          </a:bodyPr>
          <a:lstStyle/>
          <a:p>
            <a:pPr algn="l">
              <a:lnSpc>
                <a:spcPct val="105000"/>
              </a:lnSpc>
            </a:pPr>
            <a:r>
              <a:rPr sz="800" b="1" i="0">
                <a:solidFill>
                  <a:srgbClr val="5E6A70"/>
                </a:solidFill>
                <a:latin typeface="Avenir Next"/>
              </a:rPr>
              <a:t>APPROVED SAFETY PHRASES</a:t>
            </a:r>
          </a:p>
        </p:txBody>
      </p:sp>
      <p:sp>
        <p:nvSpPr>
          <p:cNvPr id="10" name="TextBox 9"/>
          <p:cNvSpPr txBox="1"/>
          <p:nvPr/>
        </p:nvSpPr>
        <p:spPr>
          <a:xfrm>
            <a:off x="795528" y="3063240"/>
            <a:ext cx="2194560" cy="1097280"/>
          </a:xfrm>
          <a:prstGeom prst="rect">
            <a:avLst/>
          </a:prstGeom>
          <a:noFill/>
        </p:spPr>
        <p:txBody>
          <a:bodyPr wrap="square" lIns="0" rIns="0" tIns="0" bIns="0" anchor="t">
            <a:spAutoFit/>
          </a:bodyPr>
          <a:lstStyle/>
          <a:p>
            <a:pPr algn="l">
              <a:lnSpc>
                <a:spcPct val="118000"/>
              </a:lnSpc>
            </a:pPr>
            <a:r>
              <a:rPr sz="950" b="0" i="0">
                <a:solidFill>
                  <a:srgbClr val="5E6A70"/>
                </a:solidFill>
                <a:latin typeface="Avenir Next"/>
              </a:rPr>
              <a:t>Exact match only. Safety wording never passes through machine translation.</a:t>
            </a:r>
          </a:p>
        </p:txBody>
      </p:sp>
      <p:sp>
        <p:nvSpPr>
          <p:cNvPr id="11" name="Oval 10"/>
          <p:cNvSpPr/>
          <p:nvPr/>
        </p:nvSpPr>
        <p:spPr>
          <a:xfrm>
            <a:off x="2834640" y="2084831"/>
            <a:ext cx="91440" cy="9144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47288" y="1828800"/>
            <a:ext cx="2651760" cy="3063240"/>
          </a:xfrm>
          <a:prstGeom prst="roundRect">
            <a:avLst>
              <a:gd name="adj" fmla="val 8000"/>
            </a:avLst>
          </a:prstGeom>
          <a:solidFill>
            <a:srgbClr val="FFFFFF"/>
          </a:solidFill>
          <a:ln w="12700">
            <a:solidFill>
              <a:srgbClr val="E1DA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48456" y="2011680"/>
            <a:ext cx="2240280" cy="502920"/>
          </a:xfrm>
          <a:prstGeom prst="rect">
            <a:avLst/>
          </a:prstGeom>
          <a:noFill/>
        </p:spPr>
        <p:txBody>
          <a:bodyPr wrap="square" lIns="0" rIns="0" tIns="0" bIns="0" anchor="t">
            <a:spAutoFit/>
          </a:bodyPr>
          <a:lstStyle/>
          <a:p>
            <a:pPr algn="l">
              <a:lnSpc>
                <a:spcPct val="105000"/>
              </a:lnSpc>
            </a:pPr>
            <a:r>
              <a:rPr sz="2400" b="1" i="0">
                <a:solidFill>
                  <a:srgbClr val="B48A2C"/>
                </a:solidFill>
                <a:latin typeface="Avenir Next"/>
              </a:rPr>
              <a:t>0</a:t>
            </a:r>
          </a:p>
        </p:txBody>
      </p:sp>
      <p:sp>
        <p:nvSpPr>
          <p:cNvPr id="14" name="TextBox 13"/>
          <p:cNvSpPr txBox="1"/>
          <p:nvPr/>
        </p:nvSpPr>
        <p:spPr>
          <a:xfrm>
            <a:off x="3648456" y="2606040"/>
            <a:ext cx="2240280" cy="457200"/>
          </a:xfrm>
          <a:prstGeom prst="rect">
            <a:avLst/>
          </a:prstGeom>
          <a:noFill/>
        </p:spPr>
        <p:txBody>
          <a:bodyPr wrap="square" lIns="0" rIns="0" tIns="0" bIns="0" anchor="t">
            <a:spAutoFit/>
          </a:bodyPr>
          <a:lstStyle/>
          <a:p>
            <a:pPr algn="l">
              <a:lnSpc>
                <a:spcPct val="105000"/>
              </a:lnSpc>
            </a:pPr>
            <a:r>
              <a:rPr sz="800" b="1" i="0">
                <a:solidFill>
                  <a:srgbClr val="5E6A70"/>
                </a:solidFill>
                <a:latin typeface="Avenir Next"/>
              </a:rPr>
              <a:t>EMPTY SENDS</a:t>
            </a:r>
          </a:p>
        </p:txBody>
      </p:sp>
      <p:sp>
        <p:nvSpPr>
          <p:cNvPr id="15" name="TextBox 14"/>
          <p:cNvSpPr txBox="1"/>
          <p:nvPr/>
        </p:nvSpPr>
        <p:spPr>
          <a:xfrm>
            <a:off x="3648456" y="3063240"/>
            <a:ext cx="2194560" cy="1097280"/>
          </a:xfrm>
          <a:prstGeom prst="rect">
            <a:avLst/>
          </a:prstGeom>
          <a:noFill/>
        </p:spPr>
        <p:txBody>
          <a:bodyPr wrap="square" lIns="0" rIns="0" tIns="0" bIns="0" anchor="t">
            <a:spAutoFit/>
          </a:bodyPr>
          <a:lstStyle/>
          <a:p>
            <a:pPr algn="l">
              <a:lnSpc>
                <a:spcPct val="118000"/>
              </a:lnSpc>
            </a:pPr>
            <a:r>
              <a:rPr sz="950" b="0" i="0">
                <a:solidFill>
                  <a:srgbClr val="5E6A70"/>
                </a:solidFill>
                <a:latin typeface="Avenir Next"/>
              </a:rPr>
              <a:t>Empty or unclear speech is blocked. Low confidence is reviewed, not guessed.</a:t>
            </a:r>
          </a:p>
        </p:txBody>
      </p:sp>
      <p:sp>
        <p:nvSpPr>
          <p:cNvPr id="16" name="Oval 15"/>
          <p:cNvSpPr/>
          <p:nvPr/>
        </p:nvSpPr>
        <p:spPr>
          <a:xfrm>
            <a:off x="5687568" y="2084831"/>
            <a:ext cx="91440" cy="91440"/>
          </a:xfrm>
          <a:prstGeom prst="ellipse">
            <a:avLst/>
          </a:prstGeom>
          <a:solidFill>
            <a:srgbClr val="B48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300216" y="1828800"/>
            <a:ext cx="2651760" cy="3063240"/>
          </a:xfrm>
          <a:prstGeom prst="roundRect">
            <a:avLst>
              <a:gd name="adj" fmla="val 8000"/>
            </a:avLst>
          </a:prstGeom>
          <a:solidFill>
            <a:srgbClr val="FFFFFF"/>
          </a:solidFill>
          <a:ln w="12700">
            <a:solidFill>
              <a:srgbClr val="E1DA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01384" y="2011680"/>
            <a:ext cx="2240280" cy="502920"/>
          </a:xfrm>
          <a:prstGeom prst="rect">
            <a:avLst/>
          </a:prstGeom>
          <a:noFill/>
        </p:spPr>
        <p:txBody>
          <a:bodyPr wrap="square" lIns="0" rIns="0" tIns="0" bIns="0" anchor="t">
            <a:spAutoFit/>
          </a:bodyPr>
          <a:lstStyle/>
          <a:p>
            <a:pPr algn="l">
              <a:lnSpc>
                <a:spcPct val="105000"/>
              </a:lnSpc>
            </a:pPr>
            <a:r>
              <a:rPr sz="2400" b="1" i="0">
                <a:solidFill>
                  <a:srgbClr val="0F6B5C"/>
                </a:solidFill>
                <a:latin typeface="Avenir Next"/>
              </a:rPr>
              <a:t>100%</a:t>
            </a:r>
          </a:p>
        </p:txBody>
      </p:sp>
      <p:sp>
        <p:nvSpPr>
          <p:cNvPr id="19" name="TextBox 18"/>
          <p:cNvSpPr txBox="1"/>
          <p:nvPr/>
        </p:nvSpPr>
        <p:spPr>
          <a:xfrm>
            <a:off x="6501384" y="2606040"/>
            <a:ext cx="2240280" cy="457200"/>
          </a:xfrm>
          <a:prstGeom prst="rect">
            <a:avLst/>
          </a:prstGeom>
          <a:noFill/>
        </p:spPr>
        <p:txBody>
          <a:bodyPr wrap="square" lIns="0" rIns="0" tIns="0" bIns="0" anchor="t">
            <a:spAutoFit/>
          </a:bodyPr>
          <a:lstStyle/>
          <a:p>
            <a:pPr algn="l">
              <a:lnSpc>
                <a:spcPct val="105000"/>
              </a:lnSpc>
            </a:pPr>
            <a:r>
              <a:rPr sz="800" b="1" i="0">
                <a:solidFill>
                  <a:srgbClr val="5E6A70"/>
                </a:solidFill>
                <a:latin typeface="Avenir Next"/>
              </a:rPr>
              <a:t>LOCAL PATH</a:t>
            </a:r>
          </a:p>
        </p:txBody>
      </p:sp>
      <p:sp>
        <p:nvSpPr>
          <p:cNvPr id="20" name="TextBox 19"/>
          <p:cNvSpPr txBox="1"/>
          <p:nvPr/>
        </p:nvSpPr>
        <p:spPr>
          <a:xfrm>
            <a:off x="6501384" y="3063240"/>
            <a:ext cx="2194560" cy="1097280"/>
          </a:xfrm>
          <a:prstGeom prst="rect">
            <a:avLst/>
          </a:prstGeom>
          <a:noFill/>
        </p:spPr>
        <p:txBody>
          <a:bodyPr wrap="square" lIns="0" rIns="0" tIns="0" bIns="0" anchor="t">
            <a:spAutoFit/>
          </a:bodyPr>
          <a:lstStyle/>
          <a:p>
            <a:pPr algn="l">
              <a:lnSpc>
                <a:spcPct val="118000"/>
              </a:lnSpc>
            </a:pPr>
            <a:r>
              <a:rPr sz="950" b="0" i="0">
                <a:solidFill>
                  <a:srgbClr val="5E6A70"/>
                </a:solidFill>
                <a:latin typeface="Avenir Next"/>
              </a:rPr>
              <a:t>Phrasebook and models on the device. No internet required; cached fallback.</a:t>
            </a:r>
          </a:p>
        </p:txBody>
      </p:sp>
      <p:sp>
        <p:nvSpPr>
          <p:cNvPr id="21" name="Oval 20"/>
          <p:cNvSpPr/>
          <p:nvPr/>
        </p:nvSpPr>
        <p:spPr>
          <a:xfrm>
            <a:off x="8540496" y="2084831"/>
            <a:ext cx="91440" cy="91440"/>
          </a:xfrm>
          <a:prstGeom prst="ellipse">
            <a:avLst/>
          </a:prstGeom>
          <a:solidFill>
            <a:srgbClr val="0F6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153144" y="1828800"/>
            <a:ext cx="2651760" cy="3063240"/>
          </a:xfrm>
          <a:prstGeom prst="roundRect">
            <a:avLst>
              <a:gd name="adj" fmla="val 8000"/>
            </a:avLst>
          </a:prstGeom>
          <a:solidFill>
            <a:srgbClr val="FFFFFF"/>
          </a:solidFill>
          <a:ln w="12700">
            <a:solidFill>
              <a:srgbClr val="E1DA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54312" y="2011680"/>
            <a:ext cx="2240280" cy="502920"/>
          </a:xfrm>
          <a:prstGeom prst="rect">
            <a:avLst/>
          </a:prstGeom>
          <a:noFill/>
        </p:spPr>
        <p:txBody>
          <a:bodyPr wrap="square" lIns="0" rIns="0" tIns="0" bIns="0" anchor="t">
            <a:spAutoFit/>
          </a:bodyPr>
          <a:lstStyle/>
          <a:p>
            <a:pPr algn="l">
              <a:lnSpc>
                <a:spcPct val="105000"/>
              </a:lnSpc>
            </a:pPr>
            <a:r>
              <a:rPr sz="2400" b="1" i="0">
                <a:solidFill>
                  <a:srgbClr val="0C1F2A"/>
                </a:solidFill>
                <a:latin typeface="Avenir Next"/>
              </a:rPr>
              <a:t>1</a:t>
            </a:r>
          </a:p>
        </p:txBody>
      </p:sp>
      <p:sp>
        <p:nvSpPr>
          <p:cNvPr id="24" name="TextBox 23"/>
          <p:cNvSpPr txBox="1"/>
          <p:nvPr/>
        </p:nvSpPr>
        <p:spPr>
          <a:xfrm>
            <a:off x="9354312" y="2606040"/>
            <a:ext cx="2240280" cy="457200"/>
          </a:xfrm>
          <a:prstGeom prst="rect">
            <a:avLst/>
          </a:prstGeom>
          <a:noFill/>
        </p:spPr>
        <p:txBody>
          <a:bodyPr wrap="square" lIns="0" rIns="0" tIns="0" bIns="0" anchor="t">
            <a:spAutoFit/>
          </a:bodyPr>
          <a:lstStyle/>
          <a:p>
            <a:pPr algn="l">
              <a:lnSpc>
                <a:spcPct val="105000"/>
              </a:lnSpc>
            </a:pPr>
            <a:r>
              <a:rPr sz="800" b="1" i="0">
                <a:solidFill>
                  <a:srgbClr val="5E6A70"/>
                </a:solidFill>
                <a:latin typeface="Avenir Next"/>
              </a:rPr>
              <a:t>AUDIT TRAIL</a:t>
            </a:r>
          </a:p>
        </p:txBody>
      </p:sp>
      <p:sp>
        <p:nvSpPr>
          <p:cNvPr id="25" name="TextBox 24"/>
          <p:cNvSpPr txBox="1"/>
          <p:nvPr/>
        </p:nvSpPr>
        <p:spPr>
          <a:xfrm>
            <a:off x="9354312" y="3063240"/>
            <a:ext cx="2194560" cy="1097280"/>
          </a:xfrm>
          <a:prstGeom prst="rect">
            <a:avLst/>
          </a:prstGeom>
          <a:noFill/>
        </p:spPr>
        <p:txBody>
          <a:bodyPr wrap="square" lIns="0" rIns="0" tIns="0" bIns="0" anchor="t">
            <a:spAutoFit/>
          </a:bodyPr>
          <a:lstStyle/>
          <a:p>
            <a:pPr algn="l">
              <a:lnSpc>
                <a:spcPct val="118000"/>
              </a:lnSpc>
            </a:pPr>
            <a:r>
              <a:rPr sz="950" b="0" i="0">
                <a:solidFill>
                  <a:srgbClr val="5E6A70"/>
                </a:solidFill>
                <a:latin typeface="Avenir Next"/>
              </a:rPr>
              <a:t>Per-request status and latency. Audio is processed in memory, never stored.</a:t>
            </a:r>
          </a:p>
        </p:txBody>
      </p:sp>
      <p:sp>
        <p:nvSpPr>
          <p:cNvPr id="26" name="Oval 25"/>
          <p:cNvSpPr/>
          <p:nvPr/>
        </p:nvSpPr>
        <p:spPr>
          <a:xfrm>
            <a:off x="11393424" y="2084831"/>
            <a:ext cx="91440" cy="91440"/>
          </a:xfrm>
          <a:prstGeom prst="ellipse">
            <a:avLst/>
          </a:prstGeom>
          <a:solidFill>
            <a:srgbClr val="0C1F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94360" y="5138928"/>
            <a:ext cx="11018520" cy="777240"/>
          </a:xfrm>
          <a:prstGeom prst="roundRect">
            <a:avLst>
              <a:gd name="adj" fmla="val 8000"/>
            </a:avLst>
          </a:prstGeom>
          <a:solidFill>
            <a:srgbClr val="0C1F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349240"/>
            <a:ext cx="10424160" cy="274320"/>
          </a:xfrm>
          <a:prstGeom prst="rect">
            <a:avLst/>
          </a:prstGeom>
          <a:noFill/>
        </p:spPr>
        <p:txBody>
          <a:bodyPr wrap="square" lIns="0" rIns="0" tIns="0" bIns="0" anchor="t">
            <a:spAutoFit/>
          </a:bodyPr>
          <a:lstStyle/>
          <a:p>
            <a:pPr algn="l">
              <a:lnSpc>
                <a:spcPct val="105000"/>
              </a:lnSpc>
            </a:pPr>
            <a:r>
              <a:rPr sz="850" b="1" i="0">
                <a:solidFill>
                  <a:srgbClr val="E85A63"/>
                </a:solidFill>
                <a:latin typeface="Avenir Next"/>
              </a:rPr>
              <a:t>HUMAN IN THE LOOP</a:t>
            </a:r>
            <a:r>
              <a:rPr sz="1150" b="1" i="0">
                <a:solidFill>
                  <a:srgbClr val="FFFFFF"/>
                </a:solidFill>
                <a:latin typeface="Avenir Next"/>
              </a:rPr>
              <a:t>   the crew sends the final reply  ·  we never claim delivery without confirmation</a:t>
            </a:r>
          </a:p>
        </p:txBody>
      </p:sp>
      <p:cxnSp>
        <p:nvCxnSpPr>
          <p:cNvPr id="29" name="Connector 28"/>
          <p:cNvCxnSpPr/>
          <p:nvPr/>
        </p:nvCxnSpPr>
        <p:spPr>
          <a:xfrm>
            <a:off x="594360" y="6492240"/>
            <a:ext cx="11000232" cy="0"/>
          </a:xfrm>
          <a:prstGeom prst="line">
            <a:avLst/>
          </a:prstGeom>
          <a:ln w="9525">
            <a:solidFill>
              <a:srgbClr val="E1DACF"/>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94360" y="6556248"/>
            <a:ext cx="6400800" cy="182880"/>
          </a:xfrm>
          <a:prstGeom prst="rect">
            <a:avLst/>
          </a:prstGeom>
          <a:noFill/>
        </p:spPr>
        <p:txBody>
          <a:bodyPr wrap="square" lIns="0" rIns="0" tIns="0" bIns="0" anchor="t">
            <a:spAutoFit/>
          </a:bodyPr>
          <a:lstStyle/>
          <a:p>
            <a:pPr algn="l">
              <a:lnSpc>
                <a:spcPct val="105000"/>
              </a:lnSpc>
            </a:pPr>
            <a:r>
              <a:rPr sz="750" b="1" i="0">
                <a:solidFill>
                  <a:srgbClr val="9AA3A6"/>
                </a:solidFill>
                <a:latin typeface="Avenir Next"/>
              </a:rPr>
              <a:t>CABINBRIDGE  ×  JAPAN AIRLINES</a:t>
            </a:r>
          </a:p>
        </p:txBody>
      </p:sp>
      <p:sp>
        <p:nvSpPr>
          <p:cNvPr id="31" name="TextBox 30"/>
          <p:cNvSpPr txBox="1"/>
          <p:nvPr/>
        </p:nvSpPr>
        <p:spPr>
          <a:xfrm>
            <a:off x="10972800" y="6556248"/>
            <a:ext cx="621792" cy="182880"/>
          </a:xfrm>
          <a:prstGeom prst="rect">
            <a:avLst/>
          </a:prstGeom>
          <a:noFill/>
        </p:spPr>
        <p:txBody>
          <a:bodyPr wrap="square" lIns="0" rIns="0" tIns="0" bIns="0" anchor="t">
            <a:spAutoFit/>
          </a:bodyPr>
          <a:lstStyle/>
          <a:p>
            <a:pPr algn="r">
              <a:lnSpc>
                <a:spcPct val="105000"/>
              </a:lnSpc>
            </a:pPr>
            <a:r>
              <a:rPr sz="750" b="0" i="0">
                <a:solidFill>
                  <a:srgbClr val="9AA3A6"/>
                </a:solidFill>
                <a:latin typeface="Avenir Next"/>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68580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47472"/>
            <a:ext cx="9601200" cy="228600"/>
          </a:xfrm>
          <a:prstGeom prst="rect">
            <a:avLst/>
          </a:prstGeom>
          <a:noFill/>
        </p:spPr>
        <p:txBody>
          <a:bodyPr wrap="square" lIns="0" rIns="0" tIns="0" bIns="0" anchor="t">
            <a:spAutoFit/>
          </a:bodyPr>
          <a:lstStyle/>
          <a:p>
            <a:pPr algn="l">
              <a:lnSpc>
                <a:spcPct val="105000"/>
              </a:lnSpc>
            </a:pPr>
            <a:r>
              <a:rPr sz="850" b="1" i="0">
                <a:solidFill>
                  <a:srgbClr val="C8102E"/>
                </a:solidFill>
                <a:latin typeface="Avenir Next"/>
              </a:rPr>
              <a:t>07  ·  PROOF</a:t>
            </a:r>
          </a:p>
        </p:txBody>
      </p:sp>
      <p:sp>
        <p:nvSpPr>
          <p:cNvPr id="5" name="TextBox 4"/>
          <p:cNvSpPr txBox="1"/>
          <p:nvPr/>
        </p:nvSpPr>
        <p:spPr>
          <a:xfrm>
            <a:off x="576072" y="621792"/>
            <a:ext cx="10972800" cy="1051560"/>
          </a:xfrm>
          <a:prstGeom prst="rect">
            <a:avLst/>
          </a:prstGeom>
          <a:noFill/>
        </p:spPr>
        <p:txBody>
          <a:bodyPr wrap="square" lIns="0" rIns="0" tIns="0" bIns="0" anchor="t">
            <a:spAutoFit/>
          </a:bodyPr>
          <a:lstStyle/>
          <a:p>
            <a:pPr algn="l">
              <a:lnSpc>
                <a:spcPct val="95000"/>
              </a:lnSpc>
            </a:pPr>
            <a:r>
              <a:rPr sz="2800" b="1" i="0">
                <a:solidFill>
                  <a:srgbClr val="0C1F2A"/>
                </a:solidFill>
                <a:latin typeface="Avenir Next"/>
              </a:rPr>
              <a:t>Fast enough to use.
Measured, not estimated.</a:t>
            </a:r>
          </a:p>
        </p:txBody>
      </p:sp>
      <p:sp>
        <p:nvSpPr>
          <p:cNvPr id="6" name="TextBox 5"/>
          <p:cNvSpPr txBox="1"/>
          <p:nvPr/>
        </p:nvSpPr>
        <p:spPr>
          <a:xfrm>
            <a:off x="594360" y="1874519"/>
            <a:ext cx="2194560" cy="228600"/>
          </a:xfrm>
          <a:prstGeom prst="rect">
            <a:avLst/>
          </a:prstGeom>
          <a:noFill/>
        </p:spPr>
        <p:txBody>
          <a:bodyPr wrap="square" lIns="0" rIns="0" tIns="0" bIns="0" anchor="t">
            <a:spAutoFit/>
          </a:bodyPr>
          <a:lstStyle/>
          <a:p>
            <a:pPr algn="l">
              <a:lnSpc>
                <a:spcPct val="105000"/>
              </a:lnSpc>
            </a:pPr>
            <a:r>
              <a:rPr sz="1050" b="1" i="0">
                <a:solidFill>
                  <a:srgbClr val="0C1F2A"/>
                </a:solidFill>
                <a:latin typeface="Avenir Next"/>
              </a:rPr>
              <a:t>Phrasebook match</a:t>
            </a:r>
          </a:p>
        </p:txBody>
      </p:sp>
      <p:sp>
        <p:nvSpPr>
          <p:cNvPr id="7" name="TextBox 6"/>
          <p:cNvSpPr txBox="1"/>
          <p:nvPr/>
        </p:nvSpPr>
        <p:spPr>
          <a:xfrm>
            <a:off x="594360" y="2093976"/>
            <a:ext cx="2194560" cy="182880"/>
          </a:xfrm>
          <a:prstGeom prst="rect">
            <a:avLst/>
          </a:prstGeom>
          <a:noFill/>
        </p:spPr>
        <p:txBody>
          <a:bodyPr wrap="square" lIns="0" rIns="0" tIns="0" bIns="0" anchor="t">
            <a:spAutoFit/>
          </a:bodyPr>
          <a:lstStyle/>
          <a:p>
            <a:pPr algn="l">
              <a:lnSpc>
                <a:spcPct val="105000"/>
              </a:lnSpc>
            </a:pPr>
            <a:r>
              <a:rPr sz="750" b="0" i="0">
                <a:solidFill>
                  <a:srgbClr val="5E6A70"/>
                </a:solidFill>
                <a:latin typeface="Avenir Next"/>
              </a:rPr>
              <a:t>40 curated phrases</a:t>
            </a:r>
          </a:p>
        </p:txBody>
      </p:sp>
      <p:sp>
        <p:nvSpPr>
          <p:cNvPr id="8" name="Rounded Rectangle 7"/>
          <p:cNvSpPr/>
          <p:nvPr/>
        </p:nvSpPr>
        <p:spPr>
          <a:xfrm>
            <a:off x="2926080" y="1920239"/>
            <a:ext cx="7498079" cy="237744"/>
          </a:xfrm>
          <a:prstGeom prst="roundRect">
            <a:avLst>
              <a:gd name="adj" fmla="val 50000"/>
            </a:avLst>
          </a:prstGeom>
          <a:solidFill>
            <a:srgbClr val="EEE9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926080" y="1920239"/>
            <a:ext cx="256032" cy="237744"/>
          </a:xfrm>
          <a:prstGeom prst="roundRect">
            <a:avLst>
              <a:gd name="adj" fmla="val 50000"/>
            </a:avLst>
          </a:prstGeom>
          <a:solidFill>
            <a:srgbClr val="0F6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61320" y="1865376"/>
            <a:ext cx="960120" cy="256032"/>
          </a:xfrm>
          <a:prstGeom prst="rect">
            <a:avLst/>
          </a:prstGeom>
          <a:noFill/>
        </p:spPr>
        <p:txBody>
          <a:bodyPr wrap="square" lIns="0" rIns="0" tIns="0" bIns="0" anchor="t">
            <a:spAutoFit/>
          </a:bodyPr>
          <a:lstStyle/>
          <a:p>
            <a:pPr algn="r">
              <a:lnSpc>
                <a:spcPct val="105000"/>
              </a:lnSpc>
            </a:pPr>
            <a:r>
              <a:rPr sz="1050" b="1" i="0">
                <a:solidFill>
                  <a:srgbClr val="0F6B5C"/>
                </a:solidFill>
                <a:latin typeface="Avenir Next"/>
              </a:rPr>
              <a:t>0 ms</a:t>
            </a:r>
          </a:p>
        </p:txBody>
      </p:sp>
      <p:sp>
        <p:nvSpPr>
          <p:cNvPr id="11" name="TextBox 10"/>
          <p:cNvSpPr txBox="1"/>
          <p:nvPr/>
        </p:nvSpPr>
        <p:spPr>
          <a:xfrm>
            <a:off x="594360" y="2478024"/>
            <a:ext cx="2194560" cy="228600"/>
          </a:xfrm>
          <a:prstGeom prst="rect">
            <a:avLst/>
          </a:prstGeom>
          <a:noFill/>
        </p:spPr>
        <p:txBody>
          <a:bodyPr wrap="square" lIns="0" rIns="0" tIns="0" bIns="0" anchor="t">
            <a:spAutoFit/>
          </a:bodyPr>
          <a:lstStyle/>
          <a:p>
            <a:pPr algn="l">
              <a:lnSpc>
                <a:spcPct val="105000"/>
              </a:lnSpc>
            </a:pPr>
            <a:r>
              <a:rPr sz="1050" b="1" i="0">
                <a:solidFill>
                  <a:srgbClr val="0C1F2A"/>
                </a:solidFill>
                <a:latin typeface="Avenir Next"/>
              </a:rPr>
              <a:t>Argos en ↔ hi</a:t>
            </a:r>
          </a:p>
        </p:txBody>
      </p:sp>
      <p:sp>
        <p:nvSpPr>
          <p:cNvPr id="12" name="TextBox 11"/>
          <p:cNvSpPr txBox="1"/>
          <p:nvPr/>
        </p:nvSpPr>
        <p:spPr>
          <a:xfrm>
            <a:off x="594360" y="2697480"/>
            <a:ext cx="2194560" cy="182880"/>
          </a:xfrm>
          <a:prstGeom prst="rect">
            <a:avLst/>
          </a:prstGeom>
          <a:noFill/>
        </p:spPr>
        <p:txBody>
          <a:bodyPr wrap="square" lIns="0" rIns="0" tIns="0" bIns="0" anchor="t">
            <a:spAutoFit/>
          </a:bodyPr>
          <a:lstStyle/>
          <a:p>
            <a:pPr algn="l">
              <a:lnSpc>
                <a:spcPct val="105000"/>
              </a:lnSpc>
            </a:pPr>
            <a:r>
              <a:rPr sz="750" b="0" i="0">
                <a:solidFill>
                  <a:srgbClr val="5E6A70"/>
                </a:solidFill>
                <a:latin typeface="Avenir Next"/>
              </a:rPr>
              <a:t>local CTranslate2</a:t>
            </a:r>
          </a:p>
        </p:txBody>
      </p:sp>
      <p:sp>
        <p:nvSpPr>
          <p:cNvPr id="13" name="Rounded Rectangle 12"/>
          <p:cNvSpPr/>
          <p:nvPr/>
        </p:nvSpPr>
        <p:spPr>
          <a:xfrm>
            <a:off x="2926080" y="2523744"/>
            <a:ext cx="7498079" cy="237744"/>
          </a:xfrm>
          <a:prstGeom prst="roundRect">
            <a:avLst>
              <a:gd name="adj" fmla="val 50000"/>
            </a:avLst>
          </a:prstGeom>
          <a:solidFill>
            <a:srgbClr val="EEE9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926080" y="2523744"/>
            <a:ext cx="960120" cy="237744"/>
          </a:xfrm>
          <a:prstGeom prst="roundRect">
            <a:avLst>
              <a:gd name="adj" fmla="val 50000"/>
            </a:avLst>
          </a:prstGeom>
          <a:solidFill>
            <a:srgbClr val="0F6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61320" y="2468880"/>
            <a:ext cx="960120" cy="256032"/>
          </a:xfrm>
          <a:prstGeom prst="rect">
            <a:avLst/>
          </a:prstGeom>
          <a:noFill/>
        </p:spPr>
        <p:txBody>
          <a:bodyPr wrap="square" lIns="0" rIns="0" tIns="0" bIns="0" anchor="t">
            <a:spAutoFit/>
          </a:bodyPr>
          <a:lstStyle/>
          <a:p>
            <a:pPr algn="r">
              <a:lnSpc>
                <a:spcPct val="105000"/>
              </a:lnSpc>
            </a:pPr>
            <a:r>
              <a:rPr sz="1050" b="1" i="0">
                <a:solidFill>
                  <a:srgbClr val="0F6B5C"/>
                </a:solidFill>
                <a:latin typeface="Avenir Next"/>
              </a:rPr>
              <a:t>60 ms</a:t>
            </a:r>
          </a:p>
        </p:txBody>
      </p:sp>
      <p:sp>
        <p:nvSpPr>
          <p:cNvPr id="16" name="TextBox 15"/>
          <p:cNvSpPr txBox="1"/>
          <p:nvPr/>
        </p:nvSpPr>
        <p:spPr>
          <a:xfrm>
            <a:off x="594360" y="3081528"/>
            <a:ext cx="2194560" cy="228600"/>
          </a:xfrm>
          <a:prstGeom prst="rect">
            <a:avLst/>
          </a:prstGeom>
          <a:noFill/>
        </p:spPr>
        <p:txBody>
          <a:bodyPr wrap="square" lIns="0" rIns="0" tIns="0" bIns="0" anchor="t">
            <a:spAutoFit/>
          </a:bodyPr>
          <a:lstStyle/>
          <a:p>
            <a:pPr algn="l">
              <a:lnSpc>
                <a:spcPct val="105000"/>
              </a:lnSpc>
            </a:pPr>
            <a:r>
              <a:rPr sz="1050" b="1" i="0">
                <a:solidFill>
                  <a:srgbClr val="0C1F2A"/>
                </a:solidFill>
                <a:latin typeface="Avenir Next"/>
              </a:rPr>
              <a:t>Qwen 7B ja ↔ en</a:t>
            </a:r>
          </a:p>
        </p:txBody>
      </p:sp>
      <p:sp>
        <p:nvSpPr>
          <p:cNvPr id="17" name="TextBox 16"/>
          <p:cNvSpPr txBox="1"/>
          <p:nvPr/>
        </p:nvSpPr>
        <p:spPr>
          <a:xfrm>
            <a:off x="594360" y="3300984"/>
            <a:ext cx="2194560" cy="182880"/>
          </a:xfrm>
          <a:prstGeom prst="rect">
            <a:avLst/>
          </a:prstGeom>
          <a:noFill/>
        </p:spPr>
        <p:txBody>
          <a:bodyPr wrap="square" lIns="0" rIns="0" tIns="0" bIns="0" anchor="t">
            <a:spAutoFit/>
          </a:bodyPr>
          <a:lstStyle/>
          <a:p>
            <a:pPr algn="l">
              <a:lnSpc>
                <a:spcPct val="105000"/>
              </a:lnSpc>
            </a:pPr>
            <a:r>
              <a:rPr sz="750" b="0" i="0">
                <a:solidFill>
                  <a:srgbClr val="5E6A70"/>
                </a:solidFill>
                <a:latin typeface="Avenir Next"/>
              </a:rPr>
              <a:t>local Ollama</a:t>
            </a:r>
          </a:p>
        </p:txBody>
      </p:sp>
      <p:sp>
        <p:nvSpPr>
          <p:cNvPr id="18" name="Rounded Rectangle 17"/>
          <p:cNvSpPr/>
          <p:nvPr/>
        </p:nvSpPr>
        <p:spPr>
          <a:xfrm>
            <a:off x="2926080" y="3127248"/>
            <a:ext cx="7498079" cy="237744"/>
          </a:xfrm>
          <a:prstGeom prst="roundRect">
            <a:avLst>
              <a:gd name="adj" fmla="val 50000"/>
            </a:avLst>
          </a:prstGeom>
          <a:solidFill>
            <a:srgbClr val="EEE9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2926080" y="3127248"/>
            <a:ext cx="2834640" cy="237744"/>
          </a:xfrm>
          <a:prstGeom prst="roundRect">
            <a:avLst>
              <a:gd name="adj" fmla="val 5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61320" y="3072384"/>
            <a:ext cx="960120" cy="256032"/>
          </a:xfrm>
          <a:prstGeom prst="rect">
            <a:avLst/>
          </a:prstGeom>
          <a:noFill/>
        </p:spPr>
        <p:txBody>
          <a:bodyPr wrap="square" lIns="0" rIns="0" tIns="0" bIns="0" anchor="t">
            <a:spAutoFit/>
          </a:bodyPr>
          <a:lstStyle/>
          <a:p>
            <a:pPr algn="r">
              <a:lnSpc>
                <a:spcPct val="105000"/>
              </a:lnSpc>
            </a:pPr>
            <a:r>
              <a:rPr sz="1050" b="1" i="0">
                <a:solidFill>
                  <a:srgbClr val="C8102E"/>
                </a:solidFill>
                <a:latin typeface="Avenir Next"/>
              </a:rPr>
              <a:t>0.7 s</a:t>
            </a:r>
          </a:p>
        </p:txBody>
      </p:sp>
      <p:sp>
        <p:nvSpPr>
          <p:cNvPr id="21" name="TextBox 20"/>
          <p:cNvSpPr txBox="1"/>
          <p:nvPr/>
        </p:nvSpPr>
        <p:spPr>
          <a:xfrm>
            <a:off x="594360" y="3685031"/>
            <a:ext cx="2194560" cy="228600"/>
          </a:xfrm>
          <a:prstGeom prst="rect">
            <a:avLst/>
          </a:prstGeom>
          <a:noFill/>
        </p:spPr>
        <p:txBody>
          <a:bodyPr wrap="square" lIns="0" rIns="0" tIns="0" bIns="0" anchor="t">
            <a:spAutoFit/>
          </a:bodyPr>
          <a:lstStyle/>
          <a:p>
            <a:pPr algn="l">
              <a:lnSpc>
                <a:spcPct val="105000"/>
              </a:lnSpc>
            </a:pPr>
            <a:r>
              <a:rPr sz="1050" b="1" i="0">
                <a:solidFill>
                  <a:srgbClr val="0C1F2A"/>
                </a:solidFill>
                <a:latin typeface="Avenir Next"/>
              </a:rPr>
              <a:t>Whisper small</a:t>
            </a:r>
          </a:p>
        </p:txBody>
      </p:sp>
      <p:sp>
        <p:nvSpPr>
          <p:cNvPr id="22" name="TextBox 21"/>
          <p:cNvSpPr txBox="1"/>
          <p:nvPr/>
        </p:nvSpPr>
        <p:spPr>
          <a:xfrm>
            <a:off x="594360" y="3904487"/>
            <a:ext cx="2194560" cy="182880"/>
          </a:xfrm>
          <a:prstGeom prst="rect">
            <a:avLst/>
          </a:prstGeom>
          <a:noFill/>
        </p:spPr>
        <p:txBody>
          <a:bodyPr wrap="square" lIns="0" rIns="0" tIns="0" bIns="0" anchor="t">
            <a:spAutoFit/>
          </a:bodyPr>
          <a:lstStyle/>
          <a:p>
            <a:pPr algn="l">
              <a:lnSpc>
                <a:spcPct val="105000"/>
              </a:lnSpc>
            </a:pPr>
            <a:r>
              <a:rPr sz="750" b="0" i="0">
                <a:solidFill>
                  <a:srgbClr val="5E6A70"/>
                </a:solidFill>
                <a:latin typeface="Avenir Next"/>
              </a:rPr>
              <a:t>2 s Japanese clip</a:t>
            </a:r>
          </a:p>
        </p:txBody>
      </p:sp>
      <p:sp>
        <p:nvSpPr>
          <p:cNvPr id="23" name="Rounded Rectangle 22"/>
          <p:cNvSpPr/>
          <p:nvPr/>
        </p:nvSpPr>
        <p:spPr>
          <a:xfrm>
            <a:off x="2926080" y="3730751"/>
            <a:ext cx="7498079" cy="237744"/>
          </a:xfrm>
          <a:prstGeom prst="roundRect">
            <a:avLst>
              <a:gd name="adj" fmla="val 50000"/>
            </a:avLst>
          </a:prstGeom>
          <a:solidFill>
            <a:srgbClr val="EEE9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926080" y="3730751"/>
            <a:ext cx="4297680" cy="237744"/>
          </a:xfrm>
          <a:prstGeom prst="roundRect">
            <a:avLst>
              <a:gd name="adj" fmla="val 50000"/>
            </a:avLst>
          </a:prstGeom>
          <a:solidFill>
            <a:srgbClr val="B48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61320" y="3675887"/>
            <a:ext cx="960120" cy="256032"/>
          </a:xfrm>
          <a:prstGeom prst="rect">
            <a:avLst/>
          </a:prstGeom>
          <a:noFill/>
        </p:spPr>
        <p:txBody>
          <a:bodyPr wrap="square" lIns="0" rIns="0" tIns="0" bIns="0" anchor="t">
            <a:spAutoFit/>
          </a:bodyPr>
          <a:lstStyle/>
          <a:p>
            <a:pPr algn="r">
              <a:lnSpc>
                <a:spcPct val="105000"/>
              </a:lnSpc>
            </a:pPr>
            <a:r>
              <a:rPr sz="1050" b="1" i="0">
                <a:solidFill>
                  <a:srgbClr val="B48A2C"/>
                </a:solidFill>
                <a:latin typeface="Avenir Next"/>
              </a:rPr>
              <a:t>1.2 s</a:t>
            </a:r>
          </a:p>
        </p:txBody>
      </p:sp>
      <p:sp>
        <p:nvSpPr>
          <p:cNvPr id="26" name="TextBox 25"/>
          <p:cNvSpPr txBox="1"/>
          <p:nvPr/>
        </p:nvSpPr>
        <p:spPr>
          <a:xfrm>
            <a:off x="594360" y="4288536"/>
            <a:ext cx="2194560" cy="228600"/>
          </a:xfrm>
          <a:prstGeom prst="rect">
            <a:avLst/>
          </a:prstGeom>
          <a:noFill/>
        </p:spPr>
        <p:txBody>
          <a:bodyPr wrap="square" lIns="0" rIns="0" tIns="0" bIns="0" anchor="t">
            <a:spAutoFit/>
          </a:bodyPr>
          <a:lstStyle/>
          <a:p>
            <a:pPr algn="l">
              <a:lnSpc>
                <a:spcPct val="105000"/>
              </a:lnSpc>
            </a:pPr>
            <a:r>
              <a:rPr sz="1050" b="1" i="0">
                <a:solidFill>
                  <a:srgbClr val="0C1F2A"/>
                </a:solidFill>
                <a:latin typeface="Avenir Next"/>
              </a:rPr>
              <a:t>Whisper turbo</a:t>
            </a:r>
          </a:p>
        </p:txBody>
      </p:sp>
      <p:sp>
        <p:nvSpPr>
          <p:cNvPr id="27" name="TextBox 26"/>
          <p:cNvSpPr txBox="1"/>
          <p:nvPr/>
        </p:nvSpPr>
        <p:spPr>
          <a:xfrm>
            <a:off x="594360" y="4507992"/>
            <a:ext cx="2194560" cy="182880"/>
          </a:xfrm>
          <a:prstGeom prst="rect">
            <a:avLst/>
          </a:prstGeom>
          <a:noFill/>
        </p:spPr>
        <p:txBody>
          <a:bodyPr wrap="square" lIns="0" rIns="0" tIns="0" bIns="0" anchor="t">
            <a:spAutoFit/>
          </a:bodyPr>
          <a:lstStyle/>
          <a:p>
            <a:pPr algn="l">
              <a:lnSpc>
                <a:spcPct val="105000"/>
              </a:lnSpc>
            </a:pPr>
            <a:r>
              <a:rPr sz="750" b="0" i="0">
                <a:solidFill>
                  <a:srgbClr val="5E6A70"/>
                </a:solidFill>
                <a:latin typeface="Avenir Next"/>
              </a:rPr>
              <a:t>only when confidence is low</a:t>
            </a:r>
          </a:p>
        </p:txBody>
      </p:sp>
      <p:sp>
        <p:nvSpPr>
          <p:cNvPr id="28" name="Rounded Rectangle 27"/>
          <p:cNvSpPr/>
          <p:nvPr/>
        </p:nvSpPr>
        <p:spPr>
          <a:xfrm>
            <a:off x="2926080" y="4334255"/>
            <a:ext cx="7498079" cy="237744"/>
          </a:xfrm>
          <a:prstGeom prst="roundRect">
            <a:avLst>
              <a:gd name="adj" fmla="val 50000"/>
            </a:avLst>
          </a:prstGeom>
          <a:solidFill>
            <a:srgbClr val="EEE9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2926080" y="4334255"/>
            <a:ext cx="6492240" cy="237744"/>
          </a:xfrm>
          <a:prstGeom prst="roundRect">
            <a:avLst>
              <a:gd name="adj" fmla="val 50000"/>
            </a:avLst>
          </a:prstGeom>
          <a:solidFill>
            <a:srgbClr val="5E6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561320" y="4279392"/>
            <a:ext cx="960120" cy="256032"/>
          </a:xfrm>
          <a:prstGeom prst="rect">
            <a:avLst/>
          </a:prstGeom>
          <a:noFill/>
        </p:spPr>
        <p:txBody>
          <a:bodyPr wrap="square" lIns="0" rIns="0" tIns="0" bIns="0" anchor="t">
            <a:spAutoFit/>
          </a:bodyPr>
          <a:lstStyle/>
          <a:p>
            <a:pPr algn="r">
              <a:lnSpc>
                <a:spcPct val="105000"/>
              </a:lnSpc>
            </a:pPr>
            <a:r>
              <a:rPr sz="1050" b="1" i="0">
                <a:solidFill>
                  <a:srgbClr val="5E6A70"/>
                </a:solidFill>
                <a:latin typeface="Avenir Next"/>
              </a:rPr>
              <a:t>5.5 s</a:t>
            </a:r>
          </a:p>
        </p:txBody>
      </p:sp>
      <p:sp>
        <p:nvSpPr>
          <p:cNvPr id="31" name="Rounded Rectangle 30"/>
          <p:cNvSpPr/>
          <p:nvPr/>
        </p:nvSpPr>
        <p:spPr>
          <a:xfrm>
            <a:off x="594360" y="5138928"/>
            <a:ext cx="5394960" cy="658368"/>
          </a:xfrm>
          <a:prstGeom prst="roundRect">
            <a:avLst>
              <a:gd name="adj" fmla="val 8000"/>
            </a:avLst>
          </a:prstGeom>
          <a:solidFill>
            <a:srgbClr val="F9E9EB"/>
          </a:solidFill>
          <a:ln w="12700">
            <a:solidFill>
              <a:srgbClr val="E85A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7240" y="5321808"/>
            <a:ext cx="4937760" cy="228600"/>
          </a:xfrm>
          <a:prstGeom prst="rect">
            <a:avLst/>
          </a:prstGeom>
          <a:noFill/>
        </p:spPr>
        <p:txBody>
          <a:bodyPr wrap="square" lIns="0" rIns="0" tIns="0" bIns="0" anchor="t">
            <a:spAutoFit/>
          </a:bodyPr>
          <a:lstStyle/>
          <a:p>
            <a:pPr algn="l">
              <a:lnSpc>
                <a:spcPct val="105000"/>
              </a:lnSpc>
            </a:pPr>
            <a:r>
              <a:rPr sz="800" b="1" i="0">
                <a:solidFill>
                  <a:srgbClr val="C8102E"/>
                </a:solidFill>
                <a:latin typeface="Avenir Next"/>
              </a:rPr>
              <a:t>COLD START: </a:t>
            </a:r>
            <a:r>
              <a:rPr sz="1000" b="1" i="0">
                <a:solidFill>
                  <a:srgbClr val="0C1F2A"/>
                </a:solidFill>
                <a:latin typeface="Avenir Next"/>
              </a:rPr>
              <a:t>24 h warm model + persistent phrase cache.</a:t>
            </a:r>
          </a:p>
        </p:txBody>
      </p:sp>
      <p:sp>
        <p:nvSpPr>
          <p:cNvPr id="33" name="Rounded Rectangle 32"/>
          <p:cNvSpPr/>
          <p:nvPr/>
        </p:nvSpPr>
        <p:spPr>
          <a:xfrm>
            <a:off x="6172200" y="5138928"/>
            <a:ext cx="5440680" cy="658368"/>
          </a:xfrm>
          <a:prstGeom prst="roundRect">
            <a:avLst>
              <a:gd name="adj" fmla="val 8000"/>
            </a:avLst>
          </a:prstGeom>
          <a:solidFill>
            <a:srgbClr val="E8F1EE"/>
          </a:solidFill>
          <a:ln w="12700">
            <a:solidFill>
              <a:srgbClr val="3E9B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55080" y="5321808"/>
            <a:ext cx="4937760" cy="228600"/>
          </a:xfrm>
          <a:prstGeom prst="rect">
            <a:avLst/>
          </a:prstGeom>
          <a:noFill/>
        </p:spPr>
        <p:txBody>
          <a:bodyPr wrap="square" lIns="0" rIns="0" tIns="0" bIns="0" anchor="t">
            <a:spAutoFit/>
          </a:bodyPr>
          <a:lstStyle/>
          <a:p>
            <a:pPr algn="l">
              <a:lnSpc>
                <a:spcPct val="105000"/>
              </a:lnSpc>
            </a:pPr>
            <a:r>
              <a:rPr sz="800" b="1" i="0">
                <a:solidFill>
                  <a:srgbClr val="0F6B5C"/>
                </a:solidFill>
                <a:latin typeface="Avenir Next"/>
              </a:rPr>
              <a:t>END-TO-END: </a:t>
            </a:r>
            <a:r>
              <a:rPr sz="1000" b="1" i="0">
                <a:solidFill>
                  <a:srgbClr val="0C1F2A"/>
                </a:solidFill>
                <a:latin typeface="Avenir Next"/>
              </a:rPr>
              <a:t>~1.5–2.5 s per voice turn, warm.</a:t>
            </a:r>
          </a:p>
        </p:txBody>
      </p:sp>
      <p:sp>
        <p:nvSpPr>
          <p:cNvPr id="35" name="TextBox 34"/>
          <p:cNvSpPr txBox="1"/>
          <p:nvPr/>
        </p:nvSpPr>
        <p:spPr>
          <a:xfrm>
            <a:off x="594360" y="5989320"/>
            <a:ext cx="10972800" cy="228600"/>
          </a:xfrm>
          <a:prstGeom prst="rect">
            <a:avLst/>
          </a:prstGeom>
          <a:noFill/>
        </p:spPr>
        <p:txBody>
          <a:bodyPr wrap="square" lIns="0" rIns="0" tIns="0" bIns="0" anchor="t">
            <a:spAutoFit/>
          </a:bodyPr>
          <a:lstStyle/>
          <a:p>
            <a:pPr algn="l">
              <a:lnSpc>
                <a:spcPct val="105000"/>
              </a:lnSpc>
            </a:pPr>
            <a:r>
              <a:rPr sz="800" b="0" i="0">
                <a:solidFill>
                  <a:srgbClr val="5E6A70"/>
                </a:solidFill>
                <a:latin typeface="Avenir Next"/>
              </a:rPr>
              <a:t>Bar length is illustrative; labels are measured. No formal WER/COMET yet — the pilot will measure in cabin noise.</a:t>
            </a:r>
          </a:p>
        </p:txBody>
      </p:sp>
      <p:cxnSp>
        <p:nvCxnSpPr>
          <p:cNvPr id="36" name="Connector 35"/>
          <p:cNvCxnSpPr/>
          <p:nvPr/>
        </p:nvCxnSpPr>
        <p:spPr>
          <a:xfrm>
            <a:off x="594360" y="6492240"/>
            <a:ext cx="11000232" cy="0"/>
          </a:xfrm>
          <a:prstGeom prst="line">
            <a:avLst/>
          </a:prstGeom>
          <a:ln w="9525">
            <a:solidFill>
              <a:srgbClr val="E1DACF"/>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94360" y="6556248"/>
            <a:ext cx="6400800" cy="182880"/>
          </a:xfrm>
          <a:prstGeom prst="rect">
            <a:avLst/>
          </a:prstGeom>
          <a:noFill/>
        </p:spPr>
        <p:txBody>
          <a:bodyPr wrap="square" lIns="0" rIns="0" tIns="0" bIns="0" anchor="t">
            <a:spAutoFit/>
          </a:bodyPr>
          <a:lstStyle/>
          <a:p>
            <a:pPr algn="l">
              <a:lnSpc>
                <a:spcPct val="105000"/>
              </a:lnSpc>
            </a:pPr>
            <a:r>
              <a:rPr sz="750" b="1" i="0">
                <a:solidFill>
                  <a:srgbClr val="9AA3A6"/>
                </a:solidFill>
                <a:latin typeface="Avenir Next"/>
              </a:rPr>
              <a:t>CABINBRIDGE  ×  JAPAN AIRLINES</a:t>
            </a:r>
          </a:p>
        </p:txBody>
      </p:sp>
      <p:sp>
        <p:nvSpPr>
          <p:cNvPr id="38" name="TextBox 37"/>
          <p:cNvSpPr txBox="1"/>
          <p:nvPr/>
        </p:nvSpPr>
        <p:spPr>
          <a:xfrm>
            <a:off x="10972800" y="6556248"/>
            <a:ext cx="621792" cy="182880"/>
          </a:xfrm>
          <a:prstGeom prst="rect">
            <a:avLst/>
          </a:prstGeom>
          <a:noFill/>
        </p:spPr>
        <p:txBody>
          <a:bodyPr wrap="square" lIns="0" rIns="0" tIns="0" bIns="0" anchor="t">
            <a:spAutoFit/>
          </a:bodyPr>
          <a:lstStyle/>
          <a:p>
            <a:pPr algn="r">
              <a:lnSpc>
                <a:spcPct val="105000"/>
              </a:lnSpc>
            </a:pPr>
            <a:r>
              <a:rPr sz="750" b="0" i="0">
                <a:solidFill>
                  <a:srgbClr val="9AA3A6"/>
                </a:solidFill>
                <a:latin typeface="Avenir Next"/>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68580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47472"/>
            <a:ext cx="9601200" cy="228600"/>
          </a:xfrm>
          <a:prstGeom prst="rect">
            <a:avLst/>
          </a:prstGeom>
          <a:noFill/>
        </p:spPr>
        <p:txBody>
          <a:bodyPr wrap="square" lIns="0" rIns="0" tIns="0" bIns="0" anchor="t">
            <a:spAutoFit/>
          </a:bodyPr>
          <a:lstStyle/>
          <a:p>
            <a:pPr algn="l">
              <a:lnSpc>
                <a:spcPct val="105000"/>
              </a:lnSpc>
            </a:pPr>
            <a:r>
              <a:rPr sz="850" b="1" i="0">
                <a:solidFill>
                  <a:srgbClr val="C8102E"/>
                </a:solidFill>
                <a:latin typeface="Avenir Next"/>
              </a:rPr>
              <a:t>08  ·  WHY US</a:t>
            </a:r>
          </a:p>
        </p:txBody>
      </p:sp>
      <p:sp>
        <p:nvSpPr>
          <p:cNvPr id="5" name="TextBox 4"/>
          <p:cNvSpPr txBox="1"/>
          <p:nvPr/>
        </p:nvSpPr>
        <p:spPr>
          <a:xfrm>
            <a:off x="576072" y="621792"/>
            <a:ext cx="10972800" cy="1051560"/>
          </a:xfrm>
          <a:prstGeom prst="rect">
            <a:avLst/>
          </a:prstGeom>
          <a:noFill/>
        </p:spPr>
        <p:txBody>
          <a:bodyPr wrap="square" lIns="0" rIns="0" tIns="0" bIns="0" anchor="t">
            <a:spAutoFit/>
          </a:bodyPr>
          <a:lstStyle/>
          <a:p>
            <a:pPr algn="l">
              <a:lnSpc>
                <a:spcPct val="95000"/>
              </a:lnSpc>
            </a:pPr>
            <a:r>
              <a:rPr sz="2800" b="1" i="0">
                <a:solidFill>
                  <a:srgbClr val="0C1F2A"/>
                </a:solidFill>
                <a:latin typeface="Avenir Next"/>
              </a:rPr>
              <a:t>Keep Google Translate for the word.
Use CabinBridge for the cabin.</a:t>
            </a:r>
          </a:p>
        </p:txBody>
      </p:sp>
      <p:sp>
        <p:nvSpPr>
          <p:cNvPr id="6" name="Rounded Rectangle 5"/>
          <p:cNvSpPr/>
          <p:nvPr/>
        </p:nvSpPr>
        <p:spPr>
          <a:xfrm>
            <a:off x="594360" y="1783080"/>
            <a:ext cx="5349240" cy="822960"/>
          </a:xfrm>
          <a:prstGeom prst="roundRect">
            <a:avLst>
              <a:gd name="adj" fmla="val 10000"/>
            </a:avLst>
          </a:prstGeom>
          <a:solidFill>
            <a:srgbClr val="FFFFFF"/>
          </a:solidFill>
          <a:ln w="12700">
            <a:solidFill>
              <a:srgbClr val="E1DA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938528"/>
            <a:ext cx="4389120" cy="201168"/>
          </a:xfrm>
          <a:prstGeom prst="rect">
            <a:avLst/>
          </a:prstGeom>
          <a:noFill/>
        </p:spPr>
        <p:txBody>
          <a:bodyPr wrap="square" lIns="0" rIns="0" tIns="0" bIns="0" anchor="t">
            <a:spAutoFit/>
          </a:bodyPr>
          <a:lstStyle/>
          <a:p>
            <a:pPr algn="l">
              <a:lnSpc>
                <a:spcPct val="105000"/>
              </a:lnSpc>
            </a:pPr>
            <a:r>
              <a:rPr sz="900" b="1" i="0">
                <a:solidFill>
                  <a:srgbClr val="5E6A70"/>
                </a:solidFill>
                <a:latin typeface="Avenir Next"/>
              </a:rPr>
              <a:t>GOOGLE TRANSLATE</a:t>
            </a:r>
          </a:p>
        </p:txBody>
      </p:sp>
      <p:sp>
        <p:nvSpPr>
          <p:cNvPr id="8" name="TextBox 7"/>
          <p:cNvSpPr txBox="1"/>
          <p:nvPr/>
        </p:nvSpPr>
        <p:spPr>
          <a:xfrm>
            <a:off x="822960" y="2176272"/>
            <a:ext cx="4389120" cy="274320"/>
          </a:xfrm>
          <a:prstGeom prst="rect">
            <a:avLst/>
          </a:prstGeom>
          <a:noFill/>
        </p:spPr>
        <p:txBody>
          <a:bodyPr wrap="square" lIns="0" rIns="0" tIns="0" bIns="0" anchor="t">
            <a:spAutoFit/>
          </a:bodyPr>
          <a:lstStyle/>
          <a:p>
            <a:pPr algn="l">
              <a:lnSpc>
                <a:spcPct val="105000"/>
              </a:lnSpc>
            </a:pPr>
            <a:r>
              <a:rPr sz="1200" b="1" i="0">
                <a:solidFill>
                  <a:srgbClr val="0C1F2A"/>
                </a:solidFill>
                <a:latin typeface="Avenir Next"/>
              </a:rPr>
              <a:t>A great general translator.</a:t>
            </a:r>
          </a:p>
        </p:txBody>
      </p:sp>
      <p:sp>
        <p:nvSpPr>
          <p:cNvPr id="9" name="Rounded Rectangle 8"/>
          <p:cNvSpPr/>
          <p:nvPr/>
        </p:nvSpPr>
        <p:spPr>
          <a:xfrm>
            <a:off x="6217920" y="1783080"/>
            <a:ext cx="5394960" cy="822960"/>
          </a:xfrm>
          <a:prstGeom prst="roundRect">
            <a:avLst>
              <a:gd name="adj" fmla="val 10000"/>
            </a:avLst>
          </a:prstGeom>
          <a:solidFill>
            <a:srgbClr val="F9E9EB"/>
          </a:solidFill>
          <a:ln w="12700">
            <a:solidFill>
              <a:srgbClr val="E85A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938528"/>
            <a:ext cx="4389120" cy="201168"/>
          </a:xfrm>
          <a:prstGeom prst="rect">
            <a:avLst/>
          </a:prstGeom>
          <a:noFill/>
        </p:spPr>
        <p:txBody>
          <a:bodyPr wrap="square" lIns="0" rIns="0" tIns="0" bIns="0" anchor="t">
            <a:spAutoFit/>
          </a:bodyPr>
          <a:lstStyle/>
          <a:p>
            <a:pPr algn="l">
              <a:lnSpc>
                <a:spcPct val="105000"/>
              </a:lnSpc>
            </a:pPr>
            <a:r>
              <a:rPr sz="900" b="1" i="0">
                <a:solidFill>
                  <a:srgbClr val="C8102E"/>
                </a:solidFill>
                <a:latin typeface="Avenir Next"/>
              </a:rPr>
              <a:t>CABINBRIDGE</a:t>
            </a:r>
          </a:p>
        </p:txBody>
      </p:sp>
      <p:sp>
        <p:nvSpPr>
          <p:cNvPr id="11" name="TextBox 10"/>
          <p:cNvSpPr txBox="1"/>
          <p:nvPr/>
        </p:nvSpPr>
        <p:spPr>
          <a:xfrm>
            <a:off x="6446520" y="2176272"/>
            <a:ext cx="4754880" cy="274320"/>
          </a:xfrm>
          <a:prstGeom prst="rect">
            <a:avLst/>
          </a:prstGeom>
          <a:noFill/>
        </p:spPr>
        <p:txBody>
          <a:bodyPr wrap="square" lIns="0" rIns="0" tIns="0" bIns="0" anchor="t">
            <a:spAutoFit/>
          </a:bodyPr>
          <a:lstStyle/>
          <a:p>
            <a:pPr algn="l">
              <a:lnSpc>
                <a:spcPct val="105000"/>
              </a:lnSpc>
            </a:pPr>
            <a:r>
              <a:rPr sz="1200" b="1" i="0">
                <a:solidFill>
                  <a:srgbClr val="0C1F2A"/>
                </a:solidFill>
                <a:latin typeface="Avenir Next"/>
              </a:rPr>
              <a:t>A cabin communication system.</a:t>
            </a:r>
          </a:p>
        </p:txBody>
      </p:sp>
      <p:sp>
        <p:nvSpPr>
          <p:cNvPr id="12" name="Rectangle 11"/>
          <p:cNvSpPr/>
          <p:nvPr/>
        </p:nvSpPr>
        <p:spPr>
          <a:xfrm>
            <a:off x="594360" y="2816352"/>
            <a:ext cx="11018520" cy="365760"/>
          </a:xfrm>
          <a:prstGeom prst="rect">
            <a:avLst/>
          </a:prstGeom>
          <a:solidFill>
            <a:srgbClr val="F1E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83280" y="2834640"/>
            <a:ext cx="5303520" cy="237744"/>
          </a:xfrm>
          <a:prstGeom prst="rect">
            <a:avLst/>
          </a:prstGeom>
          <a:noFill/>
        </p:spPr>
        <p:txBody>
          <a:bodyPr wrap="square" lIns="0" rIns="0" tIns="0" bIns="0" anchor="t">
            <a:spAutoFit/>
          </a:bodyPr>
          <a:lstStyle/>
          <a:p>
            <a:pPr algn="l">
              <a:lnSpc>
                <a:spcPct val="105000"/>
              </a:lnSpc>
            </a:pPr>
            <a:r>
              <a:rPr sz="1000" b="1" i="0">
                <a:solidFill>
                  <a:srgbClr val="0C1F2A"/>
                </a:solidFill>
                <a:latin typeface="Avenir Next"/>
              </a:rPr>
              <a:t>Translate a sentence</a:t>
            </a:r>
          </a:p>
        </p:txBody>
      </p:sp>
      <p:sp>
        <p:nvSpPr>
          <p:cNvPr id="14" name="Oval 13"/>
          <p:cNvSpPr/>
          <p:nvPr/>
        </p:nvSpPr>
        <p:spPr>
          <a:xfrm>
            <a:off x="1874519" y="2852928"/>
            <a:ext cx="237744" cy="237744"/>
          </a:xfrm>
          <a:prstGeom prst="ellipse">
            <a:avLst/>
          </a:prstGeom>
          <a:solidFill>
            <a:srgbClr val="0F6B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800" b="1">
                <a:solidFill>
                  <a:srgbClr val="FFFFFF"/>
                </a:solidFill>
                <a:latin typeface="Avenir Next"/>
              </a:rPr>
              <a:t>✓</a:t>
            </a:r>
          </a:p>
        </p:txBody>
      </p:sp>
      <p:sp>
        <p:nvSpPr>
          <p:cNvPr id="15" name="Oval 14"/>
          <p:cNvSpPr/>
          <p:nvPr/>
        </p:nvSpPr>
        <p:spPr>
          <a:xfrm>
            <a:off x="9692640" y="2852928"/>
            <a:ext cx="237744" cy="237744"/>
          </a:xfrm>
          <a:prstGeom prst="ellipse">
            <a:avLst/>
          </a:prstGeom>
          <a:solidFill>
            <a:srgbClr val="0F6B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800" b="1">
                <a:solidFill>
                  <a:srgbClr val="FFFFFF"/>
                </a:solidFill>
                <a:latin typeface="Avenir Next"/>
              </a:rPr>
              <a:t>✓</a:t>
            </a:r>
          </a:p>
        </p:txBody>
      </p:sp>
      <p:sp>
        <p:nvSpPr>
          <p:cNvPr id="16" name="TextBox 15"/>
          <p:cNvSpPr txBox="1"/>
          <p:nvPr/>
        </p:nvSpPr>
        <p:spPr>
          <a:xfrm>
            <a:off x="3383280" y="3227832"/>
            <a:ext cx="5303520" cy="237744"/>
          </a:xfrm>
          <a:prstGeom prst="rect">
            <a:avLst/>
          </a:prstGeom>
          <a:noFill/>
        </p:spPr>
        <p:txBody>
          <a:bodyPr wrap="square" lIns="0" rIns="0" tIns="0" bIns="0" anchor="t">
            <a:spAutoFit/>
          </a:bodyPr>
          <a:lstStyle/>
          <a:p>
            <a:pPr algn="l">
              <a:lnSpc>
                <a:spcPct val="105000"/>
              </a:lnSpc>
            </a:pPr>
            <a:r>
              <a:rPr sz="1000" b="0" i="0">
                <a:solidFill>
                  <a:srgbClr val="0C1F2A"/>
                </a:solidFill>
                <a:latin typeface="Avenir Next"/>
              </a:rPr>
              <a:t>Crew queue + seat context</a:t>
            </a:r>
          </a:p>
        </p:txBody>
      </p:sp>
      <p:sp>
        <p:nvSpPr>
          <p:cNvPr id="17" name="Oval 16"/>
          <p:cNvSpPr/>
          <p:nvPr/>
        </p:nvSpPr>
        <p:spPr>
          <a:xfrm>
            <a:off x="1874519" y="3246120"/>
            <a:ext cx="237744" cy="237744"/>
          </a:xfrm>
          <a:prstGeom prst="ellipse">
            <a:avLst/>
          </a:prstGeom>
          <a:solidFill>
            <a:srgbClr val="E9E4D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800" b="1">
                <a:solidFill>
                  <a:srgbClr val="9AA3A6"/>
                </a:solidFill>
                <a:latin typeface="Avenir Next"/>
              </a:rPr>
              <a:t>–</a:t>
            </a:r>
          </a:p>
        </p:txBody>
      </p:sp>
      <p:sp>
        <p:nvSpPr>
          <p:cNvPr id="18" name="Oval 17"/>
          <p:cNvSpPr/>
          <p:nvPr/>
        </p:nvSpPr>
        <p:spPr>
          <a:xfrm>
            <a:off x="9692640" y="3246120"/>
            <a:ext cx="237744" cy="237744"/>
          </a:xfrm>
          <a:prstGeom prst="ellipse">
            <a:avLst/>
          </a:prstGeom>
          <a:solidFill>
            <a:srgbClr val="0F6B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800" b="1">
                <a:solidFill>
                  <a:srgbClr val="FFFFFF"/>
                </a:solidFill>
                <a:latin typeface="Avenir Next"/>
              </a:rPr>
              <a:t>✓</a:t>
            </a:r>
          </a:p>
        </p:txBody>
      </p:sp>
      <p:sp>
        <p:nvSpPr>
          <p:cNvPr id="19" name="Rectangle 18"/>
          <p:cNvSpPr/>
          <p:nvPr/>
        </p:nvSpPr>
        <p:spPr>
          <a:xfrm>
            <a:off x="594360" y="3602736"/>
            <a:ext cx="11018520" cy="365760"/>
          </a:xfrm>
          <a:prstGeom prst="rect">
            <a:avLst/>
          </a:prstGeom>
          <a:solidFill>
            <a:srgbClr val="F1E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83280" y="3621024"/>
            <a:ext cx="5303520" cy="237744"/>
          </a:xfrm>
          <a:prstGeom prst="rect">
            <a:avLst/>
          </a:prstGeom>
          <a:noFill/>
        </p:spPr>
        <p:txBody>
          <a:bodyPr wrap="square" lIns="0" rIns="0" tIns="0" bIns="0" anchor="t">
            <a:spAutoFit/>
          </a:bodyPr>
          <a:lstStyle/>
          <a:p>
            <a:pPr algn="l">
              <a:lnSpc>
                <a:spcPct val="105000"/>
              </a:lnSpc>
            </a:pPr>
            <a:r>
              <a:rPr sz="1000" b="0" i="0">
                <a:solidFill>
                  <a:srgbClr val="0C1F2A"/>
                </a:solidFill>
                <a:latin typeface="Avenir Next"/>
              </a:rPr>
              <a:t>Urgency + short summary</a:t>
            </a:r>
          </a:p>
        </p:txBody>
      </p:sp>
      <p:sp>
        <p:nvSpPr>
          <p:cNvPr id="21" name="Oval 20"/>
          <p:cNvSpPr/>
          <p:nvPr/>
        </p:nvSpPr>
        <p:spPr>
          <a:xfrm>
            <a:off x="1874519" y="3639312"/>
            <a:ext cx="237744" cy="237744"/>
          </a:xfrm>
          <a:prstGeom prst="ellipse">
            <a:avLst/>
          </a:prstGeom>
          <a:solidFill>
            <a:srgbClr val="E9E4D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800" b="1">
                <a:solidFill>
                  <a:srgbClr val="9AA3A6"/>
                </a:solidFill>
                <a:latin typeface="Avenir Next"/>
              </a:rPr>
              <a:t>–</a:t>
            </a:r>
          </a:p>
        </p:txBody>
      </p:sp>
      <p:sp>
        <p:nvSpPr>
          <p:cNvPr id="22" name="Oval 21"/>
          <p:cNvSpPr/>
          <p:nvPr/>
        </p:nvSpPr>
        <p:spPr>
          <a:xfrm>
            <a:off x="9692640" y="3639312"/>
            <a:ext cx="237744" cy="237744"/>
          </a:xfrm>
          <a:prstGeom prst="ellipse">
            <a:avLst/>
          </a:prstGeom>
          <a:solidFill>
            <a:srgbClr val="0F6B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800" b="1">
                <a:solidFill>
                  <a:srgbClr val="FFFFFF"/>
                </a:solidFill>
                <a:latin typeface="Avenir Next"/>
              </a:rPr>
              <a:t>✓</a:t>
            </a:r>
          </a:p>
        </p:txBody>
      </p:sp>
      <p:sp>
        <p:nvSpPr>
          <p:cNvPr id="23" name="TextBox 22"/>
          <p:cNvSpPr txBox="1"/>
          <p:nvPr/>
        </p:nvSpPr>
        <p:spPr>
          <a:xfrm>
            <a:off x="3383280" y="4014216"/>
            <a:ext cx="5303520" cy="237744"/>
          </a:xfrm>
          <a:prstGeom prst="rect">
            <a:avLst/>
          </a:prstGeom>
          <a:noFill/>
        </p:spPr>
        <p:txBody>
          <a:bodyPr wrap="square" lIns="0" rIns="0" tIns="0" bIns="0" anchor="t">
            <a:spAutoFit/>
          </a:bodyPr>
          <a:lstStyle/>
          <a:p>
            <a:pPr algn="l">
              <a:lnSpc>
                <a:spcPct val="105000"/>
              </a:lnSpc>
            </a:pPr>
            <a:r>
              <a:rPr sz="1000" b="0" i="0">
                <a:solidFill>
                  <a:srgbClr val="0C1F2A"/>
                </a:solidFill>
                <a:latin typeface="Avenir Next"/>
              </a:rPr>
              <a:t>Approved safety wording</a:t>
            </a:r>
          </a:p>
        </p:txBody>
      </p:sp>
      <p:sp>
        <p:nvSpPr>
          <p:cNvPr id="24" name="Oval 23"/>
          <p:cNvSpPr/>
          <p:nvPr/>
        </p:nvSpPr>
        <p:spPr>
          <a:xfrm>
            <a:off x="1874519" y="4032504"/>
            <a:ext cx="237744" cy="237744"/>
          </a:xfrm>
          <a:prstGeom prst="ellipse">
            <a:avLst/>
          </a:prstGeom>
          <a:solidFill>
            <a:srgbClr val="E9E4D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800" b="1">
                <a:solidFill>
                  <a:srgbClr val="9AA3A6"/>
                </a:solidFill>
                <a:latin typeface="Avenir Next"/>
              </a:rPr>
              <a:t>–</a:t>
            </a:r>
          </a:p>
        </p:txBody>
      </p:sp>
      <p:sp>
        <p:nvSpPr>
          <p:cNvPr id="25" name="Oval 24"/>
          <p:cNvSpPr/>
          <p:nvPr/>
        </p:nvSpPr>
        <p:spPr>
          <a:xfrm>
            <a:off x="9692640" y="4032504"/>
            <a:ext cx="237744" cy="237744"/>
          </a:xfrm>
          <a:prstGeom prst="ellipse">
            <a:avLst/>
          </a:prstGeom>
          <a:solidFill>
            <a:srgbClr val="0F6B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800" b="1">
                <a:solidFill>
                  <a:srgbClr val="FFFFFF"/>
                </a:solidFill>
                <a:latin typeface="Avenir Next"/>
              </a:rPr>
              <a:t>✓</a:t>
            </a:r>
          </a:p>
        </p:txBody>
      </p:sp>
      <p:sp>
        <p:nvSpPr>
          <p:cNvPr id="26" name="Rectangle 25"/>
          <p:cNvSpPr/>
          <p:nvPr/>
        </p:nvSpPr>
        <p:spPr>
          <a:xfrm>
            <a:off x="594360" y="4389120"/>
            <a:ext cx="11018520" cy="365760"/>
          </a:xfrm>
          <a:prstGeom prst="rect">
            <a:avLst/>
          </a:prstGeom>
          <a:solidFill>
            <a:srgbClr val="F1E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383280" y="4407408"/>
            <a:ext cx="5303520" cy="237744"/>
          </a:xfrm>
          <a:prstGeom prst="rect">
            <a:avLst/>
          </a:prstGeom>
          <a:noFill/>
        </p:spPr>
        <p:txBody>
          <a:bodyPr wrap="square" lIns="0" rIns="0" tIns="0" bIns="0" anchor="t">
            <a:spAutoFit/>
          </a:bodyPr>
          <a:lstStyle/>
          <a:p>
            <a:pPr algn="l">
              <a:lnSpc>
                <a:spcPct val="105000"/>
              </a:lnSpc>
            </a:pPr>
            <a:r>
              <a:rPr sz="1000" b="0" i="0">
                <a:solidFill>
                  <a:srgbClr val="0C1F2A"/>
                </a:solidFill>
                <a:latin typeface="Avenir Next"/>
              </a:rPr>
              <a:t>Works with no internet</a:t>
            </a:r>
          </a:p>
        </p:txBody>
      </p:sp>
      <p:sp>
        <p:nvSpPr>
          <p:cNvPr id="28" name="Oval 27"/>
          <p:cNvSpPr/>
          <p:nvPr/>
        </p:nvSpPr>
        <p:spPr>
          <a:xfrm>
            <a:off x="1874519" y="4425696"/>
            <a:ext cx="237744" cy="237744"/>
          </a:xfrm>
          <a:prstGeom prst="ellipse">
            <a:avLst/>
          </a:prstGeom>
          <a:solidFill>
            <a:srgbClr val="E9E4D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800" b="1">
                <a:solidFill>
                  <a:srgbClr val="9AA3A6"/>
                </a:solidFill>
                <a:latin typeface="Avenir Next"/>
              </a:rPr>
              <a:t>–</a:t>
            </a:r>
          </a:p>
        </p:txBody>
      </p:sp>
      <p:sp>
        <p:nvSpPr>
          <p:cNvPr id="29" name="Oval 28"/>
          <p:cNvSpPr/>
          <p:nvPr/>
        </p:nvSpPr>
        <p:spPr>
          <a:xfrm>
            <a:off x="9692640" y="4425696"/>
            <a:ext cx="237744" cy="237744"/>
          </a:xfrm>
          <a:prstGeom prst="ellipse">
            <a:avLst/>
          </a:prstGeom>
          <a:solidFill>
            <a:srgbClr val="0F6B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800" b="1">
                <a:solidFill>
                  <a:srgbClr val="FFFFFF"/>
                </a:solidFill>
                <a:latin typeface="Avenir Next"/>
              </a:rPr>
              <a:t>✓</a:t>
            </a:r>
          </a:p>
        </p:txBody>
      </p:sp>
      <p:sp>
        <p:nvSpPr>
          <p:cNvPr id="30" name="TextBox 29"/>
          <p:cNvSpPr txBox="1"/>
          <p:nvPr/>
        </p:nvSpPr>
        <p:spPr>
          <a:xfrm>
            <a:off x="3383280" y="4800600"/>
            <a:ext cx="5303520" cy="237744"/>
          </a:xfrm>
          <a:prstGeom prst="rect">
            <a:avLst/>
          </a:prstGeom>
          <a:noFill/>
        </p:spPr>
        <p:txBody>
          <a:bodyPr wrap="square" lIns="0" rIns="0" tIns="0" bIns="0" anchor="t">
            <a:spAutoFit/>
          </a:bodyPr>
          <a:lstStyle/>
          <a:p>
            <a:pPr algn="l">
              <a:lnSpc>
                <a:spcPct val="105000"/>
              </a:lnSpc>
            </a:pPr>
            <a:r>
              <a:rPr sz="1000" b="0" i="0">
                <a:solidFill>
                  <a:srgbClr val="0C1F2A"/>
                </a:solidFill>
                <a:latin typeface="Avenir Next"/>
              </a:rPr>
              <a:t>Local audio, no persistence</a:t>
            </a:r>
          </a:p>
        </p:txBody>
      </p:sp>
      <p:sp>
        <p:nvSpPr>
          <p:cNvPr id="31" name="Oval 30"/>
          <p:cNvSpPr/>
          <p:nvPr/>
        </p:nvSpPr>
        <p:spPr>
          <a:xfrm>
            <a:off x="1874519" y="4818888"/>
            <a:ext cx="237744" cy="237744"/>
          </a:xfrm>
          <a:prstGeom prst="ellipse">
            <a:avLst/>
          </a:prstGeom>
          <a:solidFill>
            <a:srgbClr val="E9E4D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800" b="1">
                <a:solidFill>
                  <a:srgbClr val="9AA3A6"/>
                </a:solidFill>
                <a:latin typeface="Avenir Next"/>
              </a:rPr>
              <a:t>–</a:t>
            </a:r>
          </a:p>
        </p:txBody>
      </p:sp>
      <p:sp>
        <p:nvSpPr>
          <p:cNvPr id="32" name="Oval 31"/>
          <p:cNvSpPr/>
          <p:nvPr/>
        </p:nvSpPr>
        <p:spPr>
          <a:xfrm>
            <a:off x="9692640" y="4818888"/>
            <a:ext cx="237744" cy="237744"/>
          </a:xfrm>
          <a:prstGeom prst="ellipse">
            <a:avLst/>
          </a:prstGeom>
          <a:solidFill>
            <a:srgbClr val="0F6B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800" b="1">
                <a:solidFill>
                  <a:srgbClr val="FFFFFF"/>
                </a:solidFill>
                <a:latin typeface="Avenir Next"/>
              </a:rPr>
              <a:t>✓</a:t>
            </a:r>
          </a:p>
        </p:txBody>
      </p:sp>
      <p:sp>
        <p:nvSpPr>
          <p:cNvPr id="33" name="Rectangle 32"/>
          <p:cNvSpPr/>
          <p:nvPr/>
        </p:nvSpPr>
        <p:spPr>
          <a:xfrm>
            <a:off x="594360" y="5175504"/>
            <a:ext cx="11018520" cy="365760"/>
          </a:xfrm>
          <a:prstGeom prst="rect">
            <a:avLst/>
          </a:prstGeom>
          <a:solidFill>
            <a:srgbClr val="F1E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383280" y="5193792"/>
            <a:ext cx="5303520" cy="237744"/>
          </a:xfrm>
          <a:prstGeom prst="rect">
            <a:avLst/>
          </a:prstGeom>
          <a:noFill/>
        </p:spPr>
        <p:txBody>
          <a:bodyPr wrap="square" lIns="0" rIns="0" tIns="0" bIns="0" anchor="t">
            <a:spAutoFit/>
          </a:bodyPr>
          <a:lstStyle/>
          <a:p>
            <a:pPr algn="l">
              <a:lnSpc>
                <a:spcPct val="105000"/>
              </a:lnSpc>
            </a:pPr>
            <a:r>
              <a:rPr sz="1000" b="0" i="0">
                <a:solidFill>
                  <a:srgbClr val="0C1F2A"/>
                </a:solidFill>
                <a:latin typeface="Avenir Next"/>
              </a:rPr>
              <a:t>Metrics + airline integration</a:t>
            </a:r>
          </a:p>
        </p:txBody>
      </p:sp>
      <p:sp>
        <p:nvSpPr>
          <p:cNvPr id="35" name="Oval 34"/>
          <p:cNvSpPr/>
          <p:nvPr/>
        </p:nvSpPr>
        <p:spPr>
          <a:xfrm>
            <a:off x="1874519" y="5212079"/>
            <a:ext cx="237744" cy="237744"/>
          </a:xfrm>
          <a:prstGeom prst="ellipse">
            <a:avLst/>
          </a:prstGeom>
          <a:solidFill>
            <a:srgbClr val="E9E4D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800" b="1">
                <a:solidFill>
                  <a:srgbClr val="9AA3A6"/>
                </a:solidFill>
                <a:latin typeface="Avenir Next"/>
              </a:rPr>
              <a:t>–</a:t>
            </a:r>
          </a:p>
        </p:txBody>
      </p:sp>
      <p:sp>
        <p:nvSpPr>
          <p:cNvPr id="36" name="Oval 35"/>
          <p:cNvSpPr/>
          <p:nvPr/>
        </p:nvSpPr>
        <p:spPr>
          <a:xfrm>
            <a:off x="9692640" y="5212079"/>
            <a:ext cx="237744" cy="237744"/>
          </a:xfrm>
          <a:prstGeom prst="ellipse">
            <a:avLst/>
          </a:prstGeom>
          <a:solidFill>
            <a:srgbClr val="0F6B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800" b="1">
                <a:solidFill>
                  <a:srgbClr val="FFFFFF"/>
                </a:solidFill>
                <a:latin typeface="Avenir Next"/>
              </a:rPr>
              <a:t>✓</a:t>
            </a:r>
          </a:p>
        </p:txBody>
      </p:sp>
      <p:sp>
        <p:nvSpPr>
          <p:cNvPr id="37" name="Rounded Rectangle 36"/>
          <p:cNvSpPr/>
          <p:nvPr/>
        </p:nvSpPr>
        <p:spPr>
          <a:xfrm>
            <a:off x="594360" y="5623560"/>
            <a:ext cx="11018520" cy="566928"/>
          </a:xfrm>
          <a:prstGeom prst="roundRect">
            <a:avLst>
              <a:gd name="adj" fmla="val 8000"/>
            </a:avLst>
          </a:prstGeom>
          <a:solidFill>
            <a:srgbClr val="0C1F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 y="5788152"/>
            <a:ext cx="10515600" cy="228600"/>
          </a:xfrm>
          <a:prstGeom prst="rect">
            <a:avLst/>
          </a:prstGeom>
          <a:noFill/>
        </p:spPr>
        <p:txBody>
          <a:bodyPr wrap="square" lIns="0" rIns="0" tIns="0" bIns="0" anchor="t">
            <a:spAutoFit/>
          </a:bodyPr>
          <a:lstStyle/>
          <a:p>
            <a:pPr algn="l">
              <a:lnSpc>
                <a:spcPct val="105000"/>
              </a:lnSpc>
            </a:pPr>
            <a:r>
              <a:rPr sz="800" b="1" i="0">
                <a:solidFill>
                  <a:srgbClr val="E85A63"/>
                </a:solidFill>
                <a:latin typeface="Avenir Next"/>
              </a:rPr>
              <a:t>THE POINT  </a:t>
            </a:r>
            <a:r>
              <a:rPr sz="1100" b="1" i="0">
                <a:solidFill>
                  <a:srgbClr val="FFFFFF"/>
                </a:solidFill>
                <a:latin typeface="Avenir Next"/>
              </a:rPr>
              <a:t>Google Translate is an interpreter. CabinBridge is the cabin workflow around it.</a:t>
            </a:r>
          </a:p>
        </p:txBody>
      </p:sp>
      <p:cxnSp>
        <p:nvCxnSpPr>
          <p:cNvPr id="39" name="Connector 38"/>
          <p:cNvCxnSpPr/>
          <p:nvPr/>
        </p:nvCxnSpPr>
        <p:spPr>
          <a:xfrm>
            <a:off x="594360" y="6492240"/>
            <a:ext cx="11000232" cy="0"/>
          </a:xfrm>
          <a:prstGeom prst="line">
            <a:avLst/>
          </a:prstGeom>
          <a:ln w="9525">
            <a:solidFill>
              <a:srgbClr val="E1DACF"/>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94360" y="6556248"/>
            <a:ext cx="6400800" cy="182880"/>
          </a:xfrm>
          <a:prstGeom prst="rect">
            <a:avLst/>
          </a:prstGeom>
          <a:noFill/>
        </p:spPr>
        <p:txBody>
          <a:bodyPr wrap="square" lIns="0" rIns="0" tIns="0" bIns="0" anchor="t">
            <a:spAutoFit/>
          </a:bodyPr>
          <a:lstStyle/>
          <a:p>
            <a:pPr algn="l">
              <a:lnSpc>
                <a:spcPct val="105000"/>
              </a:lnSpc>
            </a:pPr>
            <a:r>
              <a:rPr sz="750" b="1" i="0">
                <a:solidFill>
                  <a:srgbClr val="9AA3A6"/>
                </a:solidFill>
                <a:latin typeface="Avenir Next"/>
              </a:rPr>
              <a:t>CABINBRIDGE  ×  JAPAN AIRLINES</a:t>
            </a:r>
          </a:p>
        </p:txBody>
      </p:sp>
      <p:sp>
        <p:nvSpPr>
          <p:cNvPr id="41" name="TextBox 40"/>
          <p:cNvSpPr txBox="1"/>
          <p:nvPr/>
        </p:nvSpPr>
        <p:spPr>
          <a:xfrm>
            <a:off x="10972800" y="6556248"/>
            <a:ext cx="621792" cy="182880"/>
          </a:xfrm>
          <a:prstGeom prst="rect">
            <a:avLst/>
          </a:prstGeom>
          <a:noFill/>
        </p:spPr>
        <p:txBody>
          <a:bodyPr wrap="square" lIns="0" rIns="0" tIns="0" bIns="0" anchor="t">
            <a:spAutoFit/>
          </a:bodyPr>
          <a:lstStyle/>
          <a:p>
            <a:pPr algn="r">
              <a:lnSpc>
                <a:spcPct val="105000"/>
              </a:lnSpc>
            </a:pPr>
            <a:r>
              <a:rPr sz="750" b="0" i="0">
                <a:solidFill>
                  <a:srgbClr val="9AA3A6"/>
                </a:solidFill>
                <a:latin typeface="Avenir Next"/>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68580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47472"/>
            <a:ext cx="9601200" cy="228600"/>
          </a:xfrm>
          <a:prstGeom prst="rect">
            <a:avLst/>
          </a:prstGeom>
          <a:noFill/>
        </p:spPr>
        <p:txBody>
          <a:bodyPr wrap="square" lIns="0" rIns="0" tIns="0" bIns="0" anchor="t">
            <a:spAutoFit/>
          </a:bodyPr>
          <a:lstStyle/>
          <a:p>
            <a:pPr algn="l">
              <a:lnSpc>
                <a:spcPct val="105000"/>
              </a:lnSpc>
            </a:pPr>
            <a:r>
              <a:rPr sz="850" b="1" i="0">
                <a:solidFill>
                  <a:srgbClr val="C8102E"/>
                </a:solidFill>
                <a:latin typeface="Avenir Next"/>
              </a:rPr>
              <a:t>09  ·  BUSINESS VALUE</a:t>
            </a:r>
          </a:p>
        </p:txBody>
      </p:sp>
      <p:sp>
        <p:nvSpPr>
          <p:cNvPr id="5" name="TextBox 4"/>
          <p:cNvSpPr txBox="1"/>
          <p:nvPr/>
        </p:nvSpPr>
        <p:spPr>
          <a:xfrm>
            <a:off x="576072" y="621792"/>
            <a:ext cx="10972800" cy="1051560"/>
          </a:xfrm>
          <a:prstGeom prst="rect">
            <a:avLst/>
          </a:prstGeom>
          <a:noFill/>
        </p:spPr>
        <p:txBody>
          <a:bodyPr wrap="square" lIns="0" rIns="0" tIns="0" bIns="0" anchor="t">
            <a:spAutoFit/>
          </a:bodyPr>
          <a:lstStyle/>
          <a:p>
            <a:pPr algn="l">
              <a:lnSpc>
                <a:spcPct val="95000"/>
              </a:lnSpc>
            </a:pPr>
            <a:r>
              <a:rPr sz="2800" b="1" i="0">
                <a:solidFill>
                  <a:srgbClr val="0C1F2A"/>
                </a:solidFill>
                <a:latin typeface="Avenir Next"/>
              </a:rPr>
              <a:t>Minutes back to the crew.
Confidence back to the passenger.</a:t>
            </a:r>
          </a:p>
        </p:txBody>
      </p:sp>
      <p:sp>
        <p:nvSpPr>
          <p:cNvPr id="6" name="Rounded Rectangle 5"/>
          <p:cNvSpPr/>
          <p:nvPr/>
        </p:nvSpPr>
        <p:spPr>
          <a:xfrm>
            <a:off x="594360" y="1828800"/>
            <a:ext cx="4846320" cy="749808"/>
          </a:xfrm>
          <a:prstGeom prst="roundRect">
            <a:avLst>
              <a:gd name="adj" fmla="val 8000"/>
            </a:avLst>
          </a:prstGeom>
          <a:solidFill>
            <a:srgbClr val="FFFFFF"/>
          </a:solidFill>
          <a:ln w="12700">
            <a:solidFill>
              <a:srgbClr val="E1DA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002536"/>
            <a:ext cx="347472" cy="347472"/>
          </a:xfrm>
          <a:prstGeom prst="ellipse">
            <a:avLst/>
          </a:prstGeom>
          <a:solidFill>
            <a:srgbClr val="0F6B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1100" b="1">
                <a:solidFill>
                  <a:srgbClr val="FFFFFF"/>
                </a:solidFill>
                <a:latin typeface="Avenir Next"/>
              </a:rPr>
              <a:t>1</a:t>
            </a:r>
          </a:p>
        </p:txBody>
      </p:sp>
      <p:sp>
        <p:nvSpPr>
          <p:cNvPr id="8" name="TextBox 7"/>
          <p:cNvSpPr txBox="1"/>
          <p:nvPr/>
        </p:nvSpPr>
        <p:spPr>
          <a:xfrm>
            <a:off x="1261872" y="1975104"/>
            <a:ext cx="3931920" cy="256032"/>
          </a:xfrm>
          <a:prstGeom prst="rect">
            <a:avLst/>
          </a:prstGeom>
          <a:noFill/>
        </p:spPr>
        <p:txBody>
          <a:bodyPr wrap="square" lIns="0" rIns="0" tIns="0" bIns="0" anchor="t">
            <a:spAutoFit/>
          </a:bodyPr>
          <a:lstStyle/>
          <a:p>
            <a:pPr algn="l">
              <a:lnSpc>
                <a:spcPct val="105000"/>
              </a:lnSpc>
            </a:pPr>
            <a:r>
              <a:rPr sz="1200" b="1" i="0">
                <a:solidFill>
                  <a:srgbClr val="0C1F2A"/>
                </a:solidFill>
                <a:latin typeface="Avenir Next"/>
              </a:rPr>
              <a:t>Faster response</a:t>
            </a:r>
          </a:p>
        </p:txBody>
      </p:sp>
      <p:sp>
        <p:nvSpPr>
          <p:cNvPr id="9" name="TextBox 8"/>
          <p:cNvSpPr txBox="1"/>
          <p:nvPr/>
        </p:nvSpPr>
        <p:spPr>
          <a:xfrm>
            <a:off x="1261872" y="2240280"/>
            <a:ext cx="3931920" cy="228600"/>
          </a:xfrm>
          <a:prstGeom prst="rect">
            <a:avLst/>
          </a:prstGeom>
          <a:noFill/>
        </p:spPr>
        <p:txBody>
          <a:bodyPr wrap="square" lIns="0" rIns="0" tIns="0" bIns="0" anchor="t">
            <a:spAutoFit/>
          </a:bodyPr>
          <a:lstStyle/>
          <a:p>
            <a:pPr algn="l">
              <a:lnSpc>
                <a:spcPct val="105000"/>
              </a:lnSpc>
            </a:pPr>
            <a:r>
              <a:rPr sz="850" b="0" i="0">
                <a:solidFill>
                  <a:srgbClr val="5E6A70"/>
                </a:solidFill>
                <a:latin typeface="Avenir Next"/>
              </a:rPr>
              <a:t>Less waiting, fewer repeats</a:t>
            </a:r>
          </a:p>
        </p:txBody>
      </p:sp>
      <p:sp>
        <p:nvSpPr>
          <p:cNvPr id="10" name="Right Arrow 9"/>
          <p:cNvSpPr/>
          <p:nvPr/>
        </p:nvSpPr>
        <p:spPr>
          <a:xfrm>
            <a:off x="2834640" y="2596896"/>
            <a:ext cx="164592" cy="146304"/>
          </a:xfrm>
          <a:prstGeom prst="rightArrow">
            <a:avLst/>
          </a:prstGeom>
          <a:solidFill>
            <a:srgbClr val="E1DA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94360" y="2761488"/>
            <a:ext cx="4846320" cy="749808"/>
          </a:xfrm>
          <a:prstGeom prst="roundRect">
            <a:avLst>
              <a:gd name="adj" fmla="val 8000"/>
            </a:avLst>
          </a:prstGeom>
          <a:solidFill>
            <a:srgbClr val="FFFFFF"/>
          </a:solidFill>
          <a:ln w="12700">
            <a:solidFill>
              <a:srgbClr val="E1DA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77240" y="2935224"/>
            <a:ext cx="347472" cy="347472"/>
          </a:xfrm>
          <a:prstGeom prst="ellipse">
            <a:avLst/>
          </a:prstGeom>
          <a:solidFill>
            <a:srgbClr val="0F6B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1100" b="1">
                <a:solidFill>
                  <a:srgbClr val="FFFFFF"/>
                </a:solidFill>
                <a:latin typeface="Avenir Next"/>
              </a:rPr>
              <a:t>2</a:t>
            </a:r>
          </a:p>
        </p:txBody>
      </p:sp>
      <p:sp>
        <p:nvSpPr>
          <p:cNvPr id="13" name="TextBox 12"/>
          <p:cNvSpPr txBox="1"/>
          <p:nvPr/>
        </p:nvSpPr>
        <p:spPr>
          <a:xfrm>
            <a:off x="1261872" y="2907792"/>
            <a:ext cx="3931920" cy="256032"/>
          </a:xfrm>
          <a:prstGeom prst="rect">
            <a:avLst/>
          </a:prstGeom>
          <a:noFill/>
        </p:spPr>
        <p:txBody>
          <a:bodyPr wrap="square" lIns="0" rIns="0" tIns="0" bIns="0" anchor="t">
            <a:spAutoFit/>
          </a:bodyPr>
          <a:lstStyle/>
          <a:p>
            <a:pPr algn="l">
              <a:lnSpc>
                <a:spcPct val="105000"/>
              </a:lnSpc>
            </a:pPr>
            <a:r>
              <a:rPr sz="1200" b="1" i="0">
                <a:solidFill>
                  <a:srgbClr val="0C1F2A"/>
                </a:solidFill>
                <a:latin typeface="Avenir Next"/>
              </a:rPr>
              <a:t>Crew capacity</a:t>
            </a:r>
          </a:p>
        </p:txBody>
      </p:sp>
      <p:sp>
        <p:nvSpPr>
          <p:cNvPr id="14" name="TextBox 13"/>
          <p:cNvSpPr txBox="1"/>
          <p:nvPr/>
        </p:nvSpPr>
        <p:spPr>
          <a:xfrm>
            <a:off x="1261872" y="3172968"/>
            <a:ext cx="3931920" cy="228600"/>
          </a:xfrm>
          <a:prstGeom prst="rect">
            <a:avLst/>
          </a:prstGeom>
          <a:noFill/>
        </p:spPr>
        <p:txBody>
          <a:bodyPr wrap="square" lIns="0" rIns="0" tIns="0" bIns="0" anchor="t">
            <a:spAutoFit/>
          </a:bodyPr>
          <a:lstStyle/>
          <a:p>
            <a:pPr algn="l">
              <a:lnSpc>
                <a:spcPct val="105000"/>
              </a:lnSpc>
            </a:pPr>
            <a:r>
              <a:rPr sz="850" b="0" i="0">
                <a:solidFill>
                  <a:srgbClr val="5E6A70"/>
                </a:solidFill>
                <a:latin typeface="Avenir Next"/>
              </a:rPr>
              <a:t>Time returned to service</a:t>
            </a:r>
          </a:p>
        </p:txBody>
      </p:sp>
      <p:sp>
        <p:nvSpPr>
          <p:cNvPr id="15" name="Right Arrow 14"/>
          <p:cNvSpPr/>
          <p:nvPr/>
        </p:nvSpPr>
        <p:spPr>
          <a:xfrm>
            <a:off x="2834640" y="3529584"/>
            <a:ext cx="164592" cy="146304"/>
          </a:xfrm>
          <a:prstGeom prst="rightArrow">
            <a:avLst/>
          </a:prstGeom>
          <a:solidFill>
            <a:srgbClr val="E1DA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94360" y="3694176"/>
            <a:ext cx="4846320" cy="749808"/>
          </a:xfrm>
          <a:prstGeom prst="roundRect">
            <a:avLst>
              <a:gd name="adj" fmla="val 8000"/>
            </a:avLst>
          </a:prstGeom>
          <a:solidFill>
            <a:srgbClr val="FFFFFF"/>
          </a:solidFill>
          <a:ln w="12700">
            <a:solidFill>
              <a:srgbClr val="E1DA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77240" y="3867912"/>
            <a:ext cx="347472" cy="347472"/>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1100" b="1">
                <a:solidFill>
                  <a:srgbClr val="FFFFFF"/>
                </a:solidFill>
                <a:latin typeface="Avenir Next"/>
              </a:rPr>
              <a:t>3</a:t>
            </a:r>
          </a:p>
        </p:txBody>
      </p:sp>
      <p:sp>
        <p:nvSpPr>
          <p:cNvPr id="18" name="TextBox 17"/>
          <p:cNvSpPr txBox="1"/>
          <p:nvPr/>
        </p:nvSpPr>
        <p:spPr>
          <a:xfrm>
            <a:off x="1261872" y="3840480"/>
            <a:ext cx="3931920" cy="256032"/>
          </a:xfrm>
          <a:prstGeom prst="rect">
            <a:avLst/>
          </a:prstGeom>
          <a:noFill/>
        </p:spPr>
        <p:txBody>
          <a:bodyPr wrap="square" lIns="0" rIns="0" tIns="0" bIns="0" anchor="t">
            <a:spAutoFit/>
          </a:bodyPr>
          <a:lstStyle/>
          <a:p>
            <a:pPr algn="l">
              <a:lnSpc>
                <a:spcPct val="105000"/>
              </a:lnSpc>
            </a:pPr>
            <a:r>
              <a:rPr sz="1200" b="1" i="0">
                <a:solidFill>
                  <a:srgbClr val="0C1F2A"/>
                </a:solidFill>
                <a:latin typeface="Avenir Next"/>
              </a:rPr>
              <a:t>Higher NPS</a:t>
            </a:r>
          </a:p>
        </p:txBody>
      </p:sp>
      <p:sp>
        <p:nvSpPr>
          <p:cNvPr id="19" name="TextBox 18"/>
          <p:cNvSpPr txBox="1"/>
          <p:nvPr/>
        </p:nvSpPr>
        <p:spPr>
          <a:xfrm>
            <a:off x="1261872" y="4105656"/>
            <a:ext cx="3931920" cy="228600"/>
          </a:xfrm>
          <a:prstGeom prst="rect">
            <a:avLst/>
          </a:prstGeom>
          <a:noFill/>
        </p:spPr>
        <p:txBody>
          <a:bodyPr wrap="square" lIns="0" rIns="0" tIns="0" bIns="0" anchor="t">
            <a:spAutoFit/>
          </a:bodyPr>
          <a:lstStyle/>
          <a:p>
            <a:pPr algn="l">
              <a:lnSpc>
                <a:spcPct val="105000"/>
              </a:lnSpc>
            </a:pPr>
            <a:r>
              <a:rPr sz="850" b="0" i="0">
                <a:solidFill>
                  <a:srgbClr val="5E6A70"/>
                </a:solidFill>
                <a:latin typeface="Avenir Next"/>
              </a:rPr>
              <a:t>A calmer, clearer cabin</a:t>
            </a:r>
          </a:p>
        </p:txBody>
      </p:sp>
      <p:sp>
        <p:nvSpPr>
          <p:cNvPr id="20" name="Right Arrow 19"/>
          <p:cNvSpPr/>
          <p:nvPr/>
        </p:nvSpPr>
        <p:spPr>
          <a:xfrm>
            <a:off x="2834640" y="4462272"/>
            <a:ext cx="164592" cy="146304"/>
          </a:xfrm>
          <a:prstGeom prst="rightArrow">
            <a:avLst/>
          </a:prstGeom>
          <a:solidFill>
            <a:srgbClr val="E1DA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94360" y="4626864"/>
            <a:ext cx="4846320" cy="749808"/>
          </a:xfrm>
          <a:prstGeom prst="roundRect">
            <a:avLst>
              <a:gd name="adj" fmla="val 8000"/>
            </a:avLst>
          </a:prstGeom>
          <a:solidFill>
            <a:srgbClr val="FFFFFF"/>
          </a:solidFill>
          <a:ln w="12700">
            <a:solidFill>
              <a:srgbClr val="E1DA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77240" y="4800600"/>
            <a:ext cx="347472" cy="347472"/>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1100" b="1">
                <a:solidFill>
                  <a:srgbClr val="FFFFFF"/>
                </a:solidFill>
                <a:latin typeface="Avenir Next"/>
              </a:rPr>
              <a:t>4</a:t>
            </a:r>
          </a:p>
        </p:txBody>
      </p:sp>
      <p:sp>
        <p:nvSpPr>
          <p:cNvPr id="23" name="TextBox 22"/>
          <p:cNvSpPr txBox="1"/>
          <p:nvPr/>
        </p:nvSpPr>
        <p:spPr>
          <a:xfrm>
            <a:off x="1261872" y="4773168"/>
            <a:ext cx="3931920" cy="256032"/>
          </a:xfrm>
          <a:prstGeom prst="rect">
            <a:avLst/>
          </a:prstGeom>
          <a:noFill/>
        </p:spPr>
        <p:txBody>
          <a:bodyPr wrap="square" lIns="0" rIns="0" tIns="0" bIns="0" anchor="t">
            <a:spAutoFit/>
          </a:bodyPr>
          <a:lstStyle/>
          <a:p>
            <a:pPr algn="l">
              <a:lnSpc>
                <a:spcPct val="105000"/>
              </a:lnSpc>
            </a:pPr>
            <a:r>
              <a:rPr sz="1200" b="1" i="0">
                <a:solidFill>
                  <a:srgbClr val="0C1F2A"/>
                </a:solidFill>
                <a:latin typeface="Avenir Next"/>
              </a:rPr>
              <a:t>Safer outcomes</a:t>
            </a:r>
          </a:p>
        </p:txBody>
      </p:sp>
      <p:sp>
        <p:nvSpPr>
          <p:cNvPr id="24" name="TextBox 23"/>
          <p:cNvSpPr txBox="1"/>
          <p:nvPr/>
        </p:nvSpPr>
        <p:spPr>
          <a:xfrm>
            <a:off x="1261872" y="5038344"/>
            <a:ext cx="3931920" cy="228600"/>
          </a:xfrm>
          <a:prstGeom prst="rect">
            <a:avLst/>
          </a:prstGeom>
          <a:noFill/>
        </p:spPr>
        <p:txBody>
          <a:bodyPr wrap="square" lIns="0" rIns="0" tIns="0" bIns="0" anchor="t">
            <a:spAutoFit/>
          </a:bodyPr>
          <a:lstStyle/>
          <a:p>
            <a:pPr algn="l">
              <a:lnSpc>
                <a:spcPct val="105000"/>
              </a:lnSpc>
            </a:pPr>
            <a:r>
              <a:rPr sz="850" b="0" i="0">
                <a:solidFill>
                  <a:srgbClr val="5E6A70"/>
                </a:solidFill>
                <a:latin typeface="Avenir Next"/>
              </a:rPr>
              <a:t>Nuance preserved</a:t>
            </a:r>
          </a:p>
        </p:txBody>
      </p:sp>
      <p:sp>
        <p:nvSpPr>
          <p:cNvPr id="25" name="Rounded Rectangle 24"/>
          <p:cNvSpPr/>
          <p:nvPr/>
        </p:nvSpPr>
        <p:spPr>
          <a:xfrm>
            <a:off x="5806440" y="1810512"/>
            <a:ext cx="5806440" cy="3794760"/>
          </a:xfrm>
          <a:prstGeom prst="roundRect">
            <a:avLst>
              <a:gd name="adj" fmla="val 8000"/>
            </a:avLst>
          </a:prstGeom>
          <a:solidFill>
            <a:srgbClr val="F9E9EB"/>
          </a:solidFill>
          <a:ln w="12700">
            <a:solidFill>
              <a:srgbClr val="E85A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053328" y="1993392"/>
            <a:ext cx="5303520" cy="201168"/>
          </a:xfrm>
          <a:prstGeom prst="rect">
            <a:avLst/>
          </a:prstGeom>
          <a:noFill/>
        </p:spPr>
        <p:txBody>
          <a:bodyPr wrap="square" lIns="0" rIns="0" tIns="0" bIns="0" anchor="t">
            <a:spAutoFit/>
          </a:bodyPr>
          <a:lstStyle/>
          <a:p>
            <a:pPr algn="l">
              <a:lnSpc>
                <a:spcPct val="105000"/>
              </a:lnSpc>
            </a:pPr>
            <a:r>
              <a:rPr sz="800" b="1" i="0">
                <a:solidFill>
                  <a:srgbClr val="C8102E"/>
                </a:solidFill>
                <a:latin typeface="Avenir Next"/>
              </a:rPr>
              <a:t>ILLUSTRATIVE  ·  PER AIRCRAFT  ·  YEAR</a:t>
            </a:r>
          </a:p>
        </p:txBody>
      </p:sp>
      <p:sp>
        <p:nvSpPr>
          <p:cNvPr id="27" name="TextBox 26"/>
          <p:cNvSpPr txBox="1"/>
          <p:nvPr/>
        </p:nvSpPr>
        <p:spPr>
          <a:xfrm>
            <a:off x="6053328" y="2267712"/>
            <a:ext cx="5120640" cy="777240"/>
          </a:xfrm>
          <a:prstGeom prst="rect">
            <a:avLst/>
          </a:prstGeom>
          <a:noFill/>
        </p:spPr>
        <p:txBody>
          <a:bodyPr wrap="square" lIns="0" rIns="0" tIns="0" bIns="0" anchor="t">
            <a:spAutoFit/>
          </a:bodyPr>
          <a:lstStyle/>
          <a:p>
            <a:pPr algn="l">
              <a:lnSpc>
                <a:spcPct val="90000"/>
              </a:lnSpc>
            </a:pPr>
            <a:r>
              <a:rPr sz="3600" b="1" i="0">
                <a:solidFill>
                  <a:srgbClr val="C8102E"/>
                </a:solidFill>
                <a:latin typeface="Avenir Next"/>
              </a:rPr>
              <a:t>250–1,000</a:t>
            </a:r>
          </a:p>
        </p:txBody>
      </p:sp>
      <p:sp>
        <p:nvSpPr>
          <p:cNvPr id="28" name="TextBox 27"/>
          <p:cNvSpPr txBox="1"/>
          <p:nvPr/>
        </p:nvSpPr>
        <p:spPr>
          <a:xfrm>
            <a:off x="6053328" y="2999232"/>
            <a:ext cx="5120640" cy="274320"/>
          </a:xfrm>
          <a:prstGeom prst="rect">
            <a:avLst/>
          </a:prstGeom>
          <a:noFill/>
        </p:spPr>
        <p:txBody>
          <a:bodyPr wrap="square" lIns="0" rIns="0" tIns="0" bIns="0" anchor="t">
            <a:spAutoFit/>
          </a:bodyPr>
          <a:lstStyle/>
          <a:p>
            <a:pPr algn="l">
              <a:lnSpc>
                <a:spcPct val="105000"/>
              </a:lnSpc>
            </a:pPr>
            <a:r>
              <a:rPr sz="1000" b="1" i="0">
                <a:solidFill>
                  <a:srgbClr val="0C1F2A"/>
                </a:solidFill>
                <a:latin typeface="Avenir Next"/>
              </a:rPr>
              <a:t>crew-hours returned per aircraft, per year</a:t>
            </a:r>
          </a:p>
        </p:txBody>
      </p:sp>
      <p:cxnSp>
        <p:nvCxnSpPr>
          <p:cNvPr id="29" name="Connector 28"/>
          <p:cNvCxnSpPr/>
          <p:nvPr/>
        </p:nvCxnSpPr>
        <p:spPr>
          <a:xfrm>
            <a:off x="6053328" y="3346704"/>
            <a:ext cx="5285232" cy="0"/>
          </a:xfrm>
          <a:prstGeom prst="line">
            <a:avLst/>
          </a:prstGeom>
          <a:ln w="10160">
            <a:solidFill>
              <a:srgbClr val="E85A63"/>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053328" y="3493008"/>
            <a:ext cx="5257800" cy="256032"/>
          </a:xfrm>
          <a:prstGeom prst="rect">
            <a:avLst/>
          </a:prstGeom>
          <a:noFill/>
        </p:spPr>
        <p:txBody>
          <a:bodyPr wrap="square" lIns="0" rIns="0" tIns="0" bIns="0" anchor="t">
            <a:spAutoFit/>
          </a:bodyPr>
          <a:lstStyle/>
          <a:p>
            <a:pPr algn="l">
              <a:lnSpc>
                <a:spcPct val="105000"/>
              </a:lnSpc>
            </a:pPr>
            <a:r>
              <a:rPr sz="950" b="0" i="0">
                <a:solidFill>
                  <a:srgbClr val="5E6A70"/>
                </a:solidFill>
                <a:latin typeface="Avenir Next"/>
              </a:rPr>
              <a:t>250 passengers  ×  20% need help  =  50 interactions / flight</a:t>
            </a:r>
          </a:p>
        </p:txBody>
      </p:sp>
      <p:sp>
        <p:nvSpPr>
          <p:cNvPr id="31" name="TextBox 30"/>
          <p:cNvSpPr txBox="1"/>
          <p:nvPr/>
        </p:nvSpPr>
        <p:spPr>
          <a:xfrm>
            <a:off x="6053328" y="3785615"/>
            <a:ext cx="5257800" cy="256032"/>
          </a:xfrm>
          <a:prstGeom prst="rect">
            <a:avLst/>
          </a:prstGeom>
          <a:noFill/>
        </p:spPr>
        <p:txBody>
          <a:bodyPr wrap="square" lIns="0" rIns="0" tIns="0" bIns="0" anchor="t">
            <a:spAutoFit/>
          </a:bodyPr>
          <a:lstStyle/>
          <a:p>
            <a:pPr algn="l">
              <a:lnSpc>
                <a:spcPct val="105000"/>
              </a:lnSpc>
            </a:pPr>
            <a:r>
              <a:rPr sz="950" b="0" i="0">
                <a:solidFill>
                  <a:srgbClr val="5E6A70"/>
                </a:solidFill>
                <a:latin typeface="Avenir Next"/>
              </a:rPr>
              <a:t>30–120 s saved per interaction</a:t>
            </a:r>
          </a:p>
        </p:txBody>
      </p:sp>
      <p:sp>
        <p:nvSpPr>
          <p:cNvPr id="32" name="TextBox 31"/>
          <p:cNvSpPr txBox="1"/>
          <p:nvPr/>
        </p:nvSpPr>
        <p:spPr>
          <a:xfrm>
            <a:off x="6053328" y="4078224"/>
            <a:ext cx="5257800" cy="256032"/>
          </a:xfrm>
          <a:prstGeom prst="rect">
            <a:avLst/>
          </a:prstGeom>
          <a:noFill/>
        </p:spPr>
        <p:txBody>
          <a:bodyPr wrap="square" lIns="0" rIns="0" tIns="0" bIns="0" anchor="t">
            <a:spAutoFit/>
          </a:bodyPr>
          <a:lstStyle/>
          <a:p>
            <a:pPr algn="l">
              <a:lnSpc>
                <a:spcPct val="105000"/>
              </a:lnSpc>
            </a:pPr>
            <a:r>
              <a:rPr sz="950" b="0" i="0">
                <a:solidFill>
                  <a:srgbClr val="5E6A70"/>
                </a:solidFill>
                <a:latin typeface="Avenir Next"/>
              </a:rPr>
              <a:t>2 flights / day  ×  300 days</a:t>
            </a:r>
          </a:p>
        </p:txBody>
      </p:sp>
      <p:sp>
        <p:nvSpPr>
          <p:cNvPr id="33" name="TextBox 32"/>
          <p:cNvSpPr txBox="1"/>
          <p:nvPr/>
        </p:nvSpPr>
        <p:spPr>
          <a:xfrm>
            <a:off x="6053328" y="4370831"/>
            <a:ext cx="5257800" cy="256032"/>
          </a:xfrm>
          <a:prstGeom prst="rect">
            <a:avLst/>
          </a:prstGeom>
          <a:noFill/>
        </p:spPr>
        <p:txBody>
          <a:bodyPr wrap="square" lIns="0" rIns="0" tIns="0" bIns="0" anchor="t">
            <a:spAutoFit/>
          </a:bodyPr>
          <a:lstStyle/>
          <a:p>
            <a:pPr algn="l">
              <a:lnSpc>
                <a:spcPct val="105000"/>
              </a:lnSpc>
            </a:pPr>
            <a:r>
              <a:rPr sz="1050" b="1" i="0">
                <a:solidFill>
                  <a:srgbClr val="0C1F2A"/>
                </a:solidFill>
                <a:latin typeface="Avenir Next"/>
              </a:rPr>
              <a:t>≈ 250–1,000 crew-hours / aircraft / year</a:t>
            </a:r>
          </a:p>
        </p:txBody>
      </p:sp>
      <p:sp>
        <p:nvSpPr>
          <p:cNvPr id="34" name="TextBox 33"/>
          <p:cNvSpPr txBox="1"/>
          <p:nvPr/>
        </p:nvSpPr>
        <p:spPr>
          <a:xfrm>
            <a:off x="6053328" y="4663440"/>
            <a:ext cx="5257800" cy="256032"/>
          </a:xfrm>
          <a:prstGeom prst="rect">
            <a:avLst/>
          </a:prstGeom>
          <a:noFill/>
        </p:spPr>
        <p:txBody>
          <a:bodyPr wrap="square" lIns="0" rIns="0" tIns="0" bIns="0" anchor="t">
            <a:spAutoFit/>
          </a:bodyPr>
          <a:lstStyle/>
          <a:p>
            <a:pPr algn="l">
              <a:lnSpc>
                <a:spcPct val="105000"/>
              </a:lnSpc>
            </a:pPr>
            <a:r>
              <a:rPr sz="1050" b="1" i="0">
                <a:solidFill>
                  <a:srgbClr val="0C1F2A"/>
                </a:solidFill>
                <a:latin typeface="Avenir Next"/>
              </a:rPr>
              <a:t>At ¥4,000 / crew-hour  ≈  ¥1M–¥4M</a:t>
            </a:r>
          </a:p>
        </p:txBody>
      </p:sp>
      <p:sp>
        <p:nvSpPr>
          <p:cNvPr id="35" name="TextBox 34"/>
          <p:cNvSpPr txBox="1"/>
          <p:nvPr/>
        </p:nvSpPr>
        <p:spPr>
          <a:xfrm>
            <a:off x="6053328" y="5303520"/>
            <a:ext cx="5212080" cy="201168"/>
          </a:xfrm>
          <a:prstGeom prst="rect">
            <a:avLst/>
          </a:prstGeom>
          <a:noFill/>
        </p:spPr>
        <p:txBody>
          <a:bodyPr wrap="square" lIns="0" rIns="0" tIns="0" bIns="0" anchor="t">
            <a:spAutoFit/>
          </a:bodyPr>
          <a:lstStyle/>
          <a:p>
            <a:pPr algn="l">
              <a:lnSpc>
                <a:spcPct val="105000"/>
              </a:lnSpc>
            </a:pPr>
            <a:r>
              <a:rPr sz="780" b="0" i="1">
                <a:solidFill>
                  <a:srgbClr val="5E6A70"/>
                </a:solidFill>
                <a:latin typeface="Avenir Next"/>
              </a:rPr>
              <a:t>Pilot will measure actual minutes, repeat rate, and NPS.</a:t>
            </a:r>
          </a:p>
        </p:txBody>
      </p:sp>
      <p:cxnSp>
        <p:nvCxnSpPr>
          <p:cNvPr id="36" name="Connector 35"/>
          <p:cNvCxnSpPr/>
          <p:nvPr/>
        </p:nvCxnSpPr>
        <p:spPr>
          <a:xfrm>
            <a:off x="594360" y="6492240"/>
            <a:ext cx="11000232" cy="0"/>
          </a:xfrm>
          <a:prstGeom prst="line">
            <a:avLst/>
          </a:prstGeom>
          <a:ln w="9525">
            <a:solidFill>
              <a:srgbClr val="E1DACF"/>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94360" y="6556248"/>
            <a:ext cx="6400800" cy="182880"/>
          </a:xfrm>
          <a:prstGeom prst="rect">
            <a:avLst/>
          </a:prstGeom>
          <a:noFill/>
        </p:spPr>
        <p:txBody>
          <a:bodyPr wrap="square" lIns="0" rIns="0" tIns="0" bIns="0" anchor="t">
            <a:spAutoFit/>
          </a:bodyPr>
          <a:lstStyle/>
          <a:p>
            <a:pPr algn="l">
              <a:lnSpc>
                <a:spcPct val="105000"/>
              </a:lnSpc>
            </a:pPr>
            <a:r>
              <a:rPr sz="750" b="1" i="0">
                <a:solidFill>
                  <a:srgbClr val="9AA3A6"/>
                </a:solidFill>
                <a:latin typeface="Avenir Next"/>
              </a:rPr>
              <a:t>CABINBRIDGE  ×  JAPAN AIRLINES</a:t>
            </a:r>
          </a:p>
        </p:txBody>
      </p:sp>
      <p:sp>
        <p:nvSpPr>
          <p:cNvPr id="38" name="TextBox 37"/>
          <p:cNvSpPr txBox="1"/>
          <p:nvPr/>
        </p:nvSpPr>
        <p:spPr>
          <a:xfrm>
            <a:off x="10972800" y="6556248"/>
            <a:ext cx="621792" cy="182880"/>
          </a:xfrm>
          <a:prstGeom prst="rect">
            <a:avLst/>
          </a:prstGeom>
          <a:noFill/>
        </p:spPr>
        <p:txBody>
          <a:bodyPr wrap="square" lIns="0" rIns="0" tIns="0" bIns="0" anchor="t">
            <a:spAutoFit/>
          </a:bodyPr>
          <a:lstStyle/>
          <a:p>
            <a:pPr algn="r">
              <a:lnSpc>
                <a:spcPct val="105000"/>
              </a:lnSpc>
            </a:pPr>
            <a:r>
              <a:rPr sz="750" b="0" i="0">
                <a:solidFill>
                  <a:srgbClr val="9AA3A6"/>
                </a:solidFill>
                <a:latin typeface="Avenir Next"/>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68580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47472"/>
            <a:ext cx="9601200" cy="228600"/>
          </a:xfrm>
          <a:prstGeom prst="rect">
            <a:avLst/>
          </a:prstGeom>
          <a:noFill/>
        </p:spPr>
        <p:txBody>
          <a:bodyPr wrap="square" lIns="0" rIns="0" tIns="0" bIns="0" anchor="t">
            <a:spAutoFit/>
          </a:bodyPr>
          <a:lstStyle/>
          <a:p>
            <a:pPr algn="l">
              <a:lnSpc>
                <a:spcPct val="105000"/>
              </a:lnSpc>
            </a:pPr>
            <a:r>
              <a:rPr sz="850" b="1" i="0">
                <a:solidFill>
                  <a:srgbClr val="C8102E"/>
                </a:solidFill>
                <a:latin typeface="Avenir Next"/>
              </a:rPr>
              <a:t>10  ·  DEPLOYMENT</a:t>
            </a:r>
          </a:p>
        </p:txBody>
      </p:sp>
      <p:sp>
        <p:nvSpPr>
          <p:cNvPr id="5" name="TextBox 4"/>
          <p:cNvSpPr txBox="1"/>
          <p:nvPr/>
        </p:nvSpPr>
        <p:spPr>
          <a:xfrm>
            <a:off x="576072" y="621792"/>
            <a:ext cx="10972800" cy="1051560"/>
          </a:xfrm>
          <a:prstGeom prst="rect">
            <a:avLst/>
          </a:prstGeom>
          <a:noFill/>
        </p:spPr>
        <p:txBody>
          <a:bodyPr wrap="square" lIns="0" rIns="0" tIns="0" bIns="0" anchor="t">
            <a:spAutoFit/>
          </a:bodyPr>
          <a:lstStyle/>
          <a:p>
            <a:pPr algn="l">
              <a:lnSpc>
                <a:spcPct val="95000"/>
              </a:lnSpc>
            </a:pPr>
            <a:r>
              <a:rPr sz="3000" b="1" i="0">
                <a:solidFill>
                  <a:srgbClr val="0C1F2A"/>
                </a:solidFill>
                <a:latin typeface="Avenir Next"/>
              </a:rPr>
              <a:t>Fits the aircraft you already fly.</a:t>
            </a:r>
          </a:p>
        </p:txBody>
      </p:sp>
      <p:sp>
        <p:nvSpPr>
          <p:cNvPr id="6" name="TextBox 5"/>
          <p:cNvSpPr txBox="1"/>
          <p:nvPr/>
        </p:nvSpPr>
        <p:spPr>
          <a:xfrm>
            <a:off x="594360" y="1353312"/>
            <a:ext cx="10789920" cy="502920"/>
          </a:xfrm>
          <a:prstGeom prst="rect">
            <a:avLst/>
          </a:prstGeom>
          <a:noFill/>
        </p:spPr>
        <p:txBody>
          <a:bodyPr wrap="square" lIns="0" rIns="0" tIns="0" bIns="0" anchor="t">
            <a:spAutoFit/>
          </a:bodyPr>
          <a:lstStyle/>
          <a:p>
            <a:pPr algn="l">
              <a:lnSpc>
                <a:spcPct val="110000"/>
              </a:lnSpc>
            </a:pPr>
            <a:r>
              <a:rPr sz="1200" b="0" i="0">
                <a:solidFill>
                  <a:srgbClr val="5E6A70"/>
                </a:solidFill>
                <a:latin typeface="Avenir Next"/>
              </a:rPr>
              <a:t>No aircraft modification. Start with existing crew devices and a local edge.</a:t>
            </a:r>
          </a:p>
        </p:txBody>
      </p:sp>
      <p:sp>
        <p:nvSpPr>
          <p:cNvPr id="7" name="Rounded Rectangle 6"/>
          <p:cNvSpPr/>
          <p:nvPr/>
        </p:nvSpPr>
        <p:spPr>
          <a:xfrm>
            <a:off x="594360" y="1783080"/>
            <a:ext cx="11018520" cy="502920"/>
          </a:xfrm>
          <a:prstGeom prst="roundRect">
            <a:avLst>
              <a:gd name="adj" fmla="val 8000"/>
            </a:avLst>
          </a:prstGeom>
          <a:solidFill>
            <a:srgbClr val="0C1F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29384"/>
            <a:ext cx="10424160" cy="228600"/>
          </a:xfrm>
          <a:prstGeom prst="rect">
            <a:avLst/>
          </a:prstGeom>
          <a:noFill/>
        </p:spPr>
        <p:txBody>
          <a:bodyPr wrap="square" lIns="0" rIns="0" tIns="0" bIns="0" anchor="t">
            <a:spAutoFit/>
          </a:bodyPr>
          <a:lstStyle/>
          <a:p>
            <a:pPr algn="l">
              <a:lnSpc>
                <a:spcPct val="105000"/>
              </a:lnSpc>
            </a:pPr>
            <a:r>
              <a:rPr sz="800" b="1" i="0">
                <a:solidFill>
                  <a:srgbClr val="E85A63"/>
                </a:solidFill>
                <a:latin typeface="Avenir Next"/>
              </a:rPr>
              <a:t>LOCAL-FIRST  </a:t>
            </a:r>
            <a:r>
              <a:rPr sz="950" b="1" i="0">
                <a:solidFill>
                  <a:srgbClr val="FFFFFF"/>
                </a:solidFill>
                <a:latin typeface="Avenir Next"/>
              </a:rPr>
              <a:t>no passenger audio leaves the aircraft  ·  optional cloud only for consented summaries</a:t>
            </a:r>
          </a:p>
        </p:txBody>
      </p:sp>
      <p:sp>
        <p:nvSpPr>
          <p:cNvPr id="9" name="Rounded Rectangle 8"/>
          <p:cNvSpPr/>
          <p:nvPr/>
        </p:nvSpPr>
        <p:spPr>
          <a:xfrm>
            <a:off x="594360" y="2560320"/>
            <a:ext cx="3584448" cy="2514600"/>
          </a:xfrm>
          <a:prstGeom prst="roundRect">
            <a:avLst>
              <a:gd name="adj" fmla="val 8000"/>
            </a:avLst>
          </a:prstGeom>
          <a:solidFill>
            <a:srgbClr val="FFFFFF"/>
          </a:solidFill>
          <a:ln w="12700">
            <a:solidFill>
              <a:srgbClr val="E1DA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2743200"/>
            <a:ext cx="3108960" cy="182880"/>
          </a:xfrm>
          <a:prstGeom prst="rect">
            <a:avLst/>
          </a:prstGeom>
          <a:noFill/>
        </p:spPr>
        <p:txBody>
          <a:bodyPr wrap="square" lIns="0" rIns="0" tIns="0" bIns="0" anchor="t">
            <a:spAutoFit/>
          </a:bodyPr>
          <a:lstStyle/>
          <a:p>
            <a:pPr algn="l">
              <a:lnSpc>
                <a:spcPct val="105000"/>
              </a:lnSpc>
            </a:pPr>
            <a:r>
              <a:rPr sz="750" b="1" i="0">
                <a:solidFill>
                  <a:srgbClr val="C8102E"/>
                </a:solidFill>
                <a:latin typeface="Avenir Next"/>
              </a:rPr>
              <a:t>RECOMMENDED</a:t>
            </a:r>
          </a:p>
        </p:txBody>
      </p:sp>
      <p:sp>
        <p:nvSpPr>
          <p:cNvPr id="11" name="TextBox 10"/>
          <p:cNvSpPr txBox="1"/>
          <p:nvPr/>
        </p:nvSpPr>
        <p:spPr>
          <a:xfrm>
            <a:off x="795528" y="2980944"/>
            <a:ext cx="3108960" cy="274320"/>
          </a:xfrm>
          <a:prstGeom prst="rect">
            <a:avLst/>
          </a:prstGeom>
          <a:noFill/>
        </p:spPr>
        <p:txBody>
          <a:bodyPr wrap="square" lIns="0" rIns="0" tIns="0" bIns="0" anchor="t">
            <a:spAutoFit/>
          </a:bodyPr>
          <a:lstStyle/>
          <a:p>
            <a:pPr algn="l">
              <a:lnSpc>
                <a:spcPct val="105000"/>
              </a:lnSpc>
            </a:pPr>
            <a:r>
              <a:rPr sz="1500" b="1" i="0">
                <a:solidFill>
                  <a:srgbClr val="0C1F2A"/>
                </a:solidFill>
                <a:latin typeface="Avenir Next"/>
              </a:rPr>
              <a:t>ONBOARD EDGE</a:t>
            </a:r>
          </a:p>
        </p:txBody>
      </p:sp>
      <p:sp>
        <p:nvSpPr>
          <p:cNvPr id="12" name="TextBox 11"/>
          <p:cNvSpPr txBox="1"/>
          <p:nvPr/>
        </p:nvSpPr>
        <p:spPr>
          <a:xfrm>
            <a:off x="795528" y="3364992"/>
            <a:ext cx="3154680" cy="914400"/>
          </a:xfrm>
          <a:prstGeom prst="rect">
            <a:avLst/>
          </a:prstGeom>
          <a:noFill/>
        </p:spPr>
        <p:txBody>
          <a:bodyPr wrap="square" lIns="0" rIns="0" tIns="0" bIns="0" anchor="t">
            <a:spAutoFit/>
          </a:bodyPr>
          <a:lstStyle/>
          <a:p>
            <a:pPr algn="l">
              <a:lnSpc>
                <a:spcPct val="115000"/>
              </a:lnSpc>
            </a:pPr>
            <a:r>
              <a:rPr sz="950" b="0" i="0">
                <a:solidFill>
                  <a:srgbClr val="5E6A70"/>
                </a:solidFill>
                <a:latin typeface="Avenir Next"/>
              </a:rPr>
              <a:t>Small local device on the aircraft. Crew tablets connect over the cabin network. No internet.</a:t>
            </a:r>
          </a:p>
        </p:txBody>
      </p:sp>
      <p:sp>
        <p:nvSpPr>
          <p:cNvPr id="13" name="TextBox 12"/>
          <p:cNvSpPr txBox="1"/>
          <p:nvPr/>
        </p:nvSpPr>
        <p:spPr>
          <a:xfrm>
            <a:off x="795528" y="4590288"/>
            <a:ext cx="3108960" cy="228600"/>
          </a:xfrm>
          <a:prstGeom prst="rect">
            <a:avLst/>
          </a:prstGeom>
          <a:noFill/>
        </p:spPr>
        <p:txBody>
          <a:bodyPr wrap="square" lIns="0" rIns="0" tIns="0" bIns="0" anchor="t">
            <a:spAutoFit/>
          </a:bodyPr>
          <a:lstStyle/>
          <a:p>
            <a:pPr algn="l">
              <a:lnSpc>
                <a:spcPct val="105000"/>
              </a:lnSpc>
            </a:pPr>
            <a:r>
              <a:rPr sz="850" b="1" i="0">
                <a:solidFill>
                  <a:srgbClr val="0F6B5C"/>
                </a:solidFill>
                <a:latin typeface="Avenir Next"/>
              </a:rPr>
              <a:t>Pilot · one route</a:t>
            </a:r>
          </a:p>
        </p:txBody>
      </p:sp>
      <p:sp>
        <p:nvSpPr>
          <p:cNvPr id="14" name="Rounded Rectangle 13"/>
          <p:cNvSpPr/>
          <p:nvPr/>
        </p:nvSpPr>
        <p:spPr>
          <a:xfrm>
            <a:off x="4361688" y="2560320"/>
            <a:ext cx="3584448" cy="2514600"/>
          </a:xfrm>
          <a:prstGeom prst="roundRect">
            <a:avLst>
              <a:gd name="adj" fmla="val 8000"/>
            </a:avLst>
          </a:prstGeom>
          <a:solidFill>
            <a:srgbClr val="FFFFFF"/>
          </a:solidFill>
          <a:ln w="12700">
            <a:solidFill>
              <a:srgbClr val="E1DA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62856" y="2743200"/>
            <a:ext cx="3108960" cy="182880"/>
          </a:xfrm>
          <a:prstGeom prst="rect">
            <a:avLst/>
          </a:prstGeom>
          <a:noFill/>
        </p:spPr>
        <p:txBody>
          <a:bodyPr wrap="square" lIns="0" rIns="0" tIns="0" bIns="0" anchor="t">
            <a:spAutoFit/>
          </a:bodyPr>
          <a:lstStyle/>
          <a:p>
            <a:pPr algn="l">
              <a:lnSpc>
                <a:spcPct val="105000"/>
              </a:lnSpc>
            </a:pPr>
            <a:r>
              <a:rPr sz="750" b="1" i="0">
                <a:solidFill>
                  <a:srgbClr val="5E6A70"/>
                </a:solidFill>
                <a:latin typeface="Avenir Next"/>
              </a:rPr>
              <a:t>FAST START</a:t>
            </a:r>
          </a:p>
        </p:txBody>
      </p:sp>
      <p:sp>
        <p:nvSpPr>
          <p:cNvPr id="16" name="TextBox 15"/>
          <p:cNvSpPr txBox="1"/>
          <p:nvPr/>
        </p:nvSpPr>
        <p:spPr>
          <a:xfrm>
            <a:off x="4562856" y="2980944"/>
            <a:ext cx="3108960" cy="274320"/>
          </a:xfrm>
          <a:prstGeom prst="rect">
            <a:avLst/>
          </a:prstGeom>
          <a:noFill/>
        </p:spPr>
        <p:txBody>
          <a:bodyPr wrap="square" lIns="0" rIns="0" tIns="0" bIns="0" anchor="t">
            <a:spAutoFit/>
          </a:bodyPr>
          <a:lstStyle/>
          <a:p>
            <a:pPr algn="l">
              <a:lnSpc>
                <a:spcPct val="105000"/>
              </a:lnSpc>
            </a:pPr>
            <a:r>
              <a:rPr sz="1500" b="1" i="0">
                <a:solidFill>
                  <a:srgbClr val="0C1F2A"/>
                </a:solidFill>
                <a:latin typeface="Avenir Next"/>
              </a:rPr>
              <a:t>CREW TABLET</a:t>
            </a:r>
          </a:p>
        </p:txBody>
      </p:sp>
      <p:sp>
        <p:nvSpPr>
          <p:cNvPr id="17" name="TextBox 16"/>
          <p:cNvSpPr txBox="1"/>
          <p:nvPr/>
        </p:nvSpPr>
        <p:spPr>
          <a:xfrm>
            <a:off x="4562856" y="3364992"/>
            <a:ext cx="3154680" cy="914400"/>
          </a:xfrm>
          <a:prstGeom prst="rect">
            <a:avLst/>
          </a:prstGeom>
          <a:noFill/>
        </p:spPr>
        <p:txBody>
          <a:bodyPr wrap="square" lIns="0" rIns="0" tIns="0" bIns="0" anchor="t">
            <a:spAutoFit/>
          </a:bodyPr>
          <a:lstStyle/>
          <a:p>
            <a:pPr algn="l">
              <a:lnSpc>
                <a:spcPct val="115000"/>
              </a:lnSpc>
            </a:pPr>
            <a:r>
              <a:rPr sz="950" b="0" i="0">
                <a:solidFill>
                  <a:srgbClr val="5E6A70"/>
                </a:solidFill>
                <a:latin typeface="Avenir Next"/>
              </a:rPr>
              <a:t>Runs on existing crew tablets with local models. Syncs when the aircraft is on the ground.</a:t>
            </a:r>
          </a:p>
        </p:txBody>
      </p:sp>
      <p:sp>
        <p:nvSpPr>
          <p:cNvPr id="18" name="TextBox 17"/>
          <p:cNvSpPr txBox="1"/>
          <p:nvPr/>
        </p:nvSpPr>
        <p:spPr>
          <a:xfrm>
            <a:off x="4562856" y="4590288"/>
            <a:ext cx="3108960" cy="228600"/>
          </a:xfrm>
          <a:prstGeom prst="rect">
            <a:avLst/>
          </a:prstGeom>
          <a:noFill/>
        </p:spPr>
        <p:txBody>
          <a:bodyPr wrap="square" lIns="0" rIns="0" tIns="0" bIns="0" anchor="t">
            <a:spAutoFit/>
          </a:bodyPr>
          <a:lstStyle/>
          <a:p>
            <a:pPr algn="l">
              <a:lnSpc>
                <a:spcPct val="105000"/>
              </a:lnSpc>
            </a:pPr>
            <a:r>
              <a:rPr sz="850" b="1" i="0">
                <a:solidFill>
                  <a:srgbClr val="0F6B5C"/>
                </a:solidFill>
                <a:latin typeface="Avenir Next"/>
              </a:rPr>
              <a:t>Pilot · two aircraft</a:t>
            </a:r>
          </a:p>
        </p:txBody>
      </p:sp>
      <p:sp>
        <p:nvSpPr>
          <p:cNvPr id="19" name="Rounded Rectangle 18"/>
          <p:cNvSpPr/>
          <p:nvPr/>
        </p:nvSpPr>
        <p:spPr>
          <a:xfrm>
            <a:off x="8129016" y="2560320"/>
            <a:ext cx="3584448" cy="2514600"/>
          </a:xfrm>
          <a:prstGeom prst="roundRect">
            <a:avLst>
              <a:gd name="adj" fmla="val 8000"/>
            </a:avLst>
          </a:prstGeom>
          <a:solidFill>
            <a:srgbClr val="FFFFFF"/>
          </a:solidFill>
          <a:ln w="12700">
            <a:solidFill>
              <a:srgbClr val="E1DA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30184" y="2743200"/>
            <a:ext cx="3108960" cy="182880"/>
          </a:xfrm>
          <a:prstGeom prst="rect">
            <a:avLst/>
          </a:prstGeom>
          <a:noFill/>
        </p:spPr>
        <p:txBody>
          <a:bodyPr wrap="square" lIns="0" rIns="0" tIns="0" bIns="0" anchor="t">
            <a:spAutoFit/>
          </a:bodyPr>
          <a:lstStyle/>
          <a:p>
            <a:pPr algn="l">
              <a:lnSpc>
                <a:spcPct val="105000"/>
              </a:lnSpc>
            </a:pPr>
            <a:r>
              <a:rPr sz="750" b="1" i="0">
                <a:solidFill>
                  <a:srgbClr val="5E6A70"/>
                </a:solidFill>
                <a:latin typeface="Avenir Next"/>
              </a:rPr>
              <a:t>LOUNGE / GATE</a:t>
            </a:r>
          </a:p>
        </p:txBody>
      </p:sp>
      <p:sp>
        <p:nvSpPr>
          <p:cNvPr id="21" name="TextBox 20"/>
          <p:cNvSpPr txBox="1"/>
          <p:nvPr/>
        </p:nvSpPr>
        <p:spPr>
          <a:xfrm>
            <a:off x="8330184" y="2980944"/>
            <a:ext cx="3108960" cy="274320"/>
          </a:xfrm>
          <a:prstGeom prst="rect">
            <a:avLst/>
          </a:prstGeom>
          <a:noFill/>
        </p:spPr>
        <p:txBody>
          <a:bodyPr wrap="square" lIns="0" rIns="0" tIns="0" bIns="0" anchor="t">
            <a:spAutoFit/>
          </a:bodyPr>
          <a:lstStyle/>
          <a:p>
            <a:pPr algn="l">
              <a:lnSpc>
                <a:spcPct val="105000"/>
              </a:lnSpc>
            </a:pPr>
            <a:r>
              <a:rPr sz="1500" b="1" i="0">
                <a:solidFill>
                  <a:srgbClr val="0C1F2A"/>
                </a:solidFill>
                <a:latin typeface="Avenir Next"/>
              </a:rPr>
              <a:t>GROUND-HOSTED</a:t>
            </a:r>
          </a:p>
        </p:txBody>
      </p:sp>
      <p:sp>
        <p:nvSpPr>
          <p:cNvPr id="22" name="TextBox 21"/>
          <p:cNvSpPr txBox="1"/>
          <p:nvPr/>
        </p:nvSpPr>
        <p:spPr>
          <a:xfrm>
            <a:off x="8330184" y="3364992"/>
            <a:ext cx="3154680" cy="914400"/>
          </a:xfrm>
          <a:prstGeom prst="rect">
            <a:avLst/>
          </a:prstGeom>
          <a:noFill/>
        </p:spPr>
        <p:txBody>
          <a:bodyPr wrap="square" lIns="0" rIns="0" tIns="0" bIns="0" anchor="t">
            <a:spAutoFit/>
          </a:bodyPr>
          <a:lstStyle/>
          <a:p>
            <a:pPr algn="l">
              <a:lnSpc>
                <a:spcPct val="115000"/>
              </a:lnSpc>
            </a:pPr>
            <a:r>
              <a:rPr sz="950" b="0" i="0">
                <a:solidFill>
                  <a:srgbClr val="5E6A70"/>
                </a:solidFill>
                <a:latin typeface="Avenir Next"/>
              </a:rPr>
              <a:t>For ground staff and gates. Optional Jev summary API, with consent and data controls.</a:t>
            </a:r>
          </a:p>
        </p:txBody>
      </p:sp>
      <p:sp>
        <p:nvSpPr>
          <p:cNvPr id="23" name="TextBox 22"/>
          <p:cNvSpPr txBox="1"/>
          <p:nvPr/>
        </p:nvSpPr>
        <p:spPr>
          <a:xfrm>
            <a:off x="8330184" y="4590288"/>
            <a:ext cx="3108960" cy="228600"/>
          </a:xfrm>
          <a:prstGeom prst="rect">
            <a:avLst/>
          </a:prstGeom>
          <a:noFill/>
        </p:spPr>
        <p:txBody>
          <a:bodyPr wrap="square" lIns="0" rIns="0" tIns="0" bIns="0" anchor="t">
            <a:spAutoFit/>
          </a:bodyPr>
          <a:lstStyle/>
          <a:p>
            <a:pPr algn="l">
              <a:lnSpc>
                <a:spcPct val="105000"/>
              </a:lnSpc>
            </a:pPr>
            <a:r>
              <a:rPr sz="850" b="1" i="0">
                <a:solidFill>
                  <a:srgbClr val="0F6B5C"/>
                </a:solidFill>
                <a:latin typeface="Avenir Next"/>
              </a:rPr>
              <a:t>Phase 2</a:t>
            </a:r>
          </a:p>
        </p:txBody>
      </p:sp>
      <p:sp>
        <p:nvSpPr>
          <p:cNvPr id="24" name="Rounded Rectangle 23"/>
          <p:cNvSpPr/>
          <p:nvPr/>
        </p:nvSpPr>
        <p:spPr>
          <a:xfrm>
            <a:off x="594360" y="5440680"/>
            <a:ext cx="2514600" cy="256032"/>
          </a:xfrm>
          <a:prstGeom prst="roundRect">
            <a:avLst>
              <a:gd name="adj" fmla="val 50000"/>
            </a:avLst>
          </a:prstGeom>
          <a:solidFill>
            <a:srgbClr val="FFFFFF"/>
          </a:solidFill>
          <a:ln w="12700">
            <a:solidFill>
              <a:srgbClr val="E1DAC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850" b="1">
                <a:solidFill>
                  <a:srgbClr val="0C1F2A"/>
                </a:solidFill>
                <a:latin typeface="Avenir Next"/>
              </a:rPr>
              <a:t>Per aircraft / month</a:t>
            </a:r>
          </a:p>
        </p:txBody>
      </p:sp>
      <p:sp>
        <p:nvSpPr>
          <p:cNvPr id="25" name="Rounded Rectangle 24"/>
          <p:cNvSpPr/>
          <p:nvPr/>
        </p:nvSpPr>
        <p:spPr>
          <a:xfrm>
            <a:off x="3410712" y="5440680"/>
            <a:ext cx="2514600" cy="256032"/>
          </a:xfrm>
          <a:prstGeom prst="roundRect">
            <a:avLst>
              <a:gd name="adj" fmla="val 50000"/>
            </a:avLst>
          </a:prstGeom>
          <a:solidFill>
            <a:srgbClr val="FFFFFF"/>
          </a:solidFill>
          <a:ln w="12700">
            <a:solidFill>
              <a:srgbClr val="E1DAC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850" b="1">
                <a:solidFill>
                  <a:srgbClr val="0C1F2A"/>
                </a:solidFill>
                <a:latin typeface="Avenir Next"/>
              </a:rPr>
              <a:t>Integration fee</a:t>
            </a:r>
          </a:p>
        </p:txBody>
      </p:sp>
      <p:sp>
        <p:nvSpPr>
          <p:cNvPr id="26" name="Rounded Rectangle 25"/>
          <p:cNvSpPr/>
          <p:nvPr/>
        </p:nvSpPr>
        <p:spPr>
          <a:xfrm>
            <a:off x="6227064" y="5440680"/>
            <a:ext cx="2514600" cy="256032"/>
          </a:xfrm>
          <a:prstGeom prst="roundRect">
            <a:avLst>
              <a:gd name="adj" fmla="val 50000"/>
            </a:avLst>
          </a:prstGeom>
          <a:solidFill>
            <a:srgbClr val="FFFFFF"/>
          </a:solidFill>
          <a:ln w="12700">
            <a:solidFill>
              <a:srgbClr val="E1DAC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850" b="1">
                <a:solidFill>
                  <a:srgbClr val="0C1F2A"/>
                </a:solidFill>
                <a:latin typeface="Avenir Next"/>
              </a:rPr>
              <a:t>8-week pilot</a:t>
            </a:r>
          </a:p>
        </p:txBody>
      </p:sp>
      <p:sp>
        <p:nvSpPr>
          <p:cNvPr id="27" name="Rounded Rectangle 26"/>
          <p:cNvSpPr/>
          <p:nvPr/>
        </p:nvSpPr>
        <p:spPr>
          <a:xfrm>
            <a:off x="9043416" y="5440680"/>
            <a:ext cx="2514600" cy="256032"/>
          </a:xfrm>
          <a:prstGeom prst="roundRect">
            <a:avLst>
              <a:gd name="adj" fmla="val 50000"/>
            </a:avLst>
          </a:prstGeom>
          <a:solidFill>
            <a:srgbClr val="FFFFFF"/>
          </a:solidFill>
          <a:ln w="12700">
            <a:solidFill>
              <a:srgbClr val="E1DAC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850" b="1">
                <a:solidFill>
                  <a:srgbClr val="0C1F2A"/>
                </a:solidFill>
                <a:latin typeface="Avenir Next"/>
              </a:rPr>
              <a:t>No passenger data stored</a:t>
            </a:r>
          </a:p>
        </p:txBody>
      </p:sp>
      <p:cxnSp>
        <p:nvCxnSpPr>
          <p:cNvPr id="28" name="Connector 27"/>
          <p:cNvCxnSpPr/>
          <p:nvPr/>
        </p:nvCxnSpPr>
        <p:spPr>
          <a:xfrm>
            <a:off x="594360" y="6492240"/>
            <a:ext cx="11000232" cy="0"/>
          </a:xfrm>
          <a:prstGeom prst="line">
            <a:avLst/>
          </a:prstGeom>
          <a:ln w="9525">
            <a:solidFill>
              <a:srgbClr val="E1DACF"/>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94360" y="6556248"/>
            <a:ext cx="6400800" cy="182880"/>
          </a:xfrm>
          <a:prstGeom prst="rect">
            <a:avLst/>
          </a:prstGeom>
          <a:noFill/>
        </p:spPr>
        <p:txBody>
          <a:bodyPr wrap="square" lIns="0" rIns="0" tIns="0" bIns="0" anchor="t">
            <a:spAutoFit/>
          </a:bodyPr>
          <a:lstStyle/>
          <a:p>
            <a:pPr algn="l">
              <a:lnSpc>
                <a:spcPct val="105000"/>
              </a:lnSpc>
            </a:pPr>
            <a:r>
              <a:rPr sz="750" b="1" i="0">
                <a:solidFill>
                  <a:srgbClr val="9AA3A6"/>
                </a:solidFill>
                <a:latin typeface="Avenir Next"/>
              </a:rPr>
              <a:t>CABINBRIDGE  ×  JAPAN AIRLINES</a:t>
            </a:r>
          </a:p>
        </p:txBody>
      </p:sp>
      <p:sp>
        <p:nvSpPr>
          <p:cNvPr id="30" name="TextBox 29"/>
          <p:cNvSpPr txBox="1"/>
          <p:nvPr/>
        </p:nvSpPr>
        <p:spPr>
          <a:xfrm>
            <a:off x="10972800" y="6556248"/>
            <a:ext cx="621792" cy="182880"/>
          </a:xfrm>
          <a:prstGeom prst="rect">
            <a:avLst/>
          </a:prstGeom>
          <a:noFill/>
        </p:spPr>
        <p:txBody>
          <a:bodyPr wrap="square" lIns="0" rIns="0" tIns="0" bIns="0" anchor="t">
            <a:spAutoFit/>
          </a:bodyPr>
          <a:lstStyle/>
          <a:p>
            <a:pPr algn="r">
              <a:lnSpc>
                <a:spcPct val="105000"/>
              </a:lnSpc>
            </a:pPr>
            <a:r>
              <a:rPr sz="750" b="0" i="0">
                <a:solidFill>
                  <a:srgbClr val="9AA3A6"/>
                </a:solidFill>
                <a:latin typeface="Avenir Next"/>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68580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47472"/>
            <a:ext cx="9601200" cy="228600"/>
          </a:xfrm>
          <a:prstGeom prst="rect">
            <a:avLst/>
          </a:prstGeom>
          <a:noFill/>
        </p:spPr>
        <p:txBody>
          <a:bodyPr wrap="square" lIns="0" rIns="0" tIns="0" bIns="0" anchor="t">
            <a:spAutoFit/>
          </a:bodyPr>
          <a:lstStyle/>
          <a:p>
            <a:pPr algn="l">
              <a:lnSpc>
                <a:spcPct val="105000"/>
              </a:lnSpc>
            </a:pPr>
            <a:r>
              <a:rPr sz="850" b="1" i="0">
                <a:solidFill>
                  <a:srgbClr val="C8102E"/>
                </a:solidFill>
                <a:latin typeface="Avenir Next"/>
              </a:rPr>
              <a:t>11  ·  STACK</a:t>
            </a:r>
          </a:p>
        </p:txBody>
      </p:sp>
      <p:sp>
        <p:nvSpPr>
          <p:cNvPr id="5" name="TextBox 4"/>
          <p:cNvSpPr txBox="1"/>
          <p:nvPr/>
        </p:nvSpPr>
        <p:spPr>
          <a:xfrm>
            <a:off x="576072" y="621792"/>
            <a:ext cx="10972800" cy="1051560"/>
          </a:xfrm>
          <a:prstGeom prst="rect">
            <a:avLst/>
          </a:prstGeom>
          <a:noFill/>
        </p:spPr>
        <p:txBody>
          <a:bodyPr wrap="square" lIns="0" rIns="0" tIns="0" bIns="0" anchor="t">
            <a:spAutoFit/>
          </a:bodyPr>
          <a:lstStyle/>
          <a:p>
            <a:pPr algn="l">
              <a:lnSpc>
                <a:spcPct val="95000"/>
              </a:lnSpc>
            </a:pPr>
            <a:r>
              <a:rPr sz="2800" b="1" i="0">
                <a:solidFill>
                  <a:srgbClr val="0C1F2A"/>
                </a:solidFill>
                <a:latin typeface="Avenir Next"/>
              </a:rPr>
              <a:t>Boring where it matters.
Local where it counts.</a:t>
            </a:r>
          </a:p>
        </p:txBody>
      </p:sp>
      <p:sp>
        <p:nvSpPr>
          <p:cNvPr id="6" name="Rounded Rectangle 5"/>
          <p:cNvSpPr/>
          <p:nvPr/>
        </p:nvSpPr>
        <p:spPr>
          <a:xfrm>
            <a:off x="594360" y="1783080"/>
            <a:ext cx="2011680" cy="822960"/>
          </a:xfrm>
          <a:prstGeom prst="roundRect">
            <a:avLst>
              <a:gd name="adj" fmla="val 8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66543"/>
            <a:ext cx="1737360" cy="228600"/>
          </a:xfrm>
          <a:prstGeom prst="rect">
            <a:avLst/>
          </a:prstGeom>
          <a:noFill/>
        </p:spPr>
        <p:txBody>
          <a:bodyPr wrap="square" lIns="0" rIns="0" tIns="0" bIns="0" anchor="t">
            <a:spAutoFit/>
          </a:bodyPr>
          <a:lstStyle/>
          <a:p>
            <a:pPr algn="l">
              <a:lnSpc>
                <a:spcPct val="105000"/>
              </a:lnSpc>
            </a:pPr>
            <a:r>
              <a:rPr sz="900" b="1" i="0">
                <a:solidFill>
                  <a:srgbClr val="FFFFFF"/>
                </a:solidFill>
                <a:latin typeface="Avenir Next"/>
              </a:rPr>
              <a:t>EXPERIENCE</a:t>
            </a:r>
          </a:p>
        </p:txBody>
      </p:sp>
      <p:sp>
        <p:nvSpPr>
          <p:cNvPr id="8" name="Rounded Rectangle 7"/>
          <p:cNvSpPr/>
          <p:nvPr/>
        </p:nvSpPr>
        <p:spPr>
          <a:xfrm>
            <a:off x="2697480" y="1783080"/>
            <a:ext cx="8915400" cy="822960"/>
          </a:xfrm>
          <a:prstGeom prst="roundRect">
            <a:avLst>
              <a:gd name="adj" fmla="val 8000"/>
            </a:avLst>
          </a:prstGeom>
          <a:solidFill>
            <a:srgbClr val="FFFFFF"/>
          </a:solidFill>
          <a:ln w="12700">
            <a:solidFill>
              <a:srgbClr val="E1DA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880360" y="2066543"/>
            <a:ext cx="1920240" cy="256032"/>
          </a:xfrm>
          <a:prstGeom prst="roundRect">
            <a:avLst>
              <a:gd name="adj" fmla="val 50000"/>
            </a:avLst>
          </a:prstGeom>
          <a:solidFill>
            <a:srgbClr val="F9E9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800" b="1">
                <a:solidFill>
                  <a:srgbClr val="0C1F2A"/>
                </a:solidFill>
                <a:latin typeface="Avenir Next"/>
              </a:rPr>
              <a:t>React 18</a:t>
            </a:r>
          </a:p>
        </p:txBody>
      </p:sp>
      <p:sp>
        <p:nvSpPr>
          <p:cNvPr id="10" name="Rounded Rectangle 9"/>
          <p:cNvSpPr/>
          <p:nvPr/>
        </p:nvSpPr>
        <p:spPr>
          <a:xfrm>
            <a:off x="4983479" y="2066543"/>
            <a:ext cx="1920240" cy="256032"/>
          </a:xfrm>
          <a:prstGeom prst="roundRect">
            <a:avLst>
              <a:gd name="adj" fmla="val 50000"/>
            </a:avLst>
          </a:prstGeom>
          <a:solidFill>
            <a:srgbClr val="F9E9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800" b="1">
                <a:solidFill>
                  <a:srgbClr val="0C1F2A"/>
                </a:solidFill>
                <a:latin typeface="Avenir Next"/>
              </a:rPr>
              <a:t>Vite</a:t>
            </a:r>
          </a:p>
        </p:txBody>
      </p:sp>
      <p:sp>
        <p:nvSpPr>
          <p:cNvPr id="11" name="Rounded Rectangle 10"/>
          <p:cNvSpPr/>
          <p:nvPr/>
        </p:nvSpPr>
        <p:spPr>
          <a:xfrm>
            <a:off x="7086600" y="2066543"/>
            <a:ext cx="1920240" cy="256032"/>
          </a:xfrm>
          <a:prstGeom prst="roundRect">
            <a:avLst>
              <a:gd name="adj" fmla="val 50000"/>
            </a:avLst>
          </a:prstGeom>
          <a:solidFill>
            <a:srgbClr val="F9E9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800" b="1">
                <a:solidFill>
                  <a:srgbClr val="0C1F2A"/>
                </a:solidFill>
                <a:latin typeface="Avenir Next"/>
              </a:rPr>
              <a:t>MediaRecorder</a:t>
            </a:r>
          </a:p>
        </p:txBody>
      </p:sp>
      <p:sp>
        <p:nvSpPr>
          <p:cNvPr id="12" name="Rounded Rectangle 11"/>
          <p:cNvSpPr/>
          <p:nvPr/>
        </p:nvSpPr>
        <p:spPr>
          <a:xfrm>
            <a:off x="9189719" y="2066543"/>
            <a:ext cx="1920240" cy="256032"/>
          </a:xfrm>
          <a:prstGeom prst="roundRect">
            <a:avLst>
              <a:gd name="adj" fmla="val 50000"/>
            </a:avLst>
          </a:prstGeom>
          <a:solidFill>
            <a:srgbClr val="F9E9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800" b="1">
                <a:solidFill>
                  <a:srgbClr val="0C1F2A"/>
                </a:solidFill>
                <a:latin typeface="Avenir Next"/>
              </a:rPr>
              <a:t>Web Speech</a:t>
            </a:r>
          </a:p>
        </p:txBody>
      </p:sp>
      <p:sp>
        <p:nvSpPr>
          <p:cNvPr id="13" name="Rounded Rectangle 12"/>
          <p:cNvSpPr/>
          <p:nvPr/>
        </p:nvSpPr>
        <p:spPr>
          <a:xfrm>
            <a:off x="594360" y="2807208"/>
            <a:ext cx="2011680" cy="822960"/>
          </a:xfrm>
          <a:prstGeom prst="roundRect">
            <a:avLst>
              <a:gd name="adj" fmla="val 8000"/>
            </a:avLst>
          </a:prstGeom>
          <a:solidFill>
            <a:srgbClr val="B48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090672"/>
            <a:ext cx="1737360" cy="228600"/>
          </a:xfrm>
          <a:prstGeom prst="rect">
            <a:avLst/>
          </a:prstGeom>
          <a:noFill/>
        </p:spPr>
        <p:txBody>
          <a:bodyPr wrap="square" lIns="0" rIns="0" tIns="0" bIns="0" anchor="t">
            <a:spAutoFit/>
          </a:bodyPr>
          <a:lstStyle/>
          <a:p>
            <a:pPr algn="l">
              <a:lnSpc>
                <a:spcPct val="105000"/>
              </a:lnSpc>
            </a:pPr>
            <a:r>
              <a:rPr sz="900" b="1" i="0">
                <a:solidFill>
                  <a:srgbClr val="FFFFFF"/>
                </a:solidFill>
                <a:latin typeface="Avenir Next"/>
              </a:rPr>
              <a:t>REALTIME</a:t>
            </a:r>
          </a:p>
        </p:txBody>
      </p:sp>
      <p:sp>
        <p:nvSpPr>
          <p:cNvPr id="15" name="Rounded Rectangle 14"/>
          <p:cNvSpPr/>
          <p:nvPr/>
        </p:nvSpPr>
        <p:spPr>
          <a:xfrm>
            <a:off x="2697480" y="2807208"/>
            <a:ext cx="8915400" cy="822960"/>
          </a:xfrm>
          <a:prstGeom prst="roundRect">
            <a:avLst>
              <a:gd name="adj" fmla="val 8000"/>
            </a:avLst>
          </a:prstGeom>
          <a:solidFill>
            <a:srgbClr val="FFFFFF"/>
          </a:solidFill>
          <a:ln w="12700">
            <a:solidFill>
              <a:srgbClr val="E1DA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2880360" y="3090672"/>
            <a:ext cx="1920240" cy="256032"/>
          </a:xfrm>
          <a:prstGeom prst="roundRect">
            <a:avLst>
              <a:gd name="adj" fmla="val 50000"/>
            </a:avLst>
          </a:prstGeom>
          <a:solidFill>
            <a:srgbClr val="F5EE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800" b="1">
                <a:solidFill>
                  <a:srgbClr val="0C1F2A"/>
                </a:solidFill>
                <a:latin typeface="Avenir Next"/>
              </a:rPr>
              <a:t>FastAPI</a:t>
            </a:r>
          </a:p>
        </p:txBody>
      </p:sp>
      <p:sp>
        <p:nvSpPr>
          <p:cNvPr id="17" name="Rounded Rectangle 16"/>
          <p:cNvSpPr/>
          <p:nvPr/>
        </p:nvSpPr>
        <p:spPr>
          <a:xfrm>
            <a:off x="4983479" y="3090672"/>
            <a:ext cx="1920240" cy="256032"/>
          </a:xfrm>
          <a:prstGeom prst="roundRect">
            <a:avLst>
              <a:gd name="adj" fmla="val 50000"/>
            </a:avLst>
          </a:prstGeom>
          <a:solidFill>
            <a:srgbClr val="F5EE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800" b="1">
                <a:solidFill>
                  <a:srgbClr val="0C1F2A"/>
                </a:solidFill>
                <a:latin typeface="Avenir Next"/>
              </a:rPr>
              <a:t>WebSocket</a:t>
            </a:r>
          </a:p>
        </p:txBody>
      </p:sp>
      <p:sp>
        <p:nvSpPr>
          <p:cNvPr id="18" name="Rounded Rectangle 17"/>
          <p:cNvSpPr/>
          <p:nvPr/>
        </p:nvSpPr>
        <p:spPr>
          <a:xfrm>
            <a:off x="7086600" y="3090672"/>
            <a:ext cx="1920240" cy="256032"/>
          </a:xfrm>
          <a:prstGeom prst="roundRect">
            <a:avLst>
              <a:gd name="adj" fmla="val 50000"/>
            </a:avLst>
          </a:prstGeom>
          <a:solidFill>
            <a:srgbClr val="F5EE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800" b="1">
                <a:solidFill>
                  <a:srgbClr val="0C1F2A"/>
                </a:solidFill>
                <a:latin typeface="Avenir Next"/>
              </a:rPr>
              <a:t>Session snapshots</a:t>
            </a:r>
          </a:p>
        </p:txBody>
      </p:sp>
      <p:sp>
        <p:nvSpPr>
          <p:cNvPr id="19" name="Rounded Rectangle 18"/>
          <p:cNvSpPr/>
          <p:nvPr/>
        </p:nvSpPr>
        <p:spPr>
          <a:xfrm>
            <a:off x="9189719" y="3090672"/>
            <a:ext cx="1920240" cy="256032"/>
          </a:xfrm>
          <a:prstGeom prst="roundRect">
            <a:avLst>
              <a:gd name="adj" fmla="val 50000"/>
            </a:avLst>
          </a:prstGeom>
          <a:solidFill>
            <a:srgbClr val="F5EE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800" b="1">
                <a:solidFill>
                  <a:srgbClr val="0C1F2A"/>
                </a:solidFill>
                <a:latin typeface="Avenir Next"/>
              </a:rPr>
              <a:t>Reconnect</a:t>
            </a:r>
          </a:p>
        </p:txBody>
      </p:sp>
      <p:sp>
        <p:nvSpPr>
          <p:cNvPr id="20" name="Rounded Rectangle 19"/>
          <p:cNvSpPr/>
          <p:nvPr/>
        </p:nvSpPr>
        <p:spPr>
          <a:xfrm>
            <a:off x="594360" y="3831336"/>
            <a:ext cx="2011680" cy="822960"/>
          </a:xfrm>
          <a:prstGeom prst="roundRect">
            <a:avLst>
              <a:gd name="adj" fmla="val 8000"/>
            </a:avLst>
          </a:prstGeom>
          <a:solidFill>
            <a:srgbClr val="0F6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4114800"/>
            <a:ext cx="1737360" cy="228600"/>
          </a:xfrm>
          <a:prstGeom prst="rect">
            <a:avLst/>
          </a:prstGeom>
          <a:noFill/>
        </p:spPr>
        <p:txBody>
          <a:bodyPr wrap="square" lIns="0" rIns="0" tIns="0" bIns="0" anchor="t">
            <a:spAutoFit/>
          </a:bodyPr>
          <a:lstStyle/>
          <a:p>
            <a:pPr algn="l">
              <a:lnSpc>
                <a:spcPct val="105000"/>
              </a:lnSpc>
            </a:pPr>
            <a:r>
              <a:rPr sz="900" b="1" i="0">
                <a:solidFill>
                  <a:srgbClr val="FFFFFF"/>
                </a:solidFill>
                <a:latin typeface="Avenir Next"/>
              </a:rPr>
              <a:t>INTELLIGENCE</a:t>
            </a:r>
          </a:p>
        </p:txBody>
      </p:sp>
      <p:sp>
        <p:nvSpPr>
          <p:cNvPr id="22" name="Rounded Rectangle 21"/>
          <p:cNvSpPr/>
          <p:nvPr/>
        </p:nvSpPr>
        <p:spPr>
          <a:xfrm>
            <a:off x="2697480" y="3831336"/>
            <a:ext cx="8915400" cy="822960"/>
          </a:xfrm>
          <a:prstGeom prst="roundRect">
            <a:avLst>
              <a:gd name="adj" fmla="val 8000"/>
            </a:avLst>
          </a:prstGeom>
          <a:solidFill>
            <a:srgbClr val="FFFFFF"/>
          </a:solidFill>
          <a:ln w="12700">
            <a:solidFill>
              <a:srgbClr val="E1DA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2880360" y="4114800"/>
            <a:ext cx="1920240" cy="256032"/>
          </a:xfrm>
          <a:prstGeom prst="roundRect">
            <a:avLst>
              <a:gd name="adj" fmla="val 50000"/>
            </a:avLst>
          </a:prstGeom>
          <a:solidFill>
            <a:srgbClr val="E8F1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800" b="1">
                <a:solidFill>
                  <a:srgbClr val="0C1F2A"/>
                </a:solidFill>
                <a:latin typeface="Avenir Next"/>
              </a:rPr>
              <a:t>Whisper small / turbo</a:t>
            </a:r>
          </a:p>
        </p:txBody>
      </p:sp>
      <p:sp>
        <p:nvSpPr>
          <p:cNvPr id="24" name="Rounded Rectangle 23"/>
          <p:cNvSpPr/>
          <p:nvPr/>
        </p:nvSpPr>
        <p:spPr>
          <a:xfrm>
            <a:off x="4983479" y="4114800"/>
            <a:ext cx="1920240" cy="256032"/>
          </a:xfrm>
          <a:prstGeom prst="roundRect">
            <a:avLst>
              <a:gd name="adj" fmla="val 50000"/>
            </a:avLst>
          </a:prstGeom>
          <a:solidFill>
            <a:srgbClr val="E8F1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800" b="1">
                <a:solidFill>
                  <a:srgbClr val="0C1F2A"/>
                </a:solidFill>
                <a:latin typeface="Avenir Next"/>
              </a:rPr>
              <a:t>Argos</a:t>
            </a:r>
          </a:p>
        </p:txBody>
      </p:sp>
      <p:sp>
        <p:nvSpPr>
          <p:cNvPr id="25" name="Rounded Rectangle 24"/>
          <p:cNvSpPr/>
          <p:nvPr/>
        </p:nvSpPr>
        <p:spPr>
          <a:xfrm>
            <a:off x="7086600" y="4114800"/>
            <a:ext cx="1920240" cy="256032"/>
          </a:xfrm>
          <a:prstGeom prst="roundRect">
            <a:avLst>
              <a:gd name="adj" fmla="val 50000"/>
            </a:avLst>
          </a:prstGeom>
          <a:solidFill>
            <a:srgbClr val="E8F1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800" b="1">
                <a:solidFill>
                  <a:srgbClr val="0C1F2A"/>
                </a:solidFill>
                <a:latin typeface="Avenir Next"/>
              </a:rPr>
              <a:t>Qwen 2.5 7B</a:t>
            </a:r>
          </a:p>
        </p:txBody>
      </p:sp>
      <p:sp>
        <p:nvSpPr>
          <p:cNvPr id="26" name="Rounded Rectangle 25"/>
          <p:cNvSpPr/>
          <p:nvPr/>
        </p:nvSpPr>
        <p:spPr>
          <a:xfrm>
            <a:off x="9189719" y="4114800"/>
            <a:ext cx="1920240" cy="256032"/>
          </a:xfrm>
          <a:prstGeom prst="roundRect">
            <a:avLst>
              <a:gd name="adj" fmla="val 50000"/>
            </a:avLst>
          </a:prstGeom>
          <a:solidFill>
            <a:srgbClr val="E8F1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800" b="1">
                <a:solidFill>
                  <a:srgbClr val="0C1F2A"/>
                </a:solidFill>
                <a:latin typeface="Avenir Next"/>
              </a:rPr>
              <a:t>Jev / local classifier</a:t>
            </a:r>
          </a:p>
        </p:txBody>
      </p:sp>
      <p:sp>
        <p:nvSpPr>
          <p:cNvPr id="27" name="Rounded Rectangle 26"/>
          <p:cNvSpPr/>
          <p:nvPr/>
        </p:nvSpPr>
        <p:spPr>
          <a:xfrm>
            <a:off x="594360" y="4855464"/>
            <a:ext cx="2011680" cy="822960"/>
          </a:xfrm>
          <a:prstGeom prst="roundRect">
            <a:avLst>
              <a:gd name="adj" fmla="val 8000"/>
            </a:avLst>
          </a:prstGeom>
          <a:solidFill>
            <a:srgbClr val="0C1F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5138928"/>
            <a:ext cx="1737360" cy="228600"/>
          </a:xfrm>
          <a:prstGeom prst="rect">
            <a:avLst/>
          </a:prstGeom>
          <a:noFill/>
        </p:spPr>
        <p:txBody>
          <a:bodyPr wrap="square" lIns="0" rIns="0" tIns="0" bIns="0" anchor="t">
            <a:spAutoFit/>
          </a:bodyPr>
          <a:lstStyle/>
          <a:p>
            <a:pPr algn="l">
              <a:lnSpc>
                <a:spcPct val="105000"/>
              </a:lnSpc>
            </a:pPr>
            <a:r>
              <a:rPr sz="900" b="1" i="0">
                <a:solidFill>
                  <a:srgbClr val="FFFFFF"/>
                </a:solidFill>
                <a:latin typeface="Avenir Next"/>
              </a:rPr>
              <a:t>TRUST</a:t>
            </a:r>
          </a:p>
        </p:txBody>
      </p:sp>
      <p:sp>
        <p:nvSpPr>
          <p:cNvPr id="29" name="Rounded Rectangle 28"/>
          <p:cNvSpPr/>
          <p:nvPr/>
        </p:nvSpPr>
        <p:spPr>
          <a:xfrm>
            <a:off x="2697480" y="4855464"/>
            <a:ext cx="8915400" cy="822960"/>
          </a:xfrm>
          <a:prstGeom prst="roundRect">
            <a:avLst>
              <a:gd name="adj" fmla="val 8000"/>
            </a:avLst>
          </a:prstGeom>
          <a:solidFill>
            <a:srgbClr val="FFFFFF"/>
          </a:solidFill>
          <a:ln w="12700">
            <a:solidFill>
              <a:srgbClr val="E1DA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2880360" y="5138928"/>
            <a:ext cx="1920240" cy="25603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800" b="1">
                <a:solidFill>
                  <a:srgbClr val="0C1F2A"/>
                </a:solidFill>
                <a:latin typeface="Avenir Next"/>
              </a:rPr>
              <a:t>Local-first</a:t>
            </a:r>
          </a:p>
        </p:txBody>
      </p:sp>
      <p:sp>
        <p:nvSpPr>
          <p:cNvPr id="31" name="Rounded Rectangle 30"/>
          <p:cNvSpPr/>
          <p:nvPr/>
        </p:nvSpPr>
        <p:spPr>
          <a:xfrm>
            <a:off x="4983479" y="5138928"/>
            <a:ext cx="1920240" cy="25603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800" b="1">
                <a:solidFill>
                  <a:srgbClr val="0C1F2A"/>
                </a:solidFill>
                <a:latin typeface="Avenir Next"/>
              </a:rPr>
              <a:t>No audio stored</a:t>
            </a:r>
          </a:p>
        </p:txBody>
      </p:sp>
      <p:sp>
        <p:nvSpPr>
          <p:cNvPr id="32" name="Rounded Rectangle 31"/>
          <p:cNvSpPr/>
          <p:nvPr/>
        </p:nvSpPr>
        <p:spPr>
          <a:xfrm>
            <a:off x="7086600" y="5138928"/>
            <a:ext cx="1920240" cy="25603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800" b="1">
                <a:solidFill>
                  <a:srgbClr val="0C1F2A"/>
                </a:solidFill>
                <a:latin typeface="Avenir Next"/>
              </a:rPr>
              <a:t>Confidence gates</a:t>
            </a:r>
          </a:p>
        </p:txBody>
      </p:sp>
      <p:sp>
        <p:nvSpPr>
          <p:cNvPr id="33" name="Rounded Rectangle 32"/>
          <p:cNvSpPr/>
          <p:nvPr/>
        </p:nvSpPr>
        <p:spPr>
          <a:xfrm>
            <a:off x="9189719" y="5138928"/>
            <a:ext cx="1920240" cy="25603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800" b="1">
                <a:solidFill>
                  <a:srgbClr val="0C1F2A"/>
                </a:solidFill>
                <a:latin typeface="Avenir Next"/>
              </a:rPr>
              <a:t>Metrics + audit</a:t>
            </a:r>
          </a:p>
        </p:txBody>
      </p:sp>
      <p:sp>
        <p:nvSpPr>
          <p:cNvPr id="34" name="Rounded Rectangle 33"/>
          <p:cNvSpPr/>
          <p:nvPr/>
        </p:nvSpPr>
        <p:spPr>
          <a:xfrm>
            <a:off x="9921240" y="1463040"/>
            <a:ext cx="1691640" cy="292608"/>
          </a:xfrm>
          <a:prstGeom prst="roundRect">
            <a:avLst>
              <a:gd name="adj" fmla="val 50000"/>
            </a:avLst>
          </a:prstGeom>
          <a:solidFill>
            <a:srgbClr val="0C1F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750" b="1">
                <a:solidFill>
                  <a:srgbClr val="FFFFFF"/>
                </a:solidFill>
                <a:latin typeface="Avenir Next"/>
              </a:rPr>
              <a:t>100% LOCAL PATH</a:t>
            </a:r>
          </a:p>
        </p:txBody>
      </p:sp>
      <p:sp>
        <p:nvSpPr>
          <p:cNvPr id="35" name="TextBox 34"/>
          <p:cNvSpPr txBox="1"/>
          <p:nvPr/>
        </p:nvSpPr>
        <p:spPr>
          <a:xfrm>
            <a:off x="594360" y="5989320"/>
            <a:ext cx="10972800" cy="228600"/>
          </a:xfrm>
          <a:prstGeom prst="rect">
            <a:avLst/>
          </a:prstGeom>
          <a:noFill/>
        </p:spPr>
        <p:txBody>
          <a:bodyPr wrap="square" lIns="0" rIns="0" tIns="0" bIns="0" anchor="t">
            <a:spAutoFit/>
          </a:bodyPr>
          <a:lstStyle/>
          <a:p>
            <a:pPr algn="l">
              <a:lnSpc>
                <a:spcPct val="105000"/>
              </a:lnSpc>
            </a:pPr>
            <a:r>
              <a:rPr sz="800" b="0" i="0">
                <a:solidFill>
                  <a:srgbClr val="5E6A70"/>
                </a:solidFill>
                <a:latin typeface="Avenir Next"/>
              </a:rPr>
              <a:t>Optional cloud only for Jev crew summaries, with consent and data controls.</a:t>
            </a:r>
          </a:p>
        </p:txBody>
      </p:sp>
      <p:cxnSp>
        <p:nvCxnSpPr>
          <p:cNvPr id="36" name="Connector 35"/>
          <p:cNvCxnSpPr/>
          <p:nvPr/>
        </p:nvCxnSpPr>
        <p:spPr>
          <a:xfrm>
            <a:off x="594360" y="6492240"/>
            <a:ext cx="11000232" cy="0"/>
          </a:xfrm>
          <a:prstGeom prst="line">
            <a:avLst/>
          </a:prstGeom>
          <a:ln w="9525">
            <a:solidFill>
              <a:srgbClr val="E1DACF"/>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94360" y="6556248"/>
            <a:ext cx="6400800" cy="182880"/>
          </a:xfrm>
          <a:prstGeom prst="rect">
            <a:avLst/>
          </a:prstGeom>
          <a:noFill/>
        </p:spPr>
        <p:txBody>
          <a:bodyPr wrap="square" lIns="0" rIns="0" tIns="0" bIns="0" anchor="t">
            <a:spAutoFit/>
          </a:bodyPr>
          <a:lstStyle/>
          <a:p>
            <a:pPr algn="l">
              <a:lnSpc>
                <a:spcPct val="105000"/>
              </a:lnSpc>
            </a:pPr>
            <a:r>
              <a:rPr sz="750" b="1" i="0">
                <a:solidFill>
                  <a:srgbClr val="9AA3A6"/>
                </a:solidFill>
                <a:latin typeface="Avenir Next"/>
              </a:rPr>
              <a:t>CABINBRIDGE  ×  JAPAN AIRLINES</a:t>
            </a:r>
          </a:p>
        </p:txBody>
      </p:sp>
      <p:sp>
        <p:nvSpPr>
          <p:cNvPr id="38" name="TextBox 37"/>
          <p:cNvSpPr txBox="1"/>
          <p:nvPr/>
        </p:nvSpPr>
        <p:spPr>
          <a:xfrm>
            <a:off x="10972800" y="6556248"/>
            <a:ext cx="621792" cy="182880"/>
          </a:xfrm>
          <a:prstGeom prst="rect">
            <a:avLst/>
          </a:prstGeom>
          <a:noFill/>
        </p:spPr>
        <p:txBody>
          <a:bodyPr wrap="square" lIns="0" rIns="0" tIns="0" bIns="0" anchor="t">
            <a:spAutoFit/>
          </a:bodyPr>
          <a:lstStyle/>
          <a:p>
            <a:pPr algn="r">
              <a:lnSpc>
                <a:spcPct val="105000"/>
              </a:lnSpc>
            </a:pPr>
            <a:r>
              <a:rPr sz="750" b="0" i="0">
                <a:solidFill>
                  <a:srgbClr val="9AA3A6"/>
                </a:solidFill>
                <a:latin typeface="Avenir Next"/>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68580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47472"/>
            <a:ext cx="9601200" cy="228600"/>
          </a:xfrm>
          <a:prstGeom prst="rect">
            <a:avLst/>
          </a:prstGeom>
          <a:noFill/>
        </p:spPr>
        <p:txBody>
          <a:bodyPr wrap="square" lIns="0" rIns="0" tIns="0" bIns="0" anchor="t">
            <a:spAutoFit/>
          </a:bodyPr>
          <a:lstStyle/>
          <a:p>
            <a:pPr algn="l">
              <a:lnSpc>
                <a:spcPct val="105000"/>
              </a:lnSpc>
            </a:pPr>
            <a:r>
              <a:rPr sz="850" b="1" i="0">
                <a:solidFill>
                  <a:srgbClr val="C8102E"/>
                </a:solidFill>
                <a:latin typeface="Avenir Next"/>
              </a:rPr>
              <a:t>12  ·  PILOT</a:t>
            </a:r>
          </a:p>
        </p:txBody>
      </p:sp>
      <p:sp>
        <p:nvSpPr>
          <p:cNvPr id="5" name="TextBox 4"/>
          <p:cNvSpPr txBox="1"/>
          <p:nvPr/>
        </p:nvSpPr>
        <p:spPr>
          <a:xfrm>
            <a:off x="576072" y="621792"/>
            <a:ext cx="10972800" cy="1051560"/>
          </a:xfrm>
          <a:prstGeom prst="rect">
            <a:avLst/>
          </a:prstGeom>
          <a:noFill/>
        </p:spPr>
        <p:txBody>
          <a:bodyPr wrap="square" lIns="0" rIns="0" tIns="0" bIns="0" anchor="t">
            <a:spAutoFit/>
          </a:bodyPr>
          <a:lstStyle/>
          <a:p>
            <a:pPr algn="l">
              <a:lnSpc>
                <a:spcPct val="95000"/>
              </a:lnSpc>
            </a:pPr>
            <a:r>
              <a:rPr sz="2800" b="1" i="0">
                <a:solidFill>
                  <a:srgbClr val="0C1F2A"/>
                </a:solidFill>
                <a:latin typeface="Avenir Next"/>
              </a:rPr>
              <a:t>One route. Eight weeks.
Five numbers.</a:t>
            </a:r>
          </a:p>
        </p:txBody>
      </p:sp>
      <p:sp>
        <p:nvSpPr>
          <p:cNvPr id="6" name="Rounded Rectangle 5"/>
          <p:cNvSpPr/>
          <p:nvPr/>
        </p:nvSpPr>
        <p:spPr>
          <a:xfrm>
            <a:off x="594360" y="1783080"/>
            <a:ext cx="1371600" cy="256032"/>
          </a:xfrm>
          <a:prstGeom prst="roundRect">
            <a:avLst>
              <a:gd name="adj" fmla="val 50000"/>
            </a:avLst>
          </a:prstGeom>
          <a:solidFill>
            <a:srgbClr val="FFFFFF"/>
          </a:solidFill>
          <a:ln w="12700">
            <a:solidFill>
              <a:srgbClr val="E1DAC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900" b="1">
                <a:solidFill>
                  <a:srgbClr val="0C1F2A"/>
                </a:solidFill>
                <a:latin typeface="Avenir Next"/>
              </a:rPr>
              <a:t>1 route</a:t>
            </a:r>
          </a:p>
        </p:txBody>
      </p:sp>
      <p:sp>
        <p:nvSpPr>
          <p:cNvPr id="7" name="Rounded Rectangle 6"/>
          <p:cNvSpPr/>
          <p:nvPr/>
        </p:nvSpPr>
        <p:spPr>
          <a:xfrm>
            <a:off x="2148840" y="1783080"/>
            <a:ext cx="1371600" cy="256032"/>
          </a:xfrm>
          <a:prstGeom prst="roundRect">
            <a:avLst>
              <a:gd name="adj" fmla="val 50000"/>
            </a:avLst>
          </a:prstGeom>
          <a:solidFill>
            <a:srgbClr val="FFFFFF"/>
          </a:solidFill>
          <a:ln w="12700">
            <a:solidFill>
              <a:srgbClr val="E1DAC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900" b="1">
                <a:solidFill>
                  <a:srgbClr val="0C1F2A"/>
                </a:solidFill>
                <a:latin typeface="Avenir Next"/>
              </a:rPr>
              <a:t>2 aircraft</a:t>
            </a:r>
          </a:p>
        </p:txBody>
      </p:sp>
      <p:sp>
        <p:nvSpPr>
          <p:cNvPr id="8" name="Rounded Rectangle 7"/>
          <p:cNvSpPr/>
          <p:nvPr/>
        </p:nvSpPr>
        <p:spPr>
          <a:xfrm>
            <a:off x="3703320" y="1783080"/>
            <a:ext cx="1371600" cy="256032"/>
          </a:xfrm>
          <a:prstGeom prst="roundRect">
            <a:avLst>
              <a:gd name="adj" fmla="val 50000"/>
            </a:avLst>
          </a:prstGeom>
          <a:solidFill>
            <a:srgbClr val="FFFFFF"/>
          </a:solidFill>
          <a:ln w="12700">
            <a:solidFill>
              <a:srgbClr val="E1DAC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900" b="1">
                <a:solidFill>
                  <a:srgbClr val="0C1F2A"/>
                </a:solidFill>
                <a:latin typeface="Avenir Next"/>
              </a:rPr>
              <a:t>20 crew</a:t>
            </a:r>
          </a:p>
        </p:txBody>
      </p:sp>
      <p:sp>
        <p:nvSpPr>
          <p:cNvPr id="9" name="Rounded Rectangle 8"/>
          <p:cNvSpPr/>
          <p:nvPr/>
        </p:nvSpPr>
        <p:spPr>
          <a:xfrm>
            <a:off x="5257800" y="1783080"/>
            <a:ext cx="1371600" cy="256032"/>
          </a:xfrm>
          <a:prstGeom prst="roundRect">
            <a:avLst>
              <a:gd name="adj" fmla="val 50000"/>
            </a:avLst>
          </a:prstGeom>
          <a:solidFill>
            <a:srgbClr val="FFFFFF"/>
          </a:solidFill>
          <a:ln w="12700">
            <a:solidFill>
              <a:srgbClr val="E1DAC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900" b="1">
                <a:solidFill>
                  <a:srgbClr val="0C1F2A"/>
                </a:solidFill>
                <a:latin typeface="Avenir Next"/>
              </a:rPr>
              <a:t>500 passengers</a:t>
            </a:r>
          </a:p>
        </p:txBody>
      </p:sp>
      <p:cxnSp>
        <p:nvCxnSpPr>
          <p:cNvPr id="10" name="Connector 9"/>
          <p:cNvCxnSpPr/>
          <p:nvPr/>
        </p:nvCxnSpPr>
        <p:spPr>
          <a:xfrm>
            <a:off x="822960" y="2743200"/>
            <a:ext cx="10561320" cy="0"/>
          </a:xfrm>
          <a:prstGeom prst="line">
            <a:avLst/>
          </a:prstGeom>
          <a:ln w="17780">
            <a:solidFill>
              <a:srgbClr val="0C1F2A"/>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740664" y="2660904"/>
            <a:ext cx="164592" cy="164592"/>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880360"/>
            <a:ext cx="457200" cy="182880"/>
          </a:xfrm>
          <a:prstGeom prst="rect">
            <a:avLst/>
          </a:prstGeom>
          <a:noFill/>
        </p:spPr>
        <p:txBody>
          <a:bodyPr wrap="square" lIns="0" rIns="0" tIns="0" bIns="0" anchor="t">
            <a:spAutoFit/>
          </a:bodyPr>
          <a:lstStyle/>
          <a:p>
            <a:pPr algn="l">
              <a:lnSpc>
                <a:spcPct val="105000"/>
              </a:lnSpc>
            </a:pPr>
            <a:r>
              <a:rPr sz="800" b="1" i="0">
                <a:solidFill>
                  <a:srgbClr val="5E6A70"/>
                </a:solidFill>
                <a:latin typeface="Avenir Next"/>
              </a:rPr>
              <a:t>W0</a:t>
            </a:r>
          </a:p>
        </p:txBody>
      </p:sp>
      <p:sp>
        <p:nvSpPr>
          <p:cNvPr id="13" name="Oval 12"/>
          <p:cNvSpPr/>
          <p:nvPr/>
        </p:nvSpPr>
        <p:spPr>
          <a:xfrm>
            <a:off x="3374136" y="2660904"/>
            <a:ext cx="164592" cy="164592"/>
          </a:xfrm>
          <a:prstGeom prst="ellipse">
            <a:avLst/>
          </a:prstGeom>
          <a:solidFill>
            <a:srgbClr val="0C1F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73551" y="2880360"/>
            <a:ext cx="457200" cy="182880"/>
          </a:xfrm>
          <a:prstGeom prst="rect">
            <a:avLst/>
          </a:prstGeom>
          <a:noFill/>
        </p:spPr>
        <p:txBody>
          <a:bodyPr wrap="square" lIns="0" rIns="0" tIns="0" bIns="0" anchor="t">
            <a:spAutoFit/>
          </a:bodyPr>
          <a:lstStyle/>
          <a:p>
            <a:pPr algn="l">
              <a:lnSpc>
                <a:spcPct val="105000"/>
              </a:lnSpc>
            </a:pPr>
            <a:r>
              <a:rPr sz="800" b="1" i="0">
                <a:solidFill>
                  <a:srgbClr val="5E6A70"/>
                </a:solidFill>
                <a:latin typeface="Avenir Next"/>
              </a:rPr>
              <a:t>W2</a:t>
            </a:r>
          </a:p>
        </p:txBody>
      </p:sp>
      <p:sp>
        <p:nvSpPr>
          <p:cNvPr id="15" name="Oval 14"/>
          <p:cNvSpPr/>
          <p:nvPr/>
        </p:nvSpPr>
        <p:spPr>
          <a:xfrm>
            <a:off x="6007608" y="2660904"/>
            <a:ext cx="164592" cy="164592"/>
          </a:xfrm>
          <a:prstGeom prst="ellipse">
            <a:avLst/>
          </a:prstGeom>
          <a:solidFill>
            <a:srgbClr val="0C1F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07024" y="2880360"/>
            <a:ext cx="457200" cy="182880"/>
          </a:xfrm>
          <a:prstGeom prst="rect">
            <a:avLst/>
          </a:prstGeom>
          <a:noFill/>
        </p:spPr>
        <p:txBody>
          <a:bodyPr wrap="square" lIns="0" rIns="0" tIns="0" bIns="0" anchor="t">
            <a:spAutoFit/>
          </a:bodyPr>
          <a:lstStyle/>
          <a:p>
            <a:pPr algn="l">
              <a:lnSpc>
                <a:spcPct val="105000"/>
              </a:lnSpc>
            </a:pPr>
            <a:r>
              <a:rPr sz="800" b="1" i="0">
                <a:solidFill>
                  <a:srgbClr val="5E6A70"/>
                </a:solidFill>
                <a:latin typeface="Avenir Next"/>
              </a:rPr>
              <a:t>W4</a:t>
            </a:r>
          </a:p>
        </p:txBody>
      </p:sp>
      <p:sp>
        <p:nvSpPr>
          <p:cNvPr id="17" name="Oval 16"/>
          <p:cNvSpPr/>
          <p:nvPr/>
        </p:nvSpPr>
        <p:spPr>
          <a:xfrm>
            <a:off x="8641080" y="2660904"/>
            <a:ext cx="164592" cy="164592"/>
          </a:xfrm>
          <a:prstGeom prst="ellipse">
            <a:avLst/>
          </a:prstGeom>
          <a:solidFill>
            <a:srgbClr val="0C1F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40496" y="2880360"/>
            <a:ext cx="457200" cy="182880"/>
          </a:xfrm>
          <a:prstGeom prst="rect">
            <a:avLst/>
          </a:prstGeom>
          <a:noFill/>
        </p:spPr>
        <p:txBody>
          <a:bodyPr wrap="square" lIns="0" rIns="0" tIns="0" bIns="0" anchor="t">
            <a:spAutoFit/>
          </a:bodyPr>
          <a:lstStyle/>
          <a:p>
            <a:pPr algn="l">
              <a:lnSpc>
                <a:spcPct val="105000"/>
              </a:lnSpc>
            </a:pPr>
            <a:r>
              <a:rPr sz="800" b="1" i="0">
                <a:solidFill>
                  <a:srgbClr val="5E6A70"/>
                </a:solidFill>
                <a:latin typeface="Avenir Next"/>
              </a:rPr>
              <a:t>W6</a:t>
            </a:r>
          </a:p>
        </p:txBody>
      </p:sp>
      <p:sp>
        <p:nvSpPr>
          <p:cNvPr id="19" name="Oval 18"/>
          <p:cNvSpPr/>
          <p:nvPr/>
        </p:nvSpPr>
        <p:spPr>
          <a:xfrm>
            <a:off x="11274552" y="2660904"/>
            <a:ext cx="164592" cy="164592"/>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173968" y="2880360"/>
            <a:ext cx="457200" cy="182880"/>
          </a:xfrm>
          <a:prstGeom prst="rect">
            <a:avLst/>
          </a:prstGeom>
          <a:noFill/>
        </p:spPr>
        <p:txBody>
          <a:bodyPr wrap="square" lIns="0" rIns="0" tIns="0" bIns="0" anchor="t">
            <a:spAutoFit/>
          </a:bodyPr>
          <a:lstStyle/>
          <a:p>
            <a:pPr algn="l">
              <a:lnSpc>
                <a:spcPct val="105000"/>
              </a:lnSpc>
            </a:pPr>
            <a:r>
              <a:rPr sz="800" b="1" i="0">
                <a:solidFill>
                  <a:srgbClr val="5E6A70"/>
                </a:solidFill>
                <a:latin typeface="Avenir Next"/>
              </a:rPr>
              <a:t>W8</a:t>
            </a:r>
          </a:p>
        </p:txBody>
      </p:sp>
      <p:sp>
        <p:nvSpPr>
          <p:cNvPr id="21" name="Rounded Rectangle 20"/>
          <p:cNvSpPr/>
          <p:nvPr/>
        </p:nvSpPr>
        <p:spPr>
          <a:xfrm>
            <a:off x="594360" y="3291840"/>
            <a:ext cx="3566160" cy="960120"/>
          </a:xfrm>
          <a:prstGeom prst="roundRect">
            <a:avLst>
              <a:gd name="adj" fmla="val 8000"/>
            </a:avLst>
          </a:prstGeom>
          <a:solidFill>
            <a:srgbClr val="FFFFFF"/>
          </a:solidFill>
          <a:ln w="12700">
            <a:solidFill>
              <a:srgbClr val="E1DA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3438144"/>
            <a:ext cx="1280160" cy="228600"/>
          </a:xfrm>
          <a:prstGeom prst="rect">
            <a:avLst/>
          </a:prstGeom>
          <a:noFill/>
        </p:spPr>
        <p:txBody>
          <a:bodyPr wrap="square" lIns="0" rIns="0" tIns="0" bIns="0" anchor="t">
            <a:spAutoFit/>
          </a:bodyPr>
          <a:lstStyle/>
          <a:p>
            <a:pPr algn="l">
              <a:lnSpc>
                <a:spcPct val="105000"/>
              </a:lnSpc>
            </a:pPr>
            <a:r>
              <a:rPr sz="1000" b="1" i="0">
                <a:solidFill>
                  <a:srgbClr val="C8102E"/>
                </a:solidFill>
                <a:latin typeface="Avenir Next"/>
              </a:rPr>
              <a:t>SET UP</a:t>
            </a:r>
          </a:p>
        </p:txBody>
      </p:sp>
      <p:sp>
        <p:nvSpPr>
          <p:cNvPr id="23" name="TextBox 22"/>
          <p:cNvSpPr txBox="1"/>
          <p:nvPr/>
        </p:nvSpPr>
        <p:spPr>
          <a:xfrm>
            <a:off x="3154679" y="3438144"/>
            <a:ext cx="822960" cy="182880"/>
          </a:xfrm>
          <a:prstGeom prst="rect">
            <a:avLst/>
          </a:prstGeom>
          <a:noFill/>
        </p:spPr>
        <p:txBody>
          <a:bodyPr wrap="square" lIns="0" rIns="0" tIns="0" bIns="0" anchor="t">
            <a:spAutoFit/>
          </a:bodyPr>
          <a:lstStyle/>
          <a:p>
            <a:pPr algn="r">
              <a:lnSpc>
                <a:spcPct val="105000"/>
              </a:lnSpc>
            </a:pPr>
            <a:r>
              <a:rPr sz="800" b="1" i="0">
                <a:solidFill>
                  <a:srgbClr val="5E6A70"/>
                </a:solidFill>
                <a:latin typeface="Avenir Next"/>
              </a:rPr>
              <a:t>W0–2</a:t>
            </a:r>
          </a:p>
        </p:txBody>
      </p:sp>
      <p:sp>
        <p:nvSpPr>
          <p:cNvPr id="24" name="TextBox 23"/>
          <p:cNvSpPr txBox="1"/>
          <p:nvPr/>
        </p:nvSpPr>
        <p:spPr>
          <a:xfrm>
            <a:off x="777240" y="3730752"/>
            <a:ext cx="3200400" cy="411480"/>
          </a:xfrm>
          <a:prstGeom prst="rect">
            <a:avLst/>
          </a:prstGeom>
          <a:noFill/>
        </p:spPr>
        <p:txBody>
          <a:bodyPr wrap="square" lIns="0" rIns="0" tIns="0" bIns="0" anchor="t">
            <a:spAutoFit/>
          </a:bodyPr>
          <a:lstStyle/>
          <a:p>
            <a:pPr algn="l">
              <a:lnSpc>
                <a:spcPct val="105000"/>
              </a:lnSpc>
            </a:pPr>
            <a:r>
              <a:rPr sz="850" b="0" i="0">
                <a:solidFill>
                  <a:srgbClr val="5E6A70"/>
                </a:solidFill>
                <a:latin typeface="Avenir Next"/>
              </a:rPr>
              <a:t>Devices, seats, safety review, baseline.</a:t>
            </a:r>
          </a:p>
        </p:txBody>
      </p:sp>
      <p:sp>
        <p:nvSpPr>
          <p:cNvPr id="25" name="Rounded Rectangle 24"/>
          <p:cNvSpPr/>
          <p:nvPr/>
        </p:nvSpPr>
        <p:spPr>
          <a:xfrm>
            <a:off x="4361688" y="3291840"/>
            <a:ext cx="3566160" cy="960120"/>
          </a:xfrm>
          <a:prstGeom prst="roundRect">
            <a:avLst>
              <a:gd name="adj" fmla="val 8000"/>
            </a:avLst>
          </a:prstGeom>
          <a:solidFill>
            <a:srgbClr val="FFFFFF"/>
          </a:solidFill>
          <a:ln w="12700">
            <a:solidFill>
              <a:srgbClr val="E1DA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44568" y="3438144"/>
            <a:ext cx="1280160" cy="228600"/>
          </a:xfrm>
          <a:prstGeom prst="rect">
            <a:avLst/>
          </a:prstGeom>
          <a:noFill/>
        </p:spPr>
        <p:txBody>
          <a:bodyPr wrap="square" lIns="0" rIns="0" tIns="0" bIns="0" anchor="t">
            <a:spAutoFit/>
          </a:bodyPr>
          <a:lstStyle/>
          <a:p>
            <a:pPr algn="l">
              <a:lnSpc>
                <a:spcPct val="105000"/>
              </a:lnSpc>
            </a:pPr>
            <a:r>
              <a:rPr sz="1000" b="1" i="0">
                <a:solidFill>
                  <a:srgbClr val="C8102E"/>
                </a:solidFill>
                <a:latin typeface="Avenir Next"/>
              </a:rPr>
              <a:t>LIVE</a:t>
            </a:r>
          </a:p>
        </p:txBody>
      </p:sp>
      <p:sp>
        <p:nvSpPr>
          <p:cNvPr id="27" name="TextBox 26"/>
          <p:cNvSpPr txBox="1"/>
          <p:nvPr/>
        </p:nvSpPr>
        <p:spPr>
          <a:xfrm>
            <a:off x="6922008" y="3438144"/>
            <a:ext cx="822960" cy="182880"/>
          </a:xfrm>
          <a:prstGeom prst="rect">
            <a:avLst/>
          </a:prstGeom>
          <a:noFill/>
        </p:spPr>
        <p:txBody>
          <a:bodyPr wrap="square" lIns="0" rIns="0" tIns="0" bIns="0" anchor="t">
            <a:spAutoFit/>
          </a:bodyPr>
          <a:lstStyle/>
          <a:p>
            <a:pPr algn="r">
              <a:lnSpc>
                <a:spcPct val="105000"/>
              </a:lnSpc>
            </a:pPr>
            <a:r>
              <a:rPr sz="800" b="1" i="0">
                <a:solidFill>
                  <a:srgbClr val="5E6A70"/>
                </a:solidFill>
                <a:latin typeface="Avenir Next"/>
              </a:rPr>
              <a:t>W3–6</a:t>
            </a:r>
          </a:p>
        </p:txBody>
      </p:sp>
      <p:sp>
        <p:nvSpPr>
          <p:cNvPr id="28" name="TextBox 27"/>
          <p:cNvSpPr txBox="1"/>
          <p:nvPr/>
        </p:nvSpPr>
        <p:spPr>
          <a:xfrm>
            <a:off x="4544568" y="3730752"/>
            <a:ext cx="3200400" cy="411480"/>
          </a:xfrm>
          <a:prstGeom prst="rect">
            <a:avLst/>
          </a:prstGeom>
          <a:noFill/>
        </p:spPr>
        <p:txBody>
          <a:bodyPr wrap="square" lIns="0" rIns="0" tIns="0" bIns="0" anchor="t">
            <a:spAutoFit/>
          </a:bodyPr>
          <a:lstStyle/>
          <a:p>
            <a:pPr algn="l">
              <a:lnSpc>
                <a:spcPct val="105000"/>
              </a:lnSpc>
            </a:pPr>
            <a:r>
              <a:rPr sz="850" b="0" i="0">
                <a:solidFill>
                  <a:srgbClr val="5E6A70"/>
                </a:solidFill>
                <a:latin typeface="Avenir Next"/>
              </a:rPr>
              <a:t>Supervised flights, two crew per flight.</a:t>
            </a:r>
          </a:p>
        </p:txBody>
      </p:sp>
      <p:sp>
        <p:nvSpPr>
          <p:cNvPr id="29" name="Rounded Rectangle 28"/>
          <p:cNvSpPr/>
          <p:nvPr/>
        </p:nvSpPr>
        <p:spPr>
          <a:xfrm>
            <a:off x="8129016" y="3291840"/>
            <a:ext cx="3566160" cy="960120"/>
          </a:xfrm>
          <a:prstGeom prst="roundRect">
            <a:avLst>
              <a:gd name="adj" fmla="val 8000"/>
            </a:avLst>
          </a:prstGeom>
          <a:solidFill>
            <a:srgbClr val="FFFFFF"/>
          </a:solidFill>
          <a:ln w="12700">
            <a:solidFill>
              <a:srgbClr val="E1DA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11896" y="3438144"/>
            <a:ext cx="1280160" cy="228600"/>
          </a:xfrm>
          <a:prstGeom prst="rect">
            <a:avLst/>
          </a:prstGeom>
          <a:noFill/>
        </p:spPr>
        <p:txBody>
          <a:bodyPr wrap="square" lIns="0" rIns="0" tIns="0" bIns="0" anchor="t">
            <a:spAutoFit/>
          </a:bodyPr>
          <a:lstStyle/>
          <a:p>
            <a:pPr algn="l">
              <a:lnSpc>
                <a:spcPct val="105000"/>
              </a:lnSpc>
            </a:pPr>
            <a:r>
              <a:rPr sz="1000" b="1" i="0">
                <a:solidFill>
                  <a:srgbClr val="C8102E"/>
                </a:solidFill>
                <a:latin typeface="Avenir Next"/>
              </a:rPr>
              <a:t>EVALUATE</a:t>
            </a:r>
          </a:p>
        </p:txBody>
      </p:sp>
      <p:sp>
        <p:nvSpPr>
          <p:cNvPr id="31" name="TextBox 30"/>
          <p:cNvSpPr txBox="1"/>
          <p:nvPr/>
        </p:nvSpPr>
        <p:spPr>
          <a:xfrm>
            <a:off x="10689336" y="3438144"/>
            <a:ext cx="822960" cy="182880"/>
          </a:xfrm>
          <a:prstGeom prst="rect">
            <a:avLst/>
          </a:prstGeom>
          <a:noFill/>
        </p:spPr>
        <p:txBody>
          <a:bodyPr wrap="square" lIns="0" rIns="0" tIns="0" bIns="0" anchor="t">
            <a:spAutoFit/>
          </a:bodyPr>
          <a:lstStyle/>
          <a:p>
            <a:pPr algn="r">
              <a:lnSpc>
                <a:spcPct val="105000"/>
              </a:lnSpc>
            </a:pPr>
            <a:r>
              <a:rPr sz="800" b="1" i="0">
                <a:solidFill>
                  <a:srgbClr val="5E6A70"/>
                </a:solidFill>
                <a:latin typeface="Avenir Next"/>
              </a:rPr>
              <a:t>W7–8</a:t>
            </a:r>
          </a:p>
        </p:txBody>
      </p:sp>
      <p:sp>
        <p:nvSpPr>
          <p:cNvPr id="32" name="TextBox 31"/>
          <p:cNvSpPr txBox="1"/>
          <p:nvPr/>
        </p:nvSpPr>
        <p:spPr>
          <a:xfrm>
            <a:off x="8311896" y="3730752"/>
            <a:ext cx="3200400" cy="411480"/>
          </a:xfrm>
          <a:prstGeom prst="rect">
            <a:avLst/>
          </a:prstGeom>
          <a:noFill/>
        </p:spPr>
        <p:txBody>
          <a:bodyPr wrap="square" lIns="0" rIns="0" tIns="0" bIns="0" anchor="t">
            <a:spAutoFit/>
          </a:bodyPr>
          <a:lstStyle/>
          <a:p>
            <a:pPr algn="l">
              <a:lnSpc>
                <a:spcPct val="105000"/>
              </a:lnSpc>
            </a:pPr>
            <a:r>
              <a:rPr sz="850" b="0" i="0">
                <a:solidFill>
                  <a:srgbClr val="5E6A70"/>
                </a:solidFill>
                <a:latin typeface="Avenir Next"/>
              </a:rPr>
              <a:t>Compare to baseline, decide next route.</a:t>
            </a:r>
          </a:p>
        </p:txBody>
      </p:sp>
      <p:sp>
        <p:nvSpPr>
          <p:cNvPr id="33" name="Rounded Rectangle 32"/>
          <p:cNvSpPr/>
          <p:nvPr/>
        </p:nvSpPr>
        <p:spPr>
          <a:xfrm>
            <a:off x="594360" y="4526280"/>
            <a:ext cx="2057400" cy="960120"/>
          </a:xfrm>
          <a:prstGeom prst="roundRect">
            <a:avLst>
              <a:gd name="adj" fmla="val 8000"/>
            </a:avLst>
          </a:prstGeom>
          <a:solidFill>
            <a:srgbClr val="E8F1EE"/>
          </a:solidFill>
          <a:ln w="12700">
            <a:solidFill>
              <a:srgbClr val="3E9B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8952" y="4681728"/>
            <a:ext cx="1737360" cy="320040"/>
          </a:xfrm>
          <a:prstGeom prst="rect">
            <a:avLst/>
          </a:prstGeom>
          <a:noFill/>
        </p:spPr>
        <p:txBody>
          <a:bodyPr wrap="square" lIns="0" rIns="0" tIns="0" bIns="0" anchor="t">
            <a:spAutoFit/>
          </a:bodyPr>
          <a:lstStyle/>
          <a:p>
            <a:pPr algn="l">
              <a:lnSpc>
                <a:spcPct val="105000"/>
              </a:lnSpc>
            </a:pPr>
            <a:r>
              <a:rPr sz="1600" b="1" i="0">
                <a:solidFill>
                  <a:srgbClr val="0F6B5C"/>
                </a:solidFill>
                <a:latin typeface="Avenir Next"/>
              </a:rPr>
              <a:t>&lt; 2 s</a:t>
            </a:r>
          </a:p>
        </p:txBody>
      </p:sp>
      <p:sp>
        <p:nvSpPr>
          <p:cNvPr id="35" name="TextBox 34"/>
          <p:cNvSpPr txBox="1"/>
          <p:nvPr/>
        </p:nvSpPr>
        <p:spPr>
          <a:xfrm>
            <a:off x="758952" y="5084064"/>
            <a:ext cx="1783080" cy="182880"/>
          </a:xfrm>
          <a:prstGeom prst="rect">
            <a:avLst/>
          </a:prstGeom>
          <a:noFill/>
        </p:spPr>
        <p:txBody>
          <a:bodyPr wrap="square" lIns="0" rIns="0" tIns="0" bIns="0" anchor="t">
            <a:spAutoFit/>
          </a:bodyPr>
          <a:lstStyle/>
          <a:p>
            <a:pPr algn="l">
              <a:lnSpc>
                <a:spcPct val="105000"/>
              </a:lnSpc>
            </a:pPr>
            <a:r>
              <a:rPr sz="700" b="1" i="0">
                <a:solidFill>
                  <a:srgbClr val="5E6A70"/>
                </a:solidFill>
                <a:latin typeface="Avenir Next"/>
              </a:rPr>
              <a:t>MEDIAN RESPONSE</a:t>
            </a:r>
          </a:p>
        </p:txBody>
      </p:sp>
      <p:sp>
        <p:nvSpPr>
          <p:cNvPr id="36" name="Rounded Rectangle 35"/>
          <p:cNvSpPr/>
          <p:nvPr/>
        </p:nvSpPr>
        <p:spPr>
          <a:xfrm>
            <a:off x="2834640" y="4526280"/>
            <a:ext cx="2057400" cy="960120"/>
          </a:xfrm>
          <a:prstGeom prst="roundRect">
            <a:avLst>
              <a:gd name="adj" fmla="val 8000"/>
            </a:avLst>
          </a:prstGeom>
          <a:solidFill>
            <a:srgbClr val="E8F1EE"/>
          </a:solidFill>
          <a:ln w="12700">
            <a:solidFill>
              <a:srgbClr val="3E9B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999232" y="4681728"/>
            <a:ext cx="1737360" cy="320040"/>
          </a:xfrm>
          <a:prstGeom prst="rect">
            <a:avLst/>
          </a:prstGeom>
          <a:noFill/>
        </p:spPr>
        <p:txBody>
          <a:bodyPr wrap="square" lIns="0" rIns="0" tIns="0" bIns="0" anchor="t">
            <a:spAutoFit/>
          </a:bodyPr>
          <a:lstStyle/>
          <a:p>
            <a:pPr algn="l">
              <a:lnSpc>
                <a:spcPct val="105000"/>
              </a:lnSpc>
            </a:pPr>
            <a:r>
              <a:rPr sz="1600" b="1" i="0">
                <a:solidFill>
                  <a:srgbClr val="0F6B5C"/>
                </a:solidFill>
                <a:latin typeface="Avenir Next"/>
              </a:rPr>
              <a:t>−30%</a:t>
            </a:r>
          </a:p>
        </p:txBody>
      </p:sp>
      <p:sp>
        <p:nvSpPr>
          <p:cNvPr id="38" name="TextBox 37"/>
          <p:cNvSpPr txBox="1"/>
          <p:nvPr/>
        </p:nvSpPr>
        <p:spPr>
          <a:xfrm>
            <a:off x="2999232" y="5084064"/>
            <a:ext cx="1783080" cy="182880"/>
          </a:xfrm>
          <a:prstGeom prst="rect">
            <a:avLst/>
          </a:prstGeom>
          <a:noFill/>
        </p:spPr>
        <p:txBody>
          <a:bodyPr wrap="square" lIns="0" rIns="0" tIns="0" bIns="0" anchor="t">
            <a:spAutoFit/>
          </a:bodyPr>
          <a:lstStyle/>
          <a:p>
            <a:pPr algn="l">
              <a:lnSpc>
                <a:spcPct val="105000"/>
              </a:lnSpc>
            </a:pPr>
            <a:r>
              <a:rPr sz="700" b="1" i="0">
                <a:solidFill>
                  <a:srgbClr val="5E6A70"/>
                </a:solidFill>
                <a:latin typeface="Avenir Next"/>
              </a:rPr>
              <a:t>REPEAT RATE</a:t>
            </a:r>
          </a:p>
        </p:txBody>
      </p:sp>
      <p:sp>
        <p:nvSpPr>
          <p:cNvPr id="39" name="Rounded Rectangle 38"/>
          <p:cNvSpPr/>
          <p:nvPr/>
        </p:nvSpPr>
        <p:spPr>
          <a:xfrm>
            <a:off x="5074920" y="4526280"/>
            <a:ext cx="2057400" cy="960120"/>
          </a:xfrm>
          <a:prstGeom prst="roundRect">
            <a:avLst>
              <a:gd name="adj" fmla="val 8000"/>
            </a:avLst>
          </a:prstGeom>
          <a:solidFill>
            <a:srgbClr val="FFFFFF"/>
          </a:solidFill>
          <a:ln w="12700">
            <a:solidFill>
              <a:srgbClr val="E1DA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239512" y="4681728"/>
            <a:ext cx="1737360" cy="320040"/>
          </a:xfrm>
          <a:prstGeom prst="rect">
            <a:avLst/>
          </a:prstGeom>
          <a:noFill/>
        </p:spPr>
        <p:txBody>
          <a:bodyPr wrap="square" lIns="0" rIns="0" tIns="0" bIns="0" anchor="t">
            <a:spAutoFit/>
          </a:bodyPr>
          <a:lstStyle/>
          <a:p>
            <a:pPr algn="l">
              <a:lnSpc>
                <a:spcPct val="105000"/>
              </a:lnSpc>
            </a:pPr>
            <a:r>
              <a:rPr sz="1600" b="1" i="0">
                <a:solidFill>
                  <a:srgbClr val="0C1F2A"/>
                </a:solidFill>
                <a:latin typeface="Avenir Next"/>
              </a:rPr>
              <a:t>&gt; 90%</a:t>
            </a:r>
          </a:p>
        </p:txBody>
      </p:sp>
      <p:sp>
        <p:nvSpPr>
          <p:cNvPr id="41" name="TextBox 40"/>
          <p:cNvSpPr txBox="1"/>
          <p:nvPr/>
        </p:nvSpPr>
        <p:spPr>
          <a:xfrm>
            <a:off x="5239512" y="5084064"/>
            <a:ext cx="1783080" cy="182880"/>
          </a:xfrm>
          <a:prstGeom prst="rect">
            <a:avLst/>
          </a:prstGeom>
          <a:noFill/>
        </p:spPr>
        <p:txBody>
          <a:bodyPr wrap="square" lIns="0" rIns="0" tIns="0" bIns="0" anchor="t">
            <a:spAutoFit/>
          </a:bodyPr>
          <a:lstStyle/>
          <a:p>
            <a:pPr algn="l">
              <a:lnSpc>
                <a:spcPct val="105000"/>
              </a:lnSpc>
            </a:pPr>
            <a:r>
              <a:rPr sz="700" b="1" i="0">
                <a:solidFill>
                  <a:srgbClr val="5E6A70"/>
                </a:solidFill>
                <a:latin typeface="Avenir Next"/>
              </a:rPr>
              <a:t>TASK COMPLETION</a:t>
            </a:r>
          </a:p>
        </p:txBody>
      </p:sp>
      <p:sp>
        <p:nvSpPr>
          <p:cNvPr id="42" name="Rounded Rectangle 41"/>
          <p:cNvSpPr/>
          <p:nvPr/>
        </p:nvSpPr>
        <p:spPr>
          <a:xfrm>
            <a:off x="7315200" y="4526280"/>
            <a:ext cx="2057400" cy="960120"/>
          </a:xfrm>
          <a:prstGeom prst="roundRect">
            <a:avLst>
              <a:gd name="adj" fmla="val 8000"/>
            </a:avLst>
          </a:prstGeom>
          <a:solidFill>
            <a:srgbClr val="FFFFFF"/>
          </a:solidFill>
          <a:ln w="12700">
            <a:solidFill>
              <a:srgbClr val="E1DA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479792" y="4681728"/>
            <a:ext cx="1737360" cy="320040"/>
          </a:xfrm>
          <a:prstGeom prst="rect">
            <a:avLst/>
          </a:prstGeom>
          <a:noFill/>
        </p:spPr>
        <p:txBody>
          <a:bodyPr wrap="square" lIns="0" rIns="0" tIns="0" bIns="0" anchor="t">
            <a:spAutoFit/>
          </a:bodyPr>
          <a:lstStyle/>
          <a:p>
            <a:pPr algn="l">
              <a:lnSpc>
                <a:spcPct val="105000"/>
              </a:lnSpc>
            </a:pPr>
            <a:r>
              <a:rPr sz="1600" b="1" i="0">
                <a:solidFill>
                  <a:srgbClr val="0C1F2A"/>
                </a:solidFill>
                <a:latin typeface="Avenir Next"/>
              </a:rPr>
              <a:t>≥ 4/5</a:t>
            </a:r>
          </a:p>
        </p:txBody>
      </p:sp>
      <p:sp>
        <p:nvSpPr>
          <p:cNvPr id="44" name="TextBox 43"/>
          <p:cNvSpPr txBox="1"/>
          <p:nvPr/>
        </p:nvSpPr>
        <p:spPr>
          <a:xfrm>
            <a:off x="7479792" y="5084064"/>
            <a:ext cx="1783080" cy="182880"/>
          </a:xfrm>
          <a:prstGeom prst="rect">
            <a:avLst/>
          </a:prstGeom>
          <a:noFill/>
        </p:spPr>
        <p:txBody>
          <a:bodyPr wrap="square" lIns="0" rIns="0" tIns="0" bIns="0" anchor="t">
            <a:spAutoFit/>
          </a:bodyPr>
          <a:lstStyle/>
          <a:p>
            <a:pPr algn="l">
              <a:lnSpc>
                <a:spcPct val="105000"/>
              </a:lnSpc>
            </a:pPr>
            <a:r>
              <a:rPr sz="700" b="1" i="0">
                <a:solidFill>
                  <a:srgbClr val="5E6A70"/>
                </a:solidFill>
                <a:latin typeface="Avenir Next"/>
              </a:rPr>
              <a:t>CREW CSAT</a:t>
            </a:r>
          </a:p>
        </p:txBody>
      </p:sp>
      <p:sp>
        <p:nvSpPr>
          <p:cNvPr id="45" name="Rounded Rectangle 44"/>
          <p:cNvSpPr/>
          <p:nvPr/>
        </p:nvSpPr>
        <p:spPr>
          <a:xfrm>
            <a:off x="9555480" y="4526280"/>
            <a:ext cx="2057400" cy="960120"/>
          </a:xfrm>
          <a:prstGeom prst="roundRect">
            <a:avLst>
              <a:gd name="adj" fmla="val 8000"/>
            </a:avLst>
          </a:prstGeom>
          <a:solidFill>
            <a:srgbClr val="FFFFFF"/>
          </a:solidFill>
          <a:ln w="12700">
            <a:solidFill>
              <a:srgbClr val="E1DA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720072" y="4681728"/>
            <a:ext cx="1737360" cy="320040"/>
          </a:xfrm>
          <a:prstGeom prst="rect">
            <a:avLst/>
          </a:prstGeom>
          <a:noFill/>
        </p:spPr>
        <p:txBody>
          <a:bodyPr wrap="square" lIns="0" rIns="0" tIns="0" bIns="0" anchor="t">
            <a:spAutoFit/>
          </a:bodyPr>
          <a:lstStyle/>
          <a:p>
            <a:pPr algn="l">
              <a:lnSpc>
                <a:spcPct val="105000"/>
              </a:lnSpc>
            </a:pPr>
            <a:r>
              <a:rPr sz="1600" b="1" i="0">
                <a:solidFill>
                  <a:srgbClr val="0C1F2A"/>
                </a:solidFill>
                <a:latin typeface="Avenir Next"/>
              </a:rPr>
              <a:t>baseline +</a:t>
            </a:r>
          </a:p>
        </p:txBody>
      </p:sp>
      <p:sp>
        <p:nvSpPr>
          <p:cNvPr id="47" name="TextBox 46"/>
          <p:cNvSpPr txBox="1"/>
          <p:nvPr/>
        </p:nvSpPr>
        <p:spPr>
          <a:xfrm>
            <a:off x="9720072" y="5084064"/>
            <a:ext cx="1783080" cy="182880"/>
          </a:xfrm>
          <a:prstGeom prst="rect">
            <a:avLst/>
          </a:prstGeom>
          <a:noFill/>
        </p:spPr>
        <p:txBody>
          <a:bodyPr wrap="square" lIns="0" rIns="0" tIns="0" bIns="0" anchor="t">
            <a:spAutoFit/>
          </a:bodyPr>
          <a:lstStyle/>
          <a:p>
            <a:pPr algn="l">
              <a:lnSpc>
                <a:spcPct val="105000"/>
              </a:lnSpc>
            </a:pPr>
            <a:r>
              <a:rPr sz="700" b="1" i="0">
                <a:solidFill>
                  <a:srgbClr val="5E6A70"/>
                </a:solidFill>
                <a:latin typeface="Avenir Next"/>
              </a:rPr>
              <a:t>WER / COMET</a:t>
            </a:r>
          </a:p>
        </p:txBody>
      </p:sp>
      <p:sp>
        <p:nvSpPr>
          <p:cNvPr id="48" name="TextBox 47"/>
          <p:cNvSpPr txBox="1"/>
          <p:nvPr/>
        </p:nvSpPr>
        <p:spPr>
          <a:xfrm>
            <a:off x="594360" y="5715000"/>
            <a:ext cx="10972800" cy="228600"/>
          </a:xfrm>
          <a:prstGeom prst="rect">
            <a:avLst/>
          </a:prstGeom>
          <a:noFill/>
        </p:spPr>
        <p:txBody>
          <a:bodyPr wrap="square" lIns="0" rIns="0" tIns="0" bIns="0" anchor="t">
            <a:spAutoFit/>
          </a:bodyPr>
          <a:lstStyle/>
          <a:p>
            <a:pPr algn="l">
              <a:lnSpc>
                <a:spcPct val="105000"/>
              </a:lnSpc>
            </a:pPr>
            <a:r>
              <a:rPr sz="800" b="0" i="1">
                <a:solidFill>
                  <a:srgbClr val="5E6A70"/>
                </a:solidFill>
                <a:latin typeface="Avenir Next"/>
              </a:rPr>
              <a:t>Targets are illustrative until JAL signs off the baseline; the pilot defines the final thresholds.</a:t>
            </a:r>
          </a:p>
        </p:txBody>
      </p:sp>
      <p:cxnSp>
        <p:nvCxnSpPr>
          <p:cNvPr id="49" name="Connector 48"/>
          <p:cNvCxnSpPr/>
          <p:nvPr/>
        </p:nvCxnSpPr>
        <p:spPr>
          <a:xfrm>
            <a:off x="594360" y="6492240"/>
            <a:ext cx="11000232" cy="0"/>
          </a:xfrm>
          <a:prstGeom prst="line">
            <a:avLst/>
          </a:prstGeom>
          <a:ln w="9525">
            <a:solidFill>
              <a:srgbClr val="E1DACF"/>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594360" y="6556248"/>
            <a:ext cx="6400800" cy="182880"/>
          </a:xfrm>
          <a:prstGeom prst="rect">
            <a:avLst/>
          </a:prstGeom>
          <a:noFill/>
        </p:spPr>
        <p:txBody>
          <a:bodyPr wrap="square" lIns="0" rIns="0" tIns="0" bIns="0" anchor="t">
            <a:spAutoFit/>
          </a:bodyPr>
          <a:lstStyle/>
          <a:p>
            <a:pPr algn="l">
              <a:lnSpc>
                <a:spcPct val="105000"/>
              </a:lnSpc>
            </a:pPr>
            <a:r>
              <a:rPr sz="750" b="1" i="0">
                <a:solidFill>
                  <a:srgbClr val="9AA3A6"/>
                </a:solidFill>
                <a:latin typeface="Avenir Next"/>
              </a:rPr>
              <a:t>CABINBRIDGE  ×  JAPAN AIRLINES</a:t>
            </a:r>
          </a:p>
        </p:txBody>
      </p:sp>
      <p:sp>
        <p:nvSpPr>
          <p:cNvPr id="51" name="TextBox 50"/>
          <p:cNvSpPr txBox="1"/>
          <p:nvPr/>
        </p:nvSpPr>
        <p:spPr>
          <a:xfrm>
            <a:off x="10972800" y="6556248"/>
            <a:ext cx="621792" cy="182880"/>
          </a:xfrm>
          <a:prstGeom prst="rect">
            <a:avLst/>
          </a:prstGeom>
          <a:noFill/>
        </p:spPr>
        <p:txBody>
          <a:bodyPr wrap="square" lIns="0" rIns="0" tIns="0" bIns="0" anchor="t">
            <a:spAutoFit/>
          </a:bodyPr>
          <a:lstStyle/>
          <a:p>
            <a:pPr algn="r">
              <a:lnSpc>
                <a:spcPct val="105000"/>
              </a:lnSpc>
            </a:pPr>
            <a:r>
              <a:rPr sz="750" b="0" i="0">
                <a:solidFill>
                  <a:srgbClr val="9AA3A6"/>
                </a:solidFill>
                <a:latin typeface="Avenir Next"/>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68580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47472"/>
            <a:ext cx="9601200" cy="228600"/>
          </a:xfrm>
          <a:prstGeom prst="rect">
            <a:avLst/>
          </a:prstGeom>
          <a:noFill/>
        </p:spPr>
        <p:txBody>
          <a:bodyPr wrap="square" lIns="0" rIns="0" tIns="0" bIns="0" anchor="t">
            <a:spAutoFit/>
          </a:bodyPr>
          <a:lstStyle/>
          <a:p>
            <a:pPr algn="l">
              <a:lnSpc>
                <a:spcPct val="105000"/>
              </a:lnSpc>
            </a:pPr>
            <a:r>
              <a:rPr sz="850" b="1" i="0">
                <a:solidFill>
                  <a:srgbClr val="C8102E"/>
                </a:solidFill>
                <a:latin typeface="Avenir Next"/>
              </a:rPr>
              <a:t>13  ·  LIVE DEMO</a:t>
            </a:r>
          </a:p>
        </p:txBody>
      </p:sp>
      <p:sp>
        <p:nvSpPr>
          <p:cNvPr id="5" name="TextBox 4"/>
          <p:cNvSpPr txBox="1"/>
          <p:nvPr/>
        </p:nvSpPr>
        <p:spPr>
          <a:xfrm>
            <a:off x="576072" y="621792"/>
            <a:ext cx="10972800" cy="1051560"/>
          </a:xfrm>
          <a:prstGeom prst="rect">
            <a:avLst/>
          </a:prstGeom>
          <a:noFill/>
        </p:spPr>
        <p:txBody>
          <a:bodyPr wrap="square" lIns="0" rIns="0" tIns="0" bIns="0" anchor="t">
            <a:spAutoFit/>
          </a:bodyPr>
          <a:lstStyle/>
          <a:p>
            <a:pPr algn="l">
              <a:lnSpc>
                <a:spcPct val="95000"/>
              </a:lnSpc>
            </a:pPr>
            <a:r>
              <a:rPr sz="2800" b="1" i="0">
                <a:solidFill>
                  <a:srgbClr val="0C1F2A"/>
                </a:solidFill>
                <a:latin typeface="Avenir Next"/>
              </a:rPr>
              <a:t>Three minutes. Two devices.
One judge.</a:t>
            </a:r>
          </a:p>
        </p:txBody>
      </p:sp>
      <p:sp>
        <p:nvSpPr>
          <p:cNvPr id="6" name="Oval 5"/>
          <p:cNvSpPr/>
          <p:nvPr/>
        </p:nvSpPr>
        <p:spPr>
          <a:xfrm>
            <a:off x="594360" y="1828800"/>
            <a:ext cx="365760" cy="36576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1100" b="1">
                <a:solidFill>
                  <a:srgbClr val="FFFFFF"/>
                </a:solidFill>
                <a:latin typeface="Avenir Next"/>
              </a:rPr>
              <a:t>1</a:t>
            </a:r>
          </a:p>
        </p:txBody>
      </p:sp>
      <p:sp>
        <p:nvSpPr>
          <p:cNvPr id="7" name="TextBox 6"/>
          <p:cNvSpPr txBox="1"/>
          <p:nvPr/>
        </p:nvSpPr>
        <p:spPr>
          <a:xfrm>
            <a:off x="1115568" y="1783080"/>
            <a:ext cx="5852160" cy="256032"/>
          </a:xfrm>
          <a:prstGeom prst="rect">
            <a:avLst/>
          </a:prstGeom>
          <a:noFill/>
        </p:spPr>
        <p:txBody>
          <a:bodyPr wrap="square" lIns="0" rIns="0" tIns="0" bIns="0" anchor="t">
            <a:spAutoFit/>
          </a:bodyPr>
          <a:lstStyle/>
          <a:p>
            <a:pPr algn="l">
              <a:lnSpc>
                <a:spcPct val="105000"/>
              </a:lnSpc>
            </a:pPr>
            <a:r>
              <a:rPr sz="1150" b="1" i="0">
                <a:solidFill>
                  <a:srgbClr val="0C1F2A"/>
                </a:solidFill>
                <a:latin typeface="Avenir Next"/>
              </a:rPr>
              <a:t>Hand the phone to a judge.</a:t>
            </a:r>
          </a:p>
        </p:txBody>
      </p:sp>
      <p:sp>
        <p:nvSpPr>
          <p:cNvPr id="8" name="TextBox 7"/>
          <p:cNvSpPr txBox="1"/>
          <p:nvPr/>
        </p:nvSpPr>
        <p:spPr>
          <a:xfrm>
            <a:off x="1115568" y="2057400"/>
            <a:ext cx="5852160" cy="228600"/>
          </a:xfrm>
          <a:prstGeom prst="rect">
            <a:avLst/>
          </a:prstGeom>
          <a:noFill/>
        </p:spPr>
        <p:txBody>
          <a:bodyPr wrap="square" lIns="0" rIns="0" tIns="0" bIns="0" anchor="t">
            <a:spAutoFit/>
          </a:bodyPr>
          <a:lstStyle/>
          <a:p>
            <a:pPr algn="l">
              <a:lnSpc>
                <a:spcPct val="105000"/>
              </a:lnSpc>
            </a:pPr>
            <a:r>
              <a:rPr sz="850" b="0" i="0">
                <a:solidFill>
                  <a:srgbClr val="5E6A70"/>
                </a:solidFill>
                <a:latin typeface="Avenir Next"/>
              </a:rPr>
              <a:t>Passenger workspace, seat 12A, Japanese.</a:t>
            </a:r>
          </a:p>
        </p:txBody>
      </p:sp>
      <p:sp>
        <p:nvSpPr>
          <p:cNvPr id="9" name="Oval 8"/>
          <p:cNvSpPr/>
          <p:nvPr/>
        </p:nvSpPr>
        <p:spPr>
          <a:xfrm>
            <a:off x="594360" y="2578608"/>
            <a:ext cx="365760" cy="36576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1100" b="1">
                <a:solidFill>
                  <a:srgbClr val="FFFFFF"/>
                </a:solidFill>
                <a:latin typeface="Avenir Next"/>
              </a:rPr>
              <a:t>2</a:t>
            </a:r>
          </a:p>
        </p:txBody>
      </p:sp>
      <p:sp>
        <p:nvSpPr>
          <p:cNvPr id="10" name="TextBox 9"/>
          <p:cNvSpPr txBox="1"/>
          <p:nvPr/>
        </p:nvSpPr>
        <p:spPr>
          <a:xfrm>
            <a:off x="1115568" y="2532888"/>
            <a:ext cx="5852160" cy="256032"/>
          </a:xfrm>
          <a:prstGeom prst="rect">
            <a:avLst/>
          </a:prstGeom>
          <a:noFill/>
        </p:spPr>
        <p:txBody>
          <a:bodyPr wrap="square" lIns="0" rIns="0" tIns="0" bIns="0" anchor="t">
            <a:spAutoFit/>
          </a:bodyPr>
          <a:lstStyle/>
          <a:p>
            <a:pPr algn="l">
              <a:lnSpc>
                <a:spcPct val="105000"/>
              </a:lnSpc>
            </a:pPr>
            <a:r>
              <a:rPr sz="1150" b="1" i="0">
                <a:solidFill>
                  <a:srgbClr val="0C1F2A"/>
                </a:solidFill>
                <a:latin typeface="Avenir Next"/>
              </a:rPr>
              <a:t>Ask them to tap Water — or say “毛布をください”.</a:t>
            </a:r>
          </a:p>
        </p:txBody>
      </p:sp>
      <p:sp>
        <p:nvSpPr>
          <p:cNvPr id="11" name="TextBox 10"/>
          <p:cNvSpPr txBox="1"/>
          <p:nvPr/>
        </p:nvSpPr>
        <p:spPr>
          <a:xfrm>
            <a:off x="1115568" y="2807208"/>
            <a:ext cx="5852160" cy="228600"/>
          </a:xfrm>
          <a:prstGeom prst="rect">
            <a:avLst/>
          </a:prstGeom>
          <a:noFill/>
        </p:spPr>
        <p:txBody>
          <a:bodyPr wrap="square" lIns="0" rIns="0" tIns="0" bIns="0" anchor="t">
            <a:spAutoFit/>
          </a:bodyPr>
          <a:lstStyle/>
          <a:p>
            <a:pPr algn="l">
              <a:lnSpc>
                <a:spcPct val="105000"/>
              </a:lnSpc>
            </a:pPr>
            <a:r>
              <a:rPr sz="850" b="0" i="0">
                <a:solidFill>
                  <a:srgbClr val="5E6A70"/>
                </a:solidFill>
                <a:latin typeface="Avenir Next"/>
              </a:rPr>
              <a:t>One tap is enough; no language menu.</a:t>
            </a:r>
          </a:p>
        </p:txBody>
      </p:sp>
      <p:sp>
        <p:nvSpPr>
          <p:cNvPr id="12" name="Oval 11"/>
          <p:cNvSpPr/>
          <p:nvPr/>
        </p:nvSpPr>
        <p:spPr>
          <a:xfrm>
            <a:off x="594360" y="3328415"/>
            <a:ext cx="365760" cy="36576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1100" b="1">
                <a:solidFill>
                  <a:srgbClr val="FFFFFF"/>
                </a:solidFill>
                <a:latin typeface="Avenir Next"/>
              </a:rPr>
              <a:t>3</a:t>
            </a:r>
          </a:p>
        </p:txBody>
      </p:sp>
      <p:sp>
        <p:nvSpPr>
          <p:cNvPr id="13" name="TextBox 12"/>
          <p:cNvSpPr txBox="1"/>
          <p:nvPr/>
        </p:nvSpPr>
        <p:spPr>
          <a:xfrm>
            <a:off x="1115568" y="3282696"/>
            <a:ext cx="5852160" cy="256032"/>
          </a:xfrm>
          <a:prstGeom prst="rect">
            <a:avLst/>
          </a:prstGeom>
          <a:noFill/>
        </p:spPr>
        <p:txBody>
          <a:bodyPr wrap="square" lIns="0" rIns="0" tIns="0" bIns="0" anchor="t">
            <a:spAutoFit/>
          </a:bodyPr>
          <a:lstStyle/>
          <a:p>
            <a:pPr algn="l">
              <a:lnSpc>
                <a:spcPct val="105000"/>
              </a:lnSpc>
            </a:pPr>
            <a:r>
              <a:rPr sz="1150" b="1" i="0">
                <a:solidFill>
                  <a:srgbClr val="0C1F2A"/>
                </a:solidFill>
                <a:latin typeface="Avenir Next"/>
              </a:rPr>
              <a:t>Show the crew tablet.</a:t>
            </a:r>
          </a:p>
        </p:txBody>
      </p:sp>
      <p:sp>
        <p:nvSpPr>
          <p:cNvPr id="14" name="TextBox 13"/>
          <p:cNvSpPr txBox="1"/>
          <p:nvPr/>
        </p:nvSpPr>
        <p:spPr>
          <a:xfrm>
            <a:off x="1115568" y="3557015"/>
            <a:ext cx="5852160" cy="228600"/>
          </a:xfrm>
          <a:prstGeom prst="rect">
            <a:avLst/>
          </a:prstGeom>
          <a:noFill/>
        </p:spPr>
        <p:txBody>
          <a:bodyPr wrap="square" lIns="0" rIns="0" tIns="0" bIns="0" anchor="t">
            <a:spAutoFit/>
          </a:bodyPr>
          <a:lstStyle/>
          <a:p>
            <a:pPr algn="l">
              <a:lnSpc>
                <a:spcPct val="105000"/>
              </a:lnSpc>
            </a:pPr>
            <a:r>
              <a:rPr sz="850" b="0" i="0">
                <a:solidFill>
                  <a:srgbClr val="5E6A70"/>
                </a:solidFill>
                <a:latin typeface="Avenir Next"/>
              </a:rPr>
              <a:t>Seat, summary, next action, keywords — in under a second.</a:t>
            </a:r>
          </a:p>
        </p:txBody>
      </p:sp>
      <p:sp>
        <p:nvSpPr>
          <p:cNvPr id="15" name="Oval 14"/>
          <p:cNvSpPr/>
          <p:nvPr/>
        </p:nvSpPr>
        <p:spPr>
          <a:xfrm>
            <a:off x="594360" y="4078224"/>
            <a:ext cx="365760" cy="36576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1100" b="1">
                <a:solidFill>
                  <a:srgbClr val="FFFFFF"/>
                </a:solidFill>
                <a:latin typeface="Avenir Next"/>
              </a:rPr>
              <a:t>4</a:t>
            </a:r>
          </a:p>
        </p:txBody>
      </p:sp>
      <p:sp>
        <p:nvSpPr>
          <p:cNvPr id="16" name="TextBox 15"/>
          <p:cNvSpPr txBox="1"/>
          <p:nvPr/>
        </p:nvSpPr>
        <p:spPr>
          <a:xfrm>
            <a:off x="1115568" y="4032504"/>
            <a:ext cx="5852160" cy="256032"/>
          </a:xfrm>
          <a:prstGeom prst="rect">
            <a:avLst/>
          </a:prstGeom>
          <a:noFill/>
        </p:spPr>
        <p:txBody>
          <a:bodyPr wrap="square" lIns="0" rIns="0" tIns="0" bIns="0" anchor="t">
            <a:spAutoFit/>
          </a:bodyPr>
          <a:lstStyle/>
          <a:p>
            <a:pPr algn="l">
              <a:lnSpc>
                <a:spcPct val="105000"/>
              </a:lnSpc>
            </a:pPr>
            <a:r>
              <a:rPr sz="1150" b="1" i="0">
                <a:solidFill>
                  <a:srgbClr val="0C1F2A"/>
                </a:solidFill>
                <a:latin typeface="Avenir Next"/>
              </a:rPr>
              <a:t>Crew replies.</a:t>
            </a:r>
          </a:p>
        </p:txBody>
      </p:sp>
      <p:sp>
        <p:nvSpPr>
          <p:cNvPr id="17" name="TextBox 16"/>
          <p:cNvSpPr txBox="1"/>
          <p:nvPr/>
        </p:nvSpPr>
        <p:spPr>
          <a:xfrm>
            <a:off x="1115568" y="4306824"/>
            <a:ext cx="5852160" cy="228600"/>
          </a:xfrm>
          <a:prstGeom prst="rect">
            <a:avLst/>
          </a:prstGeom>
          <a:noFill/>
        </p:spPr>
        <p:txBody>
          <a:bodyPr wrap="square" lIns="0" rIns="0" tIns="0" bIns="0" anchor="t">
            <a:spAutoFit/>
          </a:bodyPr>
          <a:lstStyle/>
          <a:p>
            <a:pPr algn="l">
              <a:lnSpc>
                <a:spcPct val="105000"/>
              </a:lnSpc>
            </a:pPr>
            <a:r>
              <a:rPr sz="850" b="0" i="0">
                <a:solidFill>
                  <a:srgbClr val="5E6A70"/>
                </a:solidFill>
                <a:latin typeface="Avenir Next"/>
              </a:rPr>
              <a:t>The judge sees and hears the reply in Japanese.</a:t>
            </a:r>
          </a:p>
        </p:txBody>
      </p:sp>
      <p:sp>
        <p:nvSpPr>
          <p:cNvPr id="18" name="Oval 17"/>
          <p:cNvSpPr/>
          <p:nvPr/>
        </p:nvSpPr>
        <p:spPr>
          <a:xfrm>
            <a:off x="594360" y="4828031"/>
            <a:ext cx="365760" cy="365760"/>
          </a:xfrm>
          <a:prstGeom prst="ellipse">
            <a:avLst/>
          </a:prstGeom>
          <a:solidFill>
            <a:srgbClr val="0F6B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00000"/>
              </a:lnSpc>
            </a:pPr>
            <a:r>
              <a:rPr sz="1100" b="1">
                <a:solidFill>
                  <a:srgbClr val="FFFFFF"/>
                </a:solidFill>
                <a:latin typeface="Avenir Next"/>
              </a:rPr>
              <a:t>5</a:t>
            </a:r>
          </a:p>
        </p:txBody>
      </p:sp>
      <p:sp>
        <p:nvSpPr>
          <p:cNvPr id="19" name="TextBox 18"/>
          <p:cNvSpPr txBox="1"/>
          <p:nvPr/>
        </p:nvSpPr>
        <p:spPr>
          <a:xfrm>
            <a:off x="1115568" y="4782312"/>
            <a:ext cx="5852160" cy="256032"/>
          </a:xfrm>
          <a:prstGeom prst="rect">
            <a:avLst/>
          </a:prstGeom>
          <a:noFill/>
        </p:spPr>
        <p:txBody>
          <a:bodyPr wrap="square" lIns="0" rIns="0" tIns="0" bIns="0" anchor="t">
            <a:spAutoFit/>
          </a:bodyPr>
          <a:lstStyle/>
          <a:p>
            <a:pPr algn="l">
              <a:lnSpc>
                <a:spcPct val="105000"/>
              </a:lnSpc>
            </a:pPr>
            <a:r>
              <a:rPr sz="1150" b="1" i="0">
                <a:solidFill>
                  <a:srgbClr val="0C1F2A"/>
                </a:solidFill>
                <a:latin typeface="Avenir Next"/>
              </a:rPr>
              <a:t>Disconnect the Wi-Fi. Do it again.</a:t>
            </a:r>
          </a:p>
        </p:txBody>
      </p:sp>
      <p:sp>
        <p:nvSpPr>
          <p:cNvPr id="20" name="TextBox 19"/>
          <p:cNvSpPr txBox="1"/>
          <p:nvPr/>
        </p:nvSpPr>
        <p:spPr>
          <a:xfrm>
            <a:off x="1115568" y="5056631"/>
            <a:ext cx="5852160" cy="228600"/>
          </a:xfrm>
          <a:prstGeom prst="rect">
            <a:avLst/>
          </a:prstGeom>
          <a:noFill/>
        </p:spPr>
        <p:txBody>
          <a:bodyPr wrap="square" lIns="0" rIns="0" tIns="0" bIns="0" anchor="t">
            <a:spAutoFit/>
          </a:bodyPr>
          <a:lstStyle/>
          <a:p>
            <a:pPr algn="l">
              <a:lnSpc>
                <a:spcPct val="105000"/>
              </a:lnSpc>
            </a:pPr>
            <a:r>
              <a:rPr sz="850" b="0" i="0">
                <a:solidFill>
                  <a:srgbClr val="5E6A70"/>
                </a:solidFill>
                <a:latin typeface="Avenir Next"/>
              </a:rPr>
              <a:t>The local path still works. That is the point.</a:t>
            </a:r>
          </a:p>
        </p:txBody>
      </p:sp>
      <p:sp>
        <p:nvSpPr>
          <p:cNvPr id="21" name="Rounded Rectangle 20"/>
          <p:cNvSpPr/>
          <p:nvPr/>
        </p:nvSpPr>
        <p:spPr>
          <a:xfrm>
            <a:off x="7452360" y="1783080"/>
            <a:ext cx="4160520" cy="3611880"/>
          </a:xfrm>
          <a:prstGeom prst="roundRect">
            <a:avLst>
              <a:gd name="adj" fmla="val 8000"/>
            </a:avLst>
          </a:prstGeom>
          <a:solidFill>
            <a:srgbClr val="FFFFFF"/>
          </a:solidFill>
          <a:ln w="12700">
            <a:solidFill>
              <a:srgbClr val="E1DA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0" y="1965960"/>
            <a:ext cx="3657600" cy="201168"/>
          </a:xfrm>
          <a:prstGeom prst="rect">
            <a:avLst/>
          </a:prstGeom>
          <a:noFill/>
        </p:spPr>
        <p:txBody>
          <a:bodyPr wrap="square" lIns="0" rIns="0" tIns="0" bIns="0" anchor="t">
            <a:spAutoFit/>
          </a:bodyPr>
          <a:lstStyle/>
          <a:p>
            <a:pPr algn="l">
              <a:lnSpc>
                <a:spcPct val="105000"/>
              </a:lnSpc>
            </a:pPr>
            <a:r>
              <a:rPr sz="850" b="1" i="0">
                <a:solidFill>
                  <a:srgbClr val="C8102E"/>
                </a:solidFill>
                <a:latin typeface="Avenir Next"/>
              </a:rPr>
              <a:t>BEFORE WE START</a:t>
            </a:r>
          </a:p>
        </p:txBody>
      </p:sp>
      <p:sp>
        <p:nvSpPr>
          <p:cNvPr id="23" name="Rounded Rectangle 22"/>
          <p:cNvSpPr/>
          <p:nvPr/>
        </p:nvSpPr>
        <p:spPr>
          <a:xfrm>
            <a:off x="7680960" y="2304288"/>
            <a:ext cx="201168" cy="201168"/>
          </a:xfrm>
          <a:prstGeom prst="roundRect">
            <a:avLst>
              <a:gd name="adj" fmla="val 10000"/>
            </a:avLst>
          </a:prstGeom>
          <a:solidFill>
            <a:srgbClr val="E8F1EE"/>
          </a:solidFill>
          <a:ln w="12700">
            <a:solidFill>
              <a:srgbClr val="3E9B86"/>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pPr>
            <a:r>
              <a:rPr sz="800" b="1">
                <a:solidFill>
                  <a:srgbClr val="0F6B5C"/>
                </a:solidFill>
                <a:latin typeface="Avenir Next"/>
              </a:rPr>
              <a:t>✓</a:t>
            </a:r>
          </a:p>
        </p:txBody>
      </p:sp>
      <p:sp>
        <p:nvSpPr>
          <p:cNvPr id="24" name="TextBox 23"/>
          <p:cNvSpPr txBox="1"/>
          <p:nvPr/>
        </p:nvSpPr>
        <p:spPr>
          <a:xfrm>
            <a:off x="8001000" y="2295144"/>
            <a:ext cx="3383280" cy="228600"/>
          </a:xfrm>
          <a:prstGeom prst="rect">
            <a:avLst/>
          </a:prstGeom>
          <a:noFill/>
        </p:spPr>
        <p:txBody>
          <a:bodyPr wrap="square" lIns="0" rIns="0" tIns="0" bIns="0" anchor="t">
            <a:spAutoFit/>
          </a:bodyPr>
          <a:lstStyle/>
          <a:p>
            <a:pPr algn="l">
              <a:lnSpc>
                <a:spcPct val="105000"/>
              </a:lnSpc>
            </a:pPr>
            <a:r>
              <a:rPr sz="900" b="0" i="0">
                <a:solidFill>
                  <a:srgbClr val="0C1F2A"/>
                </a:solidFill>
                <a:latin typeface="Avenir Next"/>
              </a:rPr>
              <a:t>Vite running with --host</a:t>
            </a:r>
          </a:p>
        </p:txBody>
      </p:sp>
      <p:sp>
        <p:nvSpPr>
          <p:cNvPr id="25" name="Rounded Rectangle 24"/>
          <p:cNvSpPr/>
          <p:nvPr/>
        </p:nvSpPr>
        <p:spPr>
          <a:xfrm>
            <a:off x="7680960" y="2807208"/>
            <a:ext cx="201168" cy="201168"/>
          </a:xfrm>
          <a:prstGeom prst="roundRect">
            <a:avLst>
              <a:gd name="adj" fmla="val 10000"/>
            </a:avLst>
          </a:prstGeom>
          <a:solidFill>
            <a:srgbClr val="E8F1EE"/>
          </a:solidFill>
          <a:ln w="12700">
            <a:solidFill>
              <a:srgbClr val="3E9B86"/>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pPr>
            <a:r>
              <a:rPr sz="800" b="1">
                <a:solidFill>
                  <a:srgbClr val="0F6B5C"/>
                </a:solidFill>
                <a:latin typeface="Avenir Next"/>
              </a:rPr>
              <a:t>✓</a:t>
            </a:r>
          </a:p>
        </p:txBody>
      </p:sp>
      <p:sp>
        <p:nvSpPr>
          <p:cNvPr id="26" name="TextBox 25"/>
          <p:cNvSpPr txBox="1"/>
          <p:nvPr/>
        </p:nvSpPr>
        <p:spPr>
          <a:xfrm>
            <a:off x="8001000" y="2798064"/>
            <a:ext cx="3383280" cy="228600"/>
          </a:xfrm>
          <a:prstGeom prst="rect">
            <a:avLst/>
          </a:prstGeom>
          <a:noFill/>
        </p:spPr>
        <p:txBody>
          <a:bodyPr wrap="square" lIns="0" rIns="0" tIns="0" bIns="0" anchor="t">
            <a:spAutoFit/>
          </a:bodyPr>
          <a:lstStyle/>
          <a:p>
            <a:pPr algn="l">
              <a:lnSpc>
                <a:spcPct val="105000"/>
              </a:lnSpc>
            </a:pPr>
            <a:r>
              <a:rPr sz="900" b="0" i="0">
                <a:solidFill>
                  <a:srgbClr val="0C1F2A"/>
                </a:solidFill>
                <a:latin typeface="Avenir Next"/>
              </a:rPr>
              <a:t>Phone + tablet on the same hotspot</a:t>
            </a:r>
          </a:p>
        </p:txBody>
      </p:sp>
      <p:sp>
        <p:nvSpPr>
          <p:cNvPr id="27" name="Rounded Rectangle 26"/>
          <p:cNvSpPr/>
          <p:nvPr/>
        </p:nvSpPr>
        <p:spPr>
          <a:xfrm>
            <a:off x="7680960" y="3310128"/>
            <a:ext cx="201168" cy="201168"/>
          </a:xfrm>
          <a:prstGeom prst="roundRect">
            <a:avLst>
              <a:gd name="adj" fmla="val 10000"/>
            </a:avLst>
          </a:prstGeom>
          <a:solidFill>
            <a:srgbClr val="E8F1EE"/>
          </a:solidFill>
          <a:ln w="12700">
            <a:solidFill>
              <a:srgbClr val="3E9B86"/>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pPr>
            <a:r>
              <a:rPr sz="800" b="1">
                <a:solidFill>
                  <a:srgbClr val="0F6B5C"/>
                </a:solidFill>
                <a:latin typeface="Avenir Next"/>
              </a:rPr>
              <a:t>✓</a:t>
            </a:r>
          </a:p>
        </p:txBody>
      </p:sp>
      <p:sp>
        <p:nvSpPr>
          <p:cNvPr id="28" name="TextBox 27"/>
          <p:cNvSpPr txBox="1"/>
          <p:nvPr/>
        </p:nvSpPr>
        <p:spPr>
          <a:xfrm>
            <a:off x="8001000" y="3300984"/>
            <a:ext cx="3383280" cy="228600"/>
          </a:xfrm>
          <a:prstGeom prst="rect">
            <a:avLst/>
          </a:prstGeom>
          <a:noFill/>
        </p:spPr>
        <p:txBody>
          <a:bodyPr wrap="square" lIns="0" rIns="0" tIns="0" bIns="0" anchor="t">
            <a:spAutoFit/>
          </a:bodyPr>
          <a:lstStyle/>
          <a:p>
            <a:pPr algn="l">
              <a:lnSpc>
                <a:spcPct val="105000"/>
              </a:lnSpc>
            </a:pPr>
            <a:r>
              <a:rPr sz="900" b="0" i="0">
                <a:solidFill>
                  <a:srgbClr val="0C1F2A"/>
                </a:solidFill>
                <a:latin typeface="Avenir Next"/>
              </a:rPr>
              <a:t>Open http://&lt;mac-ip&gt;:5173</a:t>
            </a:r>
          </a:p>
        </p:txBody>
      </p:sp>
      <p:sp>
        <p:nvSpPr>
          <p:cNvPr id="29" name="Rounded Rectangle 28"/>
          <p:cNvSpPr/>
          <p:nvPr/>
        </p:nvSpPr>
        <p:spPr>
          <a:xfrm>
            <a:off x="7680960" y="3813048"/>
            <a:ext cx="201168" cy="201168"/>
          </a:xfrm>
          <a:prstGeom prst="roundRect">
            <a:avLst>
              <a:gd name="adj" fmla="val 10000"/>
            </a:avLst>
          </a:prstGeom>
          <a:solidFill>
            <a:srgbClr val="E8F1EE"/>
          </a:solidFill>
          <a:ln w="12700">
            <a:solidFill>
              <a:srgbClr val="3E9B86"/>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pPr>
            <a:r>
              <a:rPr sz="800" b="1">
                <a:solidFill>
                  <a:srgbClr val="0F6B5C"/>
                </a:solidFill>
                <a:latin typeface="Avenir Next"/>
              </a:rPr>
              <a:t>✓</a:t>
            </a:r>
          </a:p>
        </p:txBody>
      </p:sp>
      <p:sp>
        <p:nvSpPr>
          <p:cNvPr id="30" name="TextBox 29"/>
          <p:cNvSpPr txBox="1"/>
          <p:nvPr/>
        </p:nvSpPr>
        <p:spPr>
          <a:xfrm>
            <a:off x="8001000" y="3803904"/>
            <a:ext cx="3383280" cy="228600"/>
          </a:xfrm>
          <a:prstGeom prst="rect">
            <a:avLst/>
          </a:prstGeom>
          <a:noFill/>
        </p:spPr>
        <p:txBody>
          <a:bodyPr wrap="square" lIns="0" rIns="0" tIns="0" bIns="0" anchor="t">
            <a:spAutoFit/>
          </a:bodyPr>
          <a:lstStyle/>
          <a:p>
            <a:pPr algn="l">
              <a:lnSpc>
                <a:spcPct val="105000"/>
              </a:lnSpc>
            </a:pPr>
            <a:r>
              <a:rPr sz="900" b="0" i="0">
                <a:solidFill>
                  <a:srgbClr val="0C1F2A"/>
                </a:solidFill>
                <a:latin typeface="Avenir Next"/>
              </a:rPr>
              <a:t>Seats: 12A / CREW-1</a:t>
            </a:r>
          </a:p>
        </p:txBody>
      </p:sp>
      <p:sp>
        <p:nvSpPr>
          <p:cNvPr id="31" name="TextBox 30"/>
          <p:cNvSpPr txBox="1"/>
          <p:nvPr/>
        </p:nvSpPr>
        <p:spPr>
          <a:xfrm>
            <a:off x="7680960" y="4434840"/>
            <a:ext cx="3611880" cy="640080"/>
          </a:xfrm>
          <a:prstGeom prst="rect">
            <a:avLst/>
          </a:prstGeom>
          <a:noFill/>
        </p:spPr>
        <p:txBody>
          <a:bodyPr wrap="square" lIns="0" rIns="0" tIns="0" bIns="0" anchor="t">
            <a:spAutoFit/>
          </a:bodyPr>
          <a:lstStyle/>
          <a:p>
            <a:pPr algn="l">
              <a:lnSpc>
                <a:spcPct val="115000"/>
              </a:lnSpc>
            </a:pPr>
            <a:r>
              <a:rPr sz="850" b="0" i="0">
                <a:solidFill>
                  <a:srgbClr val="5E6A70"/>
                </a:solidFill>
                <a:latin typeface="Avenir Next"/>
              </a:rPr>
              <a:t>If the venue network fails, use the local hotspot. The app does not need the internet.</a:t>
            </a:r>
          </a:p>
        </p:txBody>
      </p:sp>
      <p:sp>
        <p:nvSpPr>
          <p:cNvPr id="32" name="Rounded Rectangle 31"/>
          <p:cNvSpPr/>
          <p:nvPr/>
        </p:nvSpPr>
        <p:spPr>
          <a:xfrm>
            <a:off x="594360" y="5577840"/>
            <a:ext cx="11018520" cy="502920"/>
          </a:xfrm>
          <a:prstGeom prst="roundRect">
            <a:avLst>
              <a:gd name="adj" fmla="val 8000"/>
            </a:avLst>
          </a:prstGeom>
          <a:solidFill>
            <a:srgbClr val="F9E9EB"/>
          </a:solidFill>
          <a:ln w="12700">
            <a:solidFill>
              <a:srgbClr val="E85A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60" y="5733288"/>
            <a:ext cx="10424160" cy="201168"/>
          </a:xfrm>
          <a:prstGeom prst="rect">
            <a:avLst/>
          </a:prstGeom>
          <a:noFill/>
        </p:spPr>
        <p:txBody>
          <a:bodyPr wrap="square" lIns="0" rIns="0" tIns="0" bIns="0" anchor="t">
            <a:spAutoFit/>
          </a:bodyPr>
          <a:lstStyle/>
          <a:p>
            <a:pPr algn="l">
              <a:lnSpc>
                <a:spcPct val="105000"/>
              </a:lnSpc>
            </a:pPr>
            <a:r>
              <a:rPr sz="800" b="1" i="0">
                <a:solidFill>
                  <a:srgbClr val="C8102E"/>
                </a:solidFill>
                <a:latin typeface="Avenir Next"/>
              </a:rPr>
              <a:t>FALLBACK  </a:t>
            </a:r>
            <a:r>
              <a:rPr sz="950" b="1" i="0">
                <a:solidFill>
                  <a:srgbClr val="0C1F2A"/>
                </a:solidFill>
                <a:latin typeface="Avenir Next"/>
              </a:rPr>
              <a:t>if anything fails, the phrase cards still work — local, deterministic, no network.</a:t>
            </a:r>
          </a:p>
        </p:txBody>
      </p:sp>
      <p:cxnSp>
        <p:nvCxnSpPr>
          <p:cNvPr id="34" name="Connector 33"/>
          <p:cNvCxnSpPr/>
          <p:nvPr/>
        </p:nvCxnSpPr>
        <p:spPr>
          <a:xfrm>
            <a:off x="594360" y="6492240"/>
            <a:ext cx="11000232" cy="0"/>
          </a:xfrm>
          <a:prstGeom prst="line">
            <a:avLst/>
          </a:prstGeom>
          <a:ln w="9525">
            <a:solidFill>
              <a:srgbClr val="E1DACF"/>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94360" y="6556248"/>
            <a:ext cx="6400800" cy="182880"/>
          </a:xfrm>
          <a:prstGeom prst="rect">
            <a:avLst/>
          </a:prstGeom>
          <a:noFill/>
        </p:spPr>
        <p:txBody>
          <a:bodyPr wrap="square" lIns="0" rIns="0" tIns="0" bIns="0" anchor="t">
            <a:spAutoFit/>
          </a:bodyPr>
          <a:lstStyle/>
          <a:p>
            <a:pPr algn="l">
              <a:lnSpc>
                <a:spcPct val="105000"/>
              </a:lnSpc>
            </a:pPr>
            <a:r>
              <a:rPr sz="750" b="1" i="0">
                <a:solidFill>
                  <a:srgbClr val="9AA3A6"/>
                </a:solidFill>
                <a:latin typeface="Avenir Next"/>
              </a:rPr>
              <a:t>CABINBRIDGE  ×  JAPAN AIRLINES</a:t>
            </a:r>
          </a:p>
        </p:txBody>
      </p:sp>
      <p:sp>
        <p:nvSpPr>
          <p:cNvPr id="36" name="TextBox 35"/>
          <p:cNvSpPr txBox="1"/>
          <p:nvPr/>
        </p:nvSpPr>
        <p:spPr>
          <a:xfrm>
            <a:off x="10972800" y="6556248"/>
            <a:ext cx="621792" cy="182880"/>
          </a:xfrm>
          <a:prstGeom prst="rect">
            <a:avLst/>
          </a:prstGeom>
          <a:noFill/>
        </p:spPr>
        <p:txBody>
          <a:bodyPr wrap="square" lIns="0" rIns="0" tIns="0" bIns="0" anchor="t">
            <a:spAutoFit/>
          </a:bodyPr>
          <a:lstStyle/>
          <a:p>
            <a:pPr algn="r">
              <a:lnSpc>
                <a:spcPct val="105000"/>
              </a:lnSpc>
            </a:pPr>
            <a:r>
              <a:rPr sz="750" b="0" i="0">
                <a:solidFill>
                  <a:srgbClr val="9AA3A6"/>
                </a:solidFill>
                <a:latin typeface="Avenir Next"/>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F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2296" cy="68580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rc 3"/>
          <p:cNvSpPr/>
          <p:nvPr/>
        </p:nvSpPr>
        <p:spPr>
          <a:xfrm>
            <a:off x="6583680" y="-1280160"/>
            <a:ext cx="6400800" cy="6400800"/>
          </a:xfrm>
          <a:prstGeom prst="arc">
            <a:avLst/>
          </a:prstGeom>
          <a:noFill/>
          <a:ln w="20320">
            <a:solidFill>
              <a:srgbClr val="C8102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589520" y="4023360"/>
            <a:ext cx="73152" cy="73152"/>
          </a:xfrm>
          <a:prstGeom prst="ellipse">
            <a:avLst/>
          </a:prstGeom>
          <a:solidFill>
            <a:srgbClr val="E85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0" y="2560320"/>
            <a:ext cx="73152" cy="73152"/>
          </a:xfrm>
          <a:prstGeom prst="ellipse">
            <a:avLst/>
          </a:prstGeom>
          <a:solidFill>
            <a:srgbClr val="E85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607040" y="1828800"/>
            <a:ext cx="73152" cy="73152"/>
          </a:xfrm>
          <a:prstGeom prst="ellipse">
            <a:avLst/>
          </a:prstGeom>
          <a:solidFill>
            <a:srgbClr val="E85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338560" y="2743200"/>
            <a:ext cx="73152" cy="73152"/>
          </a:xfrm>
          <a:prstGeom prst="ellipse">
            <a:avLst/>
          </a:prstGeom>
          <a:solidFill>
            <a:srgbClr val="E85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777240"/>
            <a:ext cx="3657600" cy="228600"/>
          </a:xfrm>
          <a:prstGeom prst="rect">
            <a:avLst/>
          </a:prstGeom>
          <a:noFill/>
        </p:spPr>
        <p:txBody>
          <a:bodyPr wrap="square" lIns="0" rIns="0" tIns="0" bIns="0" anchor="t">
            <a:spAutoFit/>
          </a:bodyPr>
          <a:lstStyle/>
          <a:p>
            <a:pPr algn="l">
              <a:lnSpc>
                <a:spcPct val="105000"/>
              </a:lnSpc>
            </a:pPr>
            <a:r>
              <a:rPr sz="900" b="1" i="0">
                <a:solidFill>
                  <a:srgbClr val="E85A63"/>
                </a:solidFill>
                <a:latin typeface="Avenir Next"/>
              </a:rPr>
              <a:t>THE ASK</a:t>
            </a:r>
          </a:p>
        </p:txBody>
      </p:sp>
      <p:sp>
        <p:nvSpPr>
          <p:cNvPr id="10" name="TextBox 9"/>
          <p:cNvSpPr txBox="1"/>
          <p:nvPr/>
        </p:nvSpPr>
        <p:spPr>
          <a:xfrm>
            <a:off x="640080" y="1234440"/>
            <a:ext cx="6675120" cy="1828800"/>
          </a:xfrm>
          <a:prstGeom prst="rect">
            <a:avLst/>
          </a:prstGeom>
          <a:noFill/>
        </p:spPr>
        <p:txBody>
          <a:bodyPr wrap="square" lIns="0" rIns="0" tIns="0" bIns="0" anchor="t">
            <a:spAutoFit/>
          </a:bodyPr>
          <a:lstStyle/>
          <a:p>
            <a:pPr algn="l">
              <a:lnSpc>
                <a:spcPct val="90000"/>
              </a:lnSpc>
            </a:pPr>
            <a:r>
              <a:rPr sz="4200" b="1" i="0">
                <a:solidFill>
                  <a:srgbClr val="FFFFFF"/>
                </a:solidFill>
                <a:latin typeface="Avenir Next"/>
              </a:rPr>
              <a:t>Start with
one route.</a:t>
            </a:r>
          </a:p>
        </p:txBody>
      </p:sp>
      <p:sp>
        <p:nvSpPr>
          <p:cNvPr id="11" name="TextBox 10"/>
          <p:cNvSpPr txBox="1"/>
          <p:nvPr/>
        </p:nvSpPr>
        <p:spPr>
          <a:xfrm>
            <a:off x="658368" y="3246120"/>
            <a:ext cx="6126480" cy="731520"/>
          </a:xfrm>
          <a:prstGeom prst="rect">
            <a:avLst/>
          </a:prstGeom>
          <a:noFill/>
        </p:spPr>
        <p:txBody>
          <a:bodyPr wrap="square" lIns="0" rIns="0" tIns="0" bIns="0" anchor="t">
            <a:spAutoFit/>
          </a:bodyPr>
          <a:lstStyle/>
          <a:p>
            <a:pPr algn="l">
              <a:lnSpc>
                <a:spcPct val="115000"/>
              </a:lnSpc>
            </a:pPr>
            <a:r>
              <a:rPr sz="1350" b="0" i="0">
                <a:solidFill>
                  <a:srgbClr val="C9D2D6"/>
                </a:solidFill>
                <a:latin typeface="Avenir Next"/>
              </a:rPr>
              <a:t>An eight-week pilot on one route, with a joint scorecard.
If the numbers hold, we scale with you.</a:t>
            </a:r>
          </a:p>
        </p:txBody>
      </p:sp>
      <p:sp>
        <p:nvSpPr>
          <p:cNvPr id="12" name="Rounded Rectangle 11"/>
          <p:cNvSpPr/>
          <p:nvPr/>
        </p:nvSpPr>
        <p:spPr>
          <a:xfrm>
            <a:off x="658368" y="4572000"/>
            <a:ext cx="2148840" cy="1051560"/>
          </a:xfrm>
          <a:prstGeom prst="roundRect">
            <a:avLst>
              <a:gd name="adj" fmla="val 8000"/>
            </a:avLst>
          </a:prstGeom>
          <a:solidFill>
            <a:srgbClr val="18323E"/>
          </a:solidFill>
          <a:ln w="12700">
            <a:solidFill>
              <a:srgbClr val="3A53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4700016"/>
            <a:ext cx="365760" cy="182880"/>
          </a:xfrm>
          <a:prstGeom prst="rect">
            <a:avLst/>
          </a:prstGeom>
          <a:noFill/>
        </p:spPr>
        <p:txBody>
          <a:bodyPr wrap="square" lIns="0" rIns="0" tIns="0" bIns="0" anchor="t">
            <a:spAutoFit/>
          </a:bodyPr>
          <a:lstStyle/>
          <a:p>
            <a:pPr algn="l">
              <a:lnSpc>
                <a:spcPct val="105000"/>
              </a:lnSpc>
            </a:pPr>
            <a:r>
              <a:rPr sz="750" b="1" i="0">
                <a:solidFill>
                  <a:srgbClr val="E85A63"/>
                </a:solidFill>
                <a:latin typeface="Avenir Next"/>
              </a:rPr>
              <a:t>01</a:t>
            </a:r>
          </a:p>
        </p:txBody>
      </p:sp>
      <p:sp>
        <p:nvSpPr>
          <p:cNvPr id="14" name="TextBox 13"/>
          <p:cNvSpPr txBox="1"/>
          <p:nvPr/>
        </p:nvSpPr>
        <p:spPr>
          <a:xfrm>
            <a:off x="804672" y="4892040"/>
            <a:ext cx="1828800" cy="228600"/>
          </a:xfrm>
          <a:prstGeom prst="rect">
            <a:avLst/>
          </a:prstGeom>
          <a:noFill/>
        </p:spPr>
        <p:txBody>
          <a:bodyPr wrap="square" lIns="0" rIns="0" tIns="0" bIns="0" anchor="t">
            <a:spAutoFit/>
          </a:bodyPr>
          <a:lstStyle/>
          <a:p>
            <a:pPr algn="l">
              <a:lnSpc>
                <a:spcPct val="105000"/>
              </a:lnSpc>
            </a:pPr>
            <a:r>
              <a:rPr sz="900" b="1" i="0">
                <a:solidFill>
                  <a:srgbClr val="FFFFFF"/>
                </a:solidFill>
                <a:latin typeface="Avenir Next"/>
              </a:rPr>
              <a:t>PILOT ONE ROUTE</a:t>
            </a:r>
          </a:p>
        </p:txBody>
      </p:sp>
      <p:sp>
        <p:nvSpPr>
          <p:cNvPr id="15" name="TextBox 14"/>
          <p:cNvSpPr txBox="1"/>
          <p:nvPr/>
        </p:nvSpPr>
        <p:spPr>
          <a:xfrm>
            <a:off x="804672" y="5175504"/>
            <a:ext cx="1874519" cy="320040"/>
          </a:xfrm>
          <a:prstGeom prst="rect">
            <a:avLst/>
          </a:prstGeom>
          <a:noFill/>
        </p:spPr>
        <p:txBody>
          <a:bodyPr wrap="square" lIns="0" rIns="0" tIns="0" bIns="0" anchor="t">
            <a:spAutoFit/>
          </a:bodyPr>
          <a:lstStyle/>
          <a:p>
            <a:pPr algn="l">
              <a:lnSpc>
                <a:spcPct val="105000"/>
              </a:lnSpc>
            </a:pPr>
            <a:r>
              <a:rPr sz="750" b="0" i="0">
                <a:solidFill>
                  <a:srgbClr val="B9C4C9"/>
                </a:solidFill>
                <a:latin typeface="Avenir Next"/>
              </a:rPr>
              <a:t>2 aircraft · 8 weeks</a:t>
            </a:r>
          </a:p>
        </p:txBody>
      </p:sp>
      <p:sp>
        <p:nvSpPr>
          <p:cNvPr id="16" name="Rounded Rectangle 15"/>
          <p:cNvSpPr/>
          <p:nvPr/>
        </p:nvSpPr>
        <p:spPr>
          <a:xfrm>
            <a:off x="2990087" y="4572000"/>
            <a:ext cx="2148840" cy="1051560"/>
          </a:xfrm>
          <a:prstGeom prst="roundRect">
            <a:avLst>
              <a:gd name="adj" fmla="val 8000"/>
            </a:avLst>
          </a:prstGeom>
          <a:solidFill>
            <a:srgbClr val="18323E"/>
          </a:solidFill>
          <a:ln w="12700">
            <a:solidFill>
              <a:srgbClr val="3A53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136391" y="4700016"/>
            <a:ext cx="365760" cy="182880"/>
          </a:xfrm>
          <a:prstGeom prst="rect">
            <a:avLst/>
          </a:prstGeom>
          <a:noFill/>
        </p:spPr>
        <p:txBody>
          <a:bodyPr wrap="square" lIns="0" rIns="0" tIns="0" bIns="0" anchor="t">
            <a:spAutoFit/>
          </a:bodyPr>
          <a:lstStyle/>
          <a:p>
            <a:pPr algn="l">
              <a:lnSpc>
                <a:spcPct val="105000"/>
              </a:lnSpc>
            </a:pPr>
            <a:r>
              <a:rPr sz="750" b="1" i="0">
                <a:solidFill>
                  <a:srgbClr val="E85A63"/>
                </a:solidFill>
                <a:latin typeface="Avenir Next"/>
              </a:rPr>
              <a:t>02</a:t>
            </a:r>
          </a:p>
        </p:txBody>
      </p:sp>
      <p:sp>
        <p:nvSpPr>
          <p:cNvPr id="18" name="TextBox 17"/>
          <p:cNvSpPr txBox="1"/>
          <p:nvPr/>
        </p:nvSpPr>
        <p:spPr>
          <a:xfrm>
            <a:off x="3136391" y="4892040"/>
            <a:ext cx="1828800" cy="228600"/>
          </a:xfrm>
          <a:prstGeom prst="rect">
            <a:avLst/>
          </a:prstGeom>
          <a:noFill/>
        </p:spPr>
        <p:txBody>
          <a:bodyPr wrap="square" lIns="0" rIns="0" tIns="0" bIns="0" anchor="t">
            <a:spAutoFit/>
          </a:bodyPr>
          <a:lstStyle/>
          <a:p>
            <a:pPr algn="l">
              <a:lnSpc>
                <a:spcPct val="105000"/>
              </a:lnSpc>
            </a:pPr>
            <a:r>
              <a:rPr sz="900" b="1" i="0">
                <a:solidFill>
                  <a:srgbClr val="FFFFFF"/>
                </a:solidFill>
                <a:latin typeface="Avenir Next"/>
              </a:rPr>
              <a:t>SECURITY REVIEW</a:t>
            </a:r>
          </a:p>
        </p:txBody>
      </p:sp>
      <p:sp>
        <p:nvSpPr>
          <p:cNvPr id="19" name="TextBox 18"/>
          <p:cNvSpPr txBox="1"/>
          <p:nvPr/>
        </p:nvSpPr>
        <p:spPr>
          <a:xfrm>
            <a:off x="3136391" y="5175504"/>
            <a:ext cx="1874519" cy="320040"/>
          </a:xfrm>
          <a:prstGeom prst="rect">
            <a:avLst/>
          </a:prstGeom>
          <a:noFill/>
        </p:spPr>
        <p:txBody>
          <a:bodyPr wrap="square" lIns="0" rIns="0" tIns="0" bIns="0" anchor="t">
            <a:spAutoFit/>
          </a:bodyPr>
          <a:lstStyle/>
          <a:p>
            <a:pPr algn="l">
              <a:lnSpc>
                <a:spcPct val="105000"/>
              </a:lnSpc>
            </a:pPr>
            <a:r>
              <a:rPr sz="750" b="0" i="0">
                <a:solidFill>
                  <a:srgbClr val="B9C4C9"/>
                </a:solidFill>
                <a:latin typeface="Avenir Next"/>
              </a:rPr>
              <a:t>local-first · no audio stored</a:t>
            </a:r>
          </a:p>
        </p:txBody>
      </p:sp>
      <p:sp>
        <p:nvSpPr>
          <p:cNvPr id="20" name="Rounded Rectangle 19"/>
          <p:cNvSpPr/>
          <p:nvPr/>
        </p:nvSpPr>
        <p:spPr>
          <a:xfrm>
            <a:off x="5321807" y="4572000"/>
            <a:ext cx="2148840" cy="1051560"/>
          </a:xfrm>
          <a:prstGeom prst="roundRect">
            <a:avLst>
              <a:gd name="adj" fmla="val 8000"/>
            </a:avLst>
          </a:prstGeom>
          <a:solidFill>
            <a:srgbClr val="18323E"/>
          </a:solidFill>
          <a:ln w="12700">
            <a:solidFill>
              <a:srgbClr val="3A53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68112" y="4700016"/>
            <a:ext cx="365760" cy="182880"/>
          </a:xfrm>
          <a:prstGeom prst="rect">
            <a:avLst/>
          </a:prstGeom>
          <a:noFill/>
        </p:spPr>
        <p:txBody>
          <a:bodyPr wrap="square" lIns="0" rIns="0" tIns="0" bIns="0" anchor="t">
            <a:spAutoFit/>
          </a:bodyPr>
          <a:lstStyle/>
          <a:p>
            <a:pPr algn="l">
              <a:lnSpc>
                <a:spcPct val="105000"/>
              </a:lnSpc>
            </a:pPr>
            <a:r>
              <a:rPr sz="750" b="1" i="0">
                <a:solidFill>
                  <a:srgbClr val="E85A63"/>
                </a:solidFill>
                <a:latin typeface="Avenir Next"/>
              </a:rPr>
              <a:t>03</a:t>
            </a:r>
          </a:p>
        </p:txBody>
      </p:sp>
      <p:sp>
        <p:nvSpPr>
          <p:cNvPr id="22" name="TextBox 21"/>
          <p:cNvSpPr txBox="1"/>
          <p:nvPr/>
        </p:nvSpPr>
        <p:spPr>
          <a:xfrm>
            <a:off x="5468112" y="4892040"/>
            <a:ext cx="1828800" cy="228600"/>
          </a:xfrm>
          <a:prstGeom prst="rect">
            <a:avLst/>
          </a:prstGeom>
          <a:noFill/>
        </p:spPr>
        <p:txBody>
          <a:bodyPr wrap="square" lIns="0" rIns="0" tIns="0" bIns="0" anchor="t">
            <a:spAutoFit/>
          </a:bodyPr>
          <a:lstStyle/>
          <a:p>
            <a:pPr algn="l">
              <a:lnSpc>
                <a:spcPct val="105000"/>
              </a:lnSpc>
            </a:pPr>
            <a:r>
              <a:rPr sz="900" b="1" i="0">
                <a:solidFill>
                  <a:srgbClr val="FFFFFF"/>
                </a:solidFill>
                <a:latin typeface="Avenir Next"/>
              </a:rPr>
              <a:t>DEFINE THE KPIs</a:t>
            </a:r>
          </a:p>
        </p:txBody>
      </p:sp>
      <p:sp>
        <p:nvSpPr>
          <p:cNvPr id="23" name="TextBox 22"/>
          <p:cNvSpPr txBox="1"/>
          <p:nvPr/>
        </p:nvSpPr>
        <p:spPr>
          <a:xfrm>
            <a:off x="5468112" y="5175504"/>
            <a:ext cx="1874519" cy="320040"/>
          </a:xfrm>
          <a:prstGeom prst="rect">
            <a:avLst/>
          </a:prstGeom>
          <a:noFill/>
        </p:spPr>
        <p:txBody>
          <a:bodyPr wrap="square" lIns="0" rIns="0" tIns="0" bIns="0" anchor="t">
            <a:spAutoFit/>
          </a:bodyPr>
          <a:lstStyle/>
          <a:p>
            <a:pPr algn="l">
              <a:lnSpc>
                <a:spcPct val="105000"/>
              </a:lnSpc>
            </a:pPr>
            <a:r>
              <a:rPr sz="750" b="0" i="0">
                <a:solidFill>
                  <a:srgbClr val="B9C4C9"/>
                </a:solidFill>
                <a:latin typeface="Avenir Next"/>
              </a:rPr>
              <a:t>speed · repeats · safety</a:t>
            </a:r>
          </a:p>
        </p:txBody>
      </p:sp>
      <p:sp>
        <p:nvSpPr>
          <p:cNvPr id="24" name="TextBox 23"/>
          <p:cNvSpPr txBox="1"/>
          <p:nvPr/>
        </p:nvSpPr>
        <p:spPr>
          <a:xfrm>
            <a:off x="658368" y="5925312"/>
            <a:ext cx="2743200" cy="274320"/>
          </a:xfrm>
          <a:prstGeom prst="rect">
            <a:avLst/>
          </a:prstGeom>
          <a:noFill/>
        </p:spPr>
        <p:txBody>
          <a:bodyPr wrap="square" lIns="0" rIns="0" tIns="0" bIns="0" anchor="t">
            <a:spAutoFit/>
          </a:bodyPr>
          <a:lstStyle/>
          <a:p>
            <a:pPr algn="l">
              <a:lnSpc>
                <a:spcPct val="105000"/>
              </a:lnSpc>
            </a:pPr>
            <a:r>
              <a:rPr sz="1100" b="1" i="0">
                <a:solidFill>
                  <a:srgbClr val="FFFFFF"/>
                </a:solidFill>
                <a:latin typeface="Avenir Next"/>
              </a:rPr>
              <a:t>Thank you.</a:t>
            </a:r>
          </a:p>
        </p:txBody>
      </p:sp>
      <p:sp>
        <p:nvSpPr>
          <p:cNvPr id="25" name="TextBox 24"/>
          <p:cNvSpPr txBox="1"/>
          <p:nvPr/>
        </p:nvSpPr>
        <p:spPr>
          <a:xfrm>
            <a:off x="3108960" y="5925312"/>
            <a:ext cx="5029200" cy="274320"/>
          </a:xfrm>
          <a:prstGeom prst="rect">
            <a:avLst/>
          </a:prstGeom>
          <a:noFill/>
        </p:spPr>
        <p:txBody>
          <a:bodyPr wrap="square" lIns="0" rIns="0" tIns="0" bIns="0" anchor="t">
            <a:spAutoFit/>
          </a:bodyPr>
          <a:lstStyle/>
          <a:p>
            <a:pPr algn="l">
              <a:lnSpc>
                <a:spcPct val="105000"/>
              </a:lnSpc>
            </a:pPr>
            <a:r>
              <a:rPr sz="900" b="0" i="0">
                <a:solidFill>
                  <a:srgbClr val="B9C4C9"/>
                </a:solidFill>
                <a:latin typeface="Avenir Next"/>
              </a:rPr>
              <a:t>CabinBridge  ·  JAL Demo Day 2026</a:t>
            </a:r>
          </a:p>
        </p:txBody>
      </p:sp>
      <p:sp>
        <p:nvSpPr>
          <p:cNvPr id="26" name="TextBox 25"/>
          <p:cNvSpPr txBox="1"/>
          <p:nvPr/>
        </p:nvSpPr>
        <p:spPr>
          <a:xfrm>
            <a:off x="9509760" y="5925312"/>
            <a:ext cx="2286000" cy="274320"/>
          </a:xfrm>
          <a:prstGeom prst="rect">
            <a:avLst/>
          </a:prstGeom>
          <a:noFill/>
        </p:spPr>
        <p:txBody>
          <a:bodyPr wrap="square" lIns="0" rIns="0" tIns="0" bIns="0" anchor="t">
            <a:spAutoFit/>
          </a:bodyPr>
          <a:lstStyle/>
          <a:p>
            <a:pPr algn="r">
              <a:lnSpc>
                <a:spcPct val="105000"/>
              </a:lnSpc>
            </a:pPr>
            <a:r>
              <a:rPr sz="1100" b="0" i="0">
                <a:solidFill>
                  <a:srgbClr val="B9C4C9"/>
                </a:solidFill>
                <a:latin typeface="Hiragino Sans"/>
              </a:rPr>
              <a:t>ありがとうございました。</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